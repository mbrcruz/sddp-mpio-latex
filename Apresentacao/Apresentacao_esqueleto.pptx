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278" r:id="rId3"/>
    <p:sldId id="277" r:id="rId4"/>
    <p:sldId id="258" r:id="rId5"/>
    <p:sldId id="259" r:id="rId6"/>
    <p:sldId id="260" r:id="rId7"/>
    <p:sldId id="261" r:id="rId8"/>
    <p:sldId id="262" r:id="rId9"/>
    <p:sldId id="263" r:id="rId10"/>
    <p:sldId id="265" r:id="rId11"/>
    <p:sldId id="279" r:id="rId12"/>
    <p:sldId id="267" r:id="rId13"/>
    <p:sldId id="268" r:id="rId14"/>
    <p:sldId id="269" r:id="rId15"/>
    <p:sldId id="281" r:id="rId16"/>
    <p:sldId id="282" r:id="rId17"/>
    <p:sldId id="283" r:id="rId18"/>
    <p:sldId id="271" r:id="rId19"/>
    <p:sldId id="272" r:id="rId20"/>
    <p:sldId id="273" r:id="rId21"/>
    <p:sldId id="284" r:id="rId22"/>
    <p:sldId id="285" r:id="rId23"/>
    <p:sldId id="286" r:id="rId24"/>
    <p:sldId id="280" r:id="rId25"/>
    <p:sldId id="275" r:id="rId26"/>
    <p:sldId id="276" r:id="rId27"/>
    <p:sldId id="270" r:id="rId28"/>
    <p:sldId id="274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23426E"/>
    <a:srgbClr val="FF7A4F"/>
    <a:srgbClr val="00ADA1"/>
    <a:srgbClr val="990033"/>
    <a:srgbClr val="162944"/>
    <a:srgbClr val="2F5893"/>
    <a:srgbClr val="ACBBD0"/>
    <a:srgbClr val="4D7980"/>
    <a:srgbClr val="3E64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1293" autoAdjust="0"/>
  </p:normalViewPr>
  <p:slideViewPr>
    <p:cSldViewPr snapToGrid="0">
      <p:cViewPr varScale="1">
        <p:scale>
          <a:sx n="67" d="100"/>
          <a:sy n="67" d="100"/>
        </p:scale>
        <p:origin x="1296" y="53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02A2CF-32D5-4D4E-B710-CC654E292E38}" type="datetimeFigureOut">
              <a:rPr lang="en-US" smtClean="0"/>
              <a:t>8/18/2026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4FC1F3-6408-419A-A05A-0888B79047D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204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Capa. </a:t>
            </a:r>
            <a:r>
              <a:rPr dirty="0" err="1"/>
              <a:t>Preencher</a:t>
            </a:r>
            <a:r>
              <a:rPr dirty="0"/>
              <a:t> </a:t>
            </a:r>
            <a:r>
              <a:rPr dirty="0" err="1"/>
              <a:t>orientador</a:t>
            </a:r>
            <a:r>
              <a:rPr dirty="0"/>
              <a:t> e banca — 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estão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placeholder no </a:t>
            </a:r>
            <a:r>
              <a:rPr dirty="0" err="1"/>
              <a:t>dissertacao.tex</a:t>
            </a:r>
            <a:r>
              <a:rPr dirty="0"/>
              <a:t> (</a:t>
            </a:r>
            <a:r>
              <a:rPr dirty="0" err="1"/>
              <a:t>pendência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mapeada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avaliação</a:t>
            </a:r>
            <a:r>
              <a:rPr dirty="0"/>
              <a:t> de banca).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05D7F-85FE-0A98-1134-6ED9A2766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FF78B-AC50-42F1-3D77-507120B25C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2A042E-8B94-B191-19BE-A22E21CA30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Capa. Preencher orientador e banca — ainda estão como placeholder no dissertacao.tex (pendência já mapeada na avaliação de banca).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5F3A28-D03D-E7EE-4BB1-9068BC28A7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689654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GANCHO DE ABERTURA — </a:t>
            </a:r>
            <a:r>
              <a:rPr dirty="0" err="1"/>
              <a:t>deixar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tela</a:t>
            </a:r>
            <a:r>
              <a:rPr dirty="0"/>
              <a:t> </a:t>
            </a:r>
            <a:r>
              <a:rPr dirty="0" err="1"/>
              <a:t>enquanto</a:t>
            </a:r>
            <a:r>
              <a:rPr dirty="0"/>
              <a:t> a banca se </a:t>
            </a:r>
            <a:r>
              <a:rPr dirty="0" err="1"/>
              <a:t>acomoda</a:t>
            </a:r>
            <a:r>
              <a:rPr dirty="0"/>
              <a:t>. </a:t>
            </a:r>
            <a:r>
              <a:rPr dirty="0" err="1"/>
              <a:t>Não</a:t>
            </a:r>
            <a:r>
              <a:rPr dirty="0"/>
              <a:t> responder agora.</a:t>
            </a:r>
          </a:p>
          <a:p>
            <a:endParaRPr dirty="0"/>
          </a:p>
          <a:p>
            <a:r>
              <a:rPr dirty="0"/>
              <a:t>A </a:t>
            </a:r>
            <a:r>
              <a:rPr dirty="0" err="1"/>
              <a:t>foto</a:t>
            </a:r>
            <a:r>
              <a:rPr dirty="0"/>
              <a:t> </a:t>
            </a:r>
            <a:r>
              <a:rPr dirty="0" err="1"/>
              <a:t>estabelece</a:t>
            </a:r>
            <a:r>
              <a:rPr dirty="0"/>
              <a:t> MAGNITUDE, </a:t>
            </a:r>
            <a:r>
              <a:rPr dirty="0" err="1"/>
              <a:t>não</a:t>
            </a:r>
            <a:r>
              <a:rPr dirty="0"/>
              <a:t> a </a:t>
            </a:r>
            <a:r>
              <a:rPr dirty="0" err="1"/>
              <a:t>resposta</a:t>
            </a:r>
            <a:r>
              <a:rPr dirty="0"/>
              <a:t>: a plateia sente a </a:t>
            </a:r>
            <a:r>
              <a:rPr dirty="0" err="1"/>
              <a:t>escala</a:t>
            </a:r>
            <a:r>
              <a:rPr dirty="0"/>
              <a:t> da </a:t>
            </a:r>
            <a:r>
              <a:rPr dirty="0" err="1"/>
              <a:t>máquina</a:t>
            </a:r>
            <a:r>
              <a:rPr dirty="0"/>
              <a:t> antes da </a:t>
            </a:r>
            <a:r>
              <a:rPr dirty="0" err="1"/>
              <a:t>pergunta</a:t>
            </a:r>
            <a:r>
              <a:rPr dirty="0"/>
              <a:t>, </a:t>
            </a:r>
            <a:r>
              <a:rPr dirty="0" err="1"/>
              <a:t>sem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nada </a:t>
            </a:r>
            <a:r>
              <a:rPr dirty="0" err="1"/>
              <a:t>seja</a:t>
            </a:r>
            <a:r>
              <a:rPr dirty="0"/>
              <a:t> </a:t>
            </a:r>
            <a:r>
              <a:rPr dirty="0" err="1"/>
              <a:t>antecipado</a:t>
            </a:r>
            <a:r>
              <a:rPr dirty="0"/>
              <a:t>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números</a:t>
            </a:r>
            <a:r>
              <a:rPr dirty="0"/>
              <a:t> de </a:t>
            </a:r>
            <a:r>
              <a:rPr dirty="0" err="1"/>
              <a:t>apoio</a:t>
            </a:r>
            <a:r>
              <a:rPr dirty="0"/>
              <a:t> </a:t>
            </a:r>
            <a:r>
              <a:rPr dirty="0" err="1"/>
              <a:t>estão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linha</a:t>
            </a:r>
            <a:r>
              <a:rPr dirty="0"/>
              <a:t> sob o </a:t>
            </a:r>
            <a:r>
              <a:rPr dirty="0" err="1"/>
              <a:t>título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A </a:t>
            </a:r>
            <a:r>
              <a:rPr dirty="0" err="1"/>
              <a:t>pergunta</a:t>
            </a:r>
            <a:r>
              <a:rPr dirty="0"/>
              <a:t> é </a:t>
            </a:r>
            <a:r>
              <a:rPr dirty="0" err="1"/>
              <a:t>sobre</a:t>
            </a:r>
            <a:r>
              <a:rPr dirty="0"/>
              <a:t> ESCALABILIDADE,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quantos</a:t>
            </a:r>
            <a:r>
              <a:rPr dirty="0"/>
              <a:t> cores. A </a:t>
            </a:r>
            <a:r>
              <a:rPr dirty="0" err="1"/>
              <a:t>montagem</a:t>
            </a:r>
            <a:r>
              <a:rPr dirty="0"/>
              <a:t> </a:t>
            </a:r>
            <a:r>
              <a:rPr dirty="0" err="1"/>
              <a:t>entrega</a:t>
            </a:r>
            <a:r>
              <a:rPr dirty="0"/>
              <a:t> </a:t>
            </a:r>
            <a:r>
              <a:rPr dirty="0" err="1"/>
              <a:t>abundância</a:t>
            </a:r>
            <a:r>
              <a:rPr dirty="0"/>
              <a:t> dos </a:t>
            </a:r>
            <a:r>
              <a:rPr dirty="0" err="1"/>
              <a:t>dois</a:t>
            </a:r>
            <a:r>
              <a:rPr dirty="0"/>
              <a:t> </a:t>
            </a:r>
            <a:r>
              <a:rPr dirty="0" err="1"/>
              <a:t>lados</a:t>
            </a:r>
            <a:r>
              <a:rPr dirty="0"/>
              <a:t> — </a:t>
            </a:r>
            <a:r>
              <a:rPr dirty="0" err="1"/>
              <a:t>máquina</a:t>
            </a:r>
            <a:r>
              <a:rPr dirty="0"/>
              <a:t> </a:t>
            </a:r>
            <a:r>
              <a:rPr dirty="0" err="1"/>
              <a:t>enorme</a:t>
            </a:r>
            <a:r>
              <a:rPr dirty="0"/>
              <a:t> e </a:t>
            </a:r>
            <a:r>
              <a:rPr dirty="0" err="1"/>
              <a:t>tarefas</a:t>
            </a:r>
            <a:r>
              <a:rPr dirty="0"/>
              <a:t> de </a:t>
            </a:r>
            <a:r>
              <a:rPr dirty="0" err="1"/>
              <a:t>sobra</a:t>
            </a:r>
            <a:r>
              <a:rPr dirty="0"/>
              <a:t> — e </a:t>
            </a:r>
            <a:r>
              <a:rPr dirty="0" err="1"/>
              <a:t>deixa</a:t>
            </a:r>
            <a:r>
              <a:rPr dirty="0"/>
              <a:t> a </a:t>
            </a:r>
            <a:r>
              <a:rPr dirty="0" err="1"/>
              <a:t>pergunta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aberto</a:t>
            </a:r>
            <a:r>
              <a:rPr dirty="0"/>
              <a:t>. A </a:t>
            </a:r>
            <a:r>
              <a:rPr dirty="0" err="1"/>
              <a:t>resposta</a:t>
            </a:r>
            <a:r>
              <a:rPr dirty="0"/>
              <a:t> </a:t>
            </a:r>
            <a:r>
              <a:rPr dirty="0" err="1"/>
              <a:t>contraintuitiva</a:t>
            </a:r>
            <a:r>
              <a:rPr dirty="0"/>
              <a:t> (</a:t>
            </a:r>
            <a:r>
              <a:rPr dirty="0" err="1"/>
              <a:t>não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com a </a:t>
            </a:r>
            <a:r>
              <a:rPr dirty="0" err="1"/>
              <a:t>arquitetura</a:t>
            </a:r>
            <a:r>
              <a:rPr dirty="0"/>
              <a:t> </a:t>
            </a:r>
            <a:r>
              <a:rPr dirty="0" err="1"/>
              <a:t>atual</a:t>
            </a:r>
            <a:r>
              <a:rPr dirty="0"/>
              <a:t>) é a </a:t>
            </a:r>
            <a:r>
              <a:rPr dirty="0" err="1"/>
              <a:t>tese</a:t>
            </a:r>
            <a:r>
              <a:rPr dirty="0"/>
              <a:t>, e volta no </a:t>
            </a:r>
            <a:r>
              <a:rPr dirty="0" err="1"/>
              <a:t>último</a:t>
            </a:r>
            <a:r>
              <a:rPr dirty="0"/>
              <a:t> slide.</a:t>
            </a:r>
          </a:p>
          <a:p>
            <a:endParaRPr dirty="0"/>
          </a:p>
          <a:p>
            <a:r>
              <a:rPr dirty="0" err="1"/>
              <a:t>Parâmetros</a:t>
            </a:r>
            <a:r>
              <a:rPr dirty="0"/>
              <a:t> </a:t>
            </a:r>
            <a:r>
              <a:rPr dirty="0" err="1"/>
              <a:t>condicionados</a:t>
            </a:r>
            <a:r>
              <a:rPr dirty="0"/>
              <a:t> </a:t>
            </a:r>
            <a:r>
              <a:rPr dirty="0" err="1"/>
              <a:t>como</a:t>
            </a:r>
            <a:r>
              <a:rPr dirty="0"/>
              <a:t> HIPOTÉTICO: </a:t>
            </a:r>
            <a:r>
              <a:rPr dirty="0" err="1"/>
              <a:t>você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rodou</a:t>
            </a:r>
            <a:r>
              <a:rPr dirty="0"/>
              <a:t> esse </a:t>
            </a:r>
            <a:r>
              <a:rPr dirty="0" err="1"/>
              <a:t>caso</a:t>
            </a:r>
            <a:r>
              <a:rPr dirty="0"/>
              <a:t> e o SHOTGUN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testado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SHOTGUN: </a:t>
            </a:r>
            <a:r>
              <a:rPr dirty="0" err="1"/>
              <a:t>todos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problemas</a:t>
            </a:r>
            <a:r>
              <a:rPr dirty="0"/>
              <a:t> (</a:t>
            </a:r>
            <a:r>
              <a:rPr dirty="0" err="1"/>
              <a:t>estágio</a:t>
            </a:r>
            <a:r>
              <a:rPr dirty="0"/>
              <a:t>, </a:t>
            </a:r>
            <a:r>
              <a:rPr dirty="0" err="1"/>
              <a:t>cenário</a:t>
            </a:r>
            <a:r>
              <a:rPr dirty="0"/>
              <a:t>) </a:t>
            </a:r>
            <a:r>
              <a:rPr dirty="0" err="1"/>
              <a:t>resolvidos</a:t>
            </a:r>
            <a:r>
              <a:rPr dirty="0"/>
              <a:t> de forma </a:t>
            </a:r>
            <a:r>
              <a:rPr dirty="0" err="1"/>
              <a:t>independente</a:t>
            </a:r>
            <a:r>
              <a:rPr dirty="0"/>
              <a:t>, </a:t>
            </a:r>
            <a:r>
              <a:rPr dirty="0" err="1"/>
              <a:t>sem</a:t>
            </a:r>
            <a:r>
              <a:rPr dirty="0"/>
              <a:t> </a:t>
            </a:r>
            <a:r>
              <a:rPr dirty="0" err="1"/>
              <a:t>sincronização</a:t>
            </a:r>
            <a:r>
              <a:rPr dirty="0"/>
              <a:t> entre </a:t>
            </a:r>
            <a:r>
              <a:rPr dirty="0" err="1"/>
              <a:t>estágios</a:t>
            </a:r>
            <a:r>
              <a:rPr dirty="0"/>
              <a:t> — é o </a:t>
            </a:r>
            <a:r>
              <a:rPr dirty="0" err="1"/>
              <a:t>que</a:t>
            </a:r>
            <a:r>
              <a:rPr dirty="0"/>
              <a:t> libera o </a:t>
            </a:r>
            <a:r>
              <a:rPr dirty="0" err="1"/>
              <a:t>paralelismo</a:t>
            </a:r>
            <a:r>
              <a:rPr dirty="0"/>
              <a:t> </a:t>
            </a:r>
            <a:r>
              <a:rPr dirty="0" err="1"/>
              <a:t>máximo</a:t>
            </a:r>
            <a:r>
              <a:rPr dirty="0"/>
              <a:t>: 10.000 x 120 = 1.200.000 </a:t>
            </a:r>
            <a:r>
              <a:rPr dirty="0" err="1"/>
              <a:t>tarefas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Escala contra o </a:t>
            </a:r>
            <a:r>
              <a:rPr dirty="0" err="1"/>
              <a:t>experimento</a:t>
            </a:r>
            <a:r>
              <a:rPr dirty="0"/>
              <a:t> (1.536 </a:t>
            </a:r>
            <a:r>
              <a:rPr dirty="0" err="1"/>
              <a:t>cenários</a:t>
            </a:r>
            <a:r>
              <a:rPr dirty="0"/>
              <a:t> x 3 </a:t>
            </a:r>
            <a:r>
              <a:rPr dirty="0" err="1"/>
              <a:t>estágios</a:t>
            </a:r>
            <a:r>
              <a:rPr dirty="0"/>
              <a:t> = 4.608 </a:t>
            </a:r>
            <a:r>
              <a:rPr dirty="0" err="1"/>
              <a:t>tarefas</a:t>
            </a:r>
            <a:r>
              <a:rPr dirty="0"/>
              <a:t>):</a:t>
            </a:r>
          </a:p>
          <a:p>
            <a:r>
              <a:rPr dirty="0"/>
              <a:t>  - 260x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tarefas</a:t>
            </a:r>
            <a:endParaRPr dirty="0"/>
          </a:p>
          <a:p>
            <a:r>
              <a:rPr dirty="0"/>
              <a:t>  - 864 </a:t>
            </a:r>
            <a:r>
              <a:rPr dirty="0" err="1"/>
              <a:t>milhões</a:t>
            </a:r>
            <a:r>
              <a:rPr dirty="0"/>
              <a:t> de </a:t>
            </a:r>
            <a:r>
              <a:rPr dirty="0" err="1"/>
              <a:t>registros</a:t>
            </a:r>
            <a:r>
              <a:rPr dirty="0"/>
              <a:t> </a:t>
            </a:r>
            <a:r>
              <a:rPr dirty="0" err="1"/>
              <a:t>horários</a:t>
            </a:r>
            <a:r>
              <a:rPr dirty="0"/>
              <a:t> contra 3,3 </a:t>
            </a:r>
            <a:r>
              <a:rPr dirty="0" err="1"/>
              <a:t>milhões</a:t>
            </a:r>
            <a:r>
              <a:rPr dirty="0"/>
              <a:t> = 260x </a:t>
            </a:r>
            <a:r>
              <a:rPr dirty="0" err="1"/>
              <a:t>mais</a:t>
            </a:r>
            <a:r>
              <a:rPr dirty="0"/>
              <a:t> dados a </a:t>
            </a:r>
            <a:r>
              <a:rPr dirty="0" err="1"/>
              <a:t>gravar</a:t>
            </a:r>
            <a:endParaRPr dirty="0"/>
          </a:p>
          <a:p>
            <a:r>
              <a:rPr dirty="0"/>
              <a:t>  - 1.200.000 ranks </a:t>
            </a:r>
            <a:r>
              <a:rPr dirty="0" err="1"/>
              <a:t>úteis</a:t>
            </a:r>
            <a:r>
              <a:rPr dirty="0"/>
              <a:t> = 8,7% dos cores do </a:t>
            </a:r>
            <a:r>
              <a:rPr dirty="0" err="1"/>
              <a:t>LineShine</a:t>
            </a:r>
            <a:endParaRPr dirty="0"/>
          </a:p>
          <a:p>
            <a:endParaRPr dirty="0"/>
          </a:p>
          <a:p>
            <a:r>
              <a:rPr dirty="0"/>
              <a:t>CREDITAR A FOTO: </a:t>
            </a:r>
            <a:r>
              <a:rPr dirty="0" err="1"/>
              <a:t>acrescente</a:t>
            </a:r>
            <a:r>
              <a:rPr dirty="0"/>
              <a:t> a </a:t>
            </a:r>
            <a:r>
              <a:rPr dirty="0" err="1"/>
              <a:t>fonte</a:t>
            </a:r>
            <a:r>
              <a:rPr dirty="0"/>
              <a:t> da </a:t>
            </a:r>
            <a:r>
              <a:rPr dirty="0" err="1"/>
              <a:t>imagem</a:t>
            </a:r>
            <a:r>
              <a:rPr dirty="0"/>
              <a:t> (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linha</a:t>
            </a:r>
            <a:r>
              <a:rPr dirty="0"/>
              <a:t> </a:t>
            </a:r>
            <a:r>
              <a:rPr dirty="0" err="1"/>
              <a:t>discreta</a:t>
            </a:r>
            <a:r>
              <a:rPr dirty="0"/>
              <a:t> no canto,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menção</a:t>
            </a:r>
            <a:r>
              <a:rPr dirty="0"/>
              <a:t> verbal). É </a:t>
            </a:r>
            <a:r>
              <a:rPr dirty="0" err="1"/>
              <a:t>foto</a:t>
            </a:r>
            <a:r>
              <a:rPr dirty="0"/>
              <a:t> de </a:t>
            </a:r>
            <a:r>
              <a:rPr dirty="0" err="1"/>
              <a:t>terceiros</a:t>
            </a:r>
            <a:r>
              <a:rPr dirty="0"/>
              <a:t> e a </a:t>
            </a:r>
            <a:r>
              <a:rPr dirty="0" err="1"/>
              <a:t>defesa</a:t>
            </a:r>
            <a:r>
              <a:rPr dirty="0"/>
              <a:t> é </a:t>
            </a:r>
            <a:r>
              <a:rPr dirty="0" err="1"/>
              <a:t>sessão</a:t>
            </a:r>
            <a:r>
              <a:rPr dirty="0"/>
              <a:t> </a:t>
            </a:r>
            <a:r>
              <a:rPr dirty="0" err="1"/>
              <a:t>pública</a:t>
            </a:r>
            <a:r>
              <a:rPr dirty="0"/>
              <a:t> — </a:t>
            </a:r>
            <a:r>
              <a:rPr dirty="0" err="1"/>
              <a:t>creditar</a:t>
            </a:r>
            <a:r>
              <a:rPr dirty="0"/>
              <a:t> resolve.</a:t>
            </a:r>
          </a:p>
          <a:p>
            <a:endParaRPr dirty="0"/>
          </a:p>
          <a:p>
            <a:r>
              <a:rPr dirty="0"/>
              <a:t>NÃO </a:t>
            </a:r>
            <a:r>
              <a:rPr dirty="0" err="1"/>
              <a:t>prometer</a:t>
            </a:r>
            <a:r>
              <a:rPr dirty="0"/>
              <a:t> tempo de </a:t>
            </a:r>
            <a:r>
              <a:rPr dirty="0" err="1"/>
              <a:t>execução</a:t>
            </a:r>
            <a:r>
              <a:rPr dirty="0"/>
              <a:t> —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medido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ENQUADRAMENTO: contexto de HPC, não de planejamento energético. A banca do PESC é de computação — o terreno seguro é o gargalo de E/S, não o modelo de operação.</a:t>
            </a:r>
          </a:p>
          <a:p>
            <a:endParaRPr/>
          </a:p>
          <a:p>
            <a:r>
              <a:t>Sequência de fala:</a:t>
            </a:r>
          </a:p>
          <a:p>
            <a:r>
              <a:t>1) O SDDP entra APENAS como carga de trabalho. Simulação final = política já convergida, avaliada sobre muitos cenários; os cenários são independentes por construção, sem estado compartilhado nem coordenação — logo, bag-of-tasks (Cirne, 2003). Em resolução horária cada par (estágio, cenário) vira um bloco contíguo uma ordem de grandeza maior. Frase-chave: a tarefa não termina quando o cenário é resolvido, termina quando o resultado está em disco. Não entrar em SDDP como algoritmo de otimização.</a:t>
            </a:r>
          </a:p>
          <a:p>
            <a:r>
              <a:t>2) As duas peças que o HPC oferece para esse padrão. Lustre: separação entre o fluxo de metadados (MDS/MDT) e o de dados (OSS/OST); a banda agregada escala com o número de OSTs. MPI-IO: no padrão desde o MPI-2; a escrita independente (MPI_File_write_at / iwrite_at) casa exatamente com este workload — offsets calculáveis, blocos contíguos por processo, ranks terminando em momentos diferentes, sem necessidade de sincronização global.</a:t>
            </a:r>
          </a:p>
          <a:p>
            <a:r>
              <a:t>3) O anti-padrão. Concentrar a E/S em um rank escritor transforma E/S em comunicação ponto a ponto: MPI_Send do trabalhador, MPI_Recv do escritor, gravação serializada. Dois gargalos (Seção 2.6, Arquitetura atual de E/S do SDDP): o adaptador de rede do nó escritor, que recebe todos os buffers e ainda divide a NIC com o rank 0 distribuidor; e o caminho de escrita, sequencial em um só processo. Efeito colateral: atraso do escritor bloqueia os trabalhadores no Send.</a:t>
            </a:r>
          </a:p>
          <a:p>
            <a:r>
              <a:t>4) A figura: um requisito do domínio mudou a granularidade do resultado — de 3 registros por tarefa (patamares pesado/médio/leve) para 720 (horas do mês). 240x mais dados a persistir, com a mesma computação por tarefa.</a:t>
            </a:r>
          </a:p>
          <a:p>
            <a:endParaRPr/>
          </a:p>
          <a:p>
            <a:r>
              <a:t>LASTRO NA DISSERTAÇÃO (se pedirem referência): descompasso entre cálculo e E/S em escala — Luu et al. 2015, Xie et al. 2020, Phillips et al. 2009; bag-of-tasks — Cirne et al. 2003; Lustre — Braam 2002 e o Operations Manual; MPI-IO — MPI-2 / MPI 5.0; escritas independentes sobre Lustre — Dickens &amp; Logan 2008/2010, Liao et al. 2007.</a:t>
            </a:r>
          </a:p>
          <a:p>
            <a:endParaRPr/>
          </a:p>
          <a:p>
            <a:r>
              <a:t>SE PERGUNTAREM POR QUE A RESOLUÇÃO MUDOU: uma frase e seguir — a operação passou a exigir resolução horária para representar ponta, vales e rampas associados à variabilidade das fontes intermitentes. Não se alongar; o mérito do trabalho não depende disso.</a:t>
            </a:r>
          </a:p>
          <a:p>
            <a:endParaRPr/>
          </a:p>
          <a:p>
            <a:r>
              <a:t>Números de reserva: no caso avaliado (1.536 cenários x 3 estágios), 13.824 -&gt; 3.317.760 registros.</a:t>
            </a:r>
          </a:p>
          <a:p>
            <a:r>
              <a:t>NÃO mencionar a solução aqui — decisão do seu roteiro.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Conteúdo extraído da Seção 1.2 (Objetivos e Contribuições) da dissertação — mantém a mesma delimitação do texto.</a:t>
            </a:r>
          </a:p>
          <a:p>
            <a:endParaRPr/>
          </a:p>
          <a:p>
            <a:r>
              <a:t>Quatro exclusões: a construção da política (outra fase), a otimização do cálculo dentro da simulação final, a leitura dos dados de entrada e o escalonamento entre ranks.</a:t>
            </a:r>
          </a:p>
          <a:p>
            <a:endParaRPr/>
          </a:p>
          <a:p>
            <a:r>
              <a:t>A segunda é a mais importante de dizer em voz alta: dentro da fase escolhida, o trabalho mexe SÓ na escrita. O tempo de computação por cenário entra como dado, não como variável — por isso ele aparece praticamente constante entre as duas implementações nos gráficos do Cap. 4, e isso é esperado, não um resultado fraco.</a:t>
            </a:r>
          </a:p>
          <a:p>
            <a:endParaRPr/>
          </a:p>
          <a:p>
            <a:r>
              <a:t>POR QUE MOSTRAR O FORA DO ESCOPO: a delimitação isola a paralelização das escritas como variável de estudo, sem confundir os ganhos com outras frentes de otimização. Dizer isso em voz alta antecipa perguntas do tipo 'e por que não otimizaram a leitura / o escalonamento?'.</a:t>
            </a:r>
          </a:p>
          <a:p>
            <a:endParaRPr/>
          </a:p>
          <a:p>
            <a:r>
              <a:t>As 5 contribuições são o slide ao qual a banca mais volta na arguição — saber enunciá-las de cor.</a:t>
            </a:r>
          </a:p>
          <a:p>
            <a:r>
              <a:t>Marcadores quadrados no padrão do modelo (Wingdings).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em duas colunas: à esquerda a comunicação ponto-a-ponto, à direita a E/S paralela.</a:t>
            </a:r>
          </a:p>
          <a:p>
            <a:endParaRPr/>
          </a:p>
          <a:p>
            <a:r>
              <a:t>ESQUERDA — protocolos Eager e Rendezvous (roteiro: 'por que eager e rendez-vous?'):</a:t>
            </a:r>
          </a:p>
          <a:p>
            <a:r>
              <a:t>  - Eager: mensagem pequena vai direto, sem negociação — latência menor.</a:t>
            </a:r>
          </a:p>
          <a:p>
            <a:r>
              <a:t>  - Rendezvous: mensagem grande negocia antes de transferir — controle de fluxo.</a:t>
            </a:r>
          </a:p>
          <a:p>
            <a:r>
              <a:t>  - É essa assimetria que inspira o limiar de 128 KB entre escrita assíncrona e síncrona no Cap. 3.</a:t>
            </a:r>
          </a:p>
          <a:p>
            <a:r>
              <a:t>  - CONFERIR o ponto de quebra: sua conclusão registra que não era 64 KB nem 128 KB.</a:t>
            </a:r>
          </a:p>
          <a:p>
            <a:endParaRPr/>
          </a:p>
          <a:p>
            <a:r>
              <a:t>DIREITA — escritas independentes x coletivas em MPI-IO:</a:t>
            </a:r>
          </a:p>
          <a:p>
            <a:r>
              <a:t>  - Independente: cada rank grava sua própria região do arquivo, sem coordenação.</a:t>
            </a:r>
          </a:p>
          <a:p>
            <a:r>
              <a:t>  - Coletiva: os ranks passam por agregadores, que reorganizam e gravam em regiões maiores.</a:t>
            </a:r>
          </a:p>
          <a:p>
            <a:r>
              <a:t>  - A coletiva ajuda quando os acessos são pequenos e intercalados (strides); custa sincronização.</a:t>
            </a:r>
          </a:p>
          <a:p>
            <a:r>
              <a:t>  - O SDDP tem ACESSO CONTÍGUO e offsets calculáveis, então a proposta usa escrita INDEPENDENTE — evita o custo de coordenação sem perder desempenho. Dizer isso aqui já justifica a escolha do Cap. 3.</a:t>
            </a:r>
          </a:p>
          <a:p>
            <a:endParaRPr/>
          </a:p>
          <a:p>
            <a:r>
              <a:t>Completar, se houver tempo: data sieving e two-phase I/O (itens do seu roteiro).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Componentes: MDS/MDT (metadados), OSS/OST (dados), cliente.</a:t>
            </a:r>
          </a:p>
          <a:p>
            <a:r>
              <a:t>Striping: stripe_count e stripe_size distribuem um arquivo entre OSTs. Configuração usada: stripe_count=10, stripe_size=1 MB.</a:t>
            </a:r>
          </a:p>
          <a:p>
            <a:r>
              <a:t>MENSAGEM-CHAVE: o paralelismo do Lustre só é aproveitado se a aplicação escrever em paralelo — com um escritor único, o sistema de arquivos fica ocioso.</a:t>
            </a:r>
          </a:p>
          <a:p>
            <a:r>
              <a:t>Se sobrar tempo, usar Lustre_striping.png como segundo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Cada cenário resolvido envia seu bloco de resultados via MPI_Send ao rank 0, que serializa as gravações.</a:t>
            </a:r>
          </a:p>
          <a:p>
            <a:r>
              <a:t>Dois gargalos potenciais: (1) o adaptador de rede do nó escritor, que recebe todas as transferências concorrentes; (2) o caminho de escrita serializado, que não aproveita o paralelismo do Lustre.</a:t>
            </a:r>
          </a:p>
          <a:p>
            <a:r>
              <a:t>Roteiro (docx): cuidado com a explicação do SDDP — manter curto. Se precisar, um slide antes com cenários x estágios e o formato dos arquivos.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Rank 0 deixa de ser escritor: cada rank grava diretamente no Lustre via MPI-IO.</a:t>
            </a:r>
          </a:p>
          <a:p>
            <a:r>
              <a:t>Contrastar visualmente com o slide anterior — é a mesma figura sem o funil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 PAR EXPLICA A IMPLEMENTAÇÃO: à direita, POR QUE a escrita independente é possível; à esquerda, COMO ela é feita. Duas ideias apenas — offset calculado e limiar de bloco. Nada mais.</a:t>
            </a:r>
          </a:p>
          <a:p>
            <a:endParaRPr/>
          </a:p>
          <a:p>
            <a:r>
              <a:t>DIREITA (Figura 3.4) — comece por aqui. O formato dos arquivos foi PRESERVADO, para não quebrar a cadeia de softwares do planejamento que consome as saídas. Cada registro traz estágio, cenário e hora nas três primeiras colunas; da quarta em diante, um valor por elemento do sistema elétrico (usina, reservatório, barra, interligação...). Consequência decisiva: a posição de cada registro é FUNÇÃO de (estágio, cenário, hora) — irec = posicaoLogica(...), offset = irec x tamRegistro. Nenhum processo precisa perguntar a ninguém onde escrever, e é isso que dispensa coordenação global. Os marcadores laterais são os offsets de início de cada estágio.</a:t>
            </a:r>
          </a:p>
          <a:p>
            <a:endParaRPr/>
          </a:p>
          <a:p>
            <a:r>
              <a:t>ESQUERDA (Código 3.1) — três decisões, na terminologia de acesso a dados do MPI-IO:</a:t>
            </a:r>
          </a:p>
          <a:p>
            <a:r>
              <a:t>POSITIONING: offset explícito e calculado (write_at / iwrite_at), derivado do formato da direita. É o ponto central do slide.</a:t>
            </a:r>
          </a:p>
          <a:p>
            <a:r>
              <a:t>COORDINATION: independente — sem participação dos outros ranks, o que casa com o bag-of-tasks (cada rank grava quando termina).</a:t>
            </a:r>
          </a:p>
          <a:p>
            <a:r>
              <a:t>SYNCHRONISM: por TAMANHO DE BLOCO, e isso é DECISÃO DE PROJETO, não medida. Abaixo do limiar, MPI_File_iwrite_at (assíncrona, sobrepõe E/S e computação); acima, MPI_File_write_at (síncrona). A motivação é a mesma que rege eager x rendezvous na comunicação ponto a ponto: bloco pequeno paga latência, bloco grande paga banda.</a:t>
            </a:r>
          </a:p>
          <a:p>
            <a:r>
              <a:t>LAYOUT (de apoio): o rank acumula em memória as horas do estágio de um cenário e só submete quando o bloco está completo — em vez de 720 escritas de uma linha, uma escrita contígua.</a:t>
            </a:r>
          </a:p>
          <a:p>
            <a:endParaRPr/>
          </a:p>
          <a:p>
            <a:r>
              <a:t>TAMANHO DO REGISTRO: tamRegistro = (3 + numElementos) x 4 bytes. Constante por arquivo. Exemplos da dissertação para um bloco horário de 720 horas: 1 elemento -&gt; 4 colunas -&gt; bloco de 11,25 KB; 10 elementos -&gt; 13 colunas -&gt; 36,56 KB; 300 elementos -&gt; 303 colunas -&gt; 852,19 KB.</a:t>
            </a:r>
          </a:p>
          <a:p>
            <a:r>
              <a:t>USE ISSO A SEU FAVOR: é o número de elementos do sistema elétrico que decide de que lado do limiar o bloco cai. Com poucos elementos vai pelo caminho assíncrono; com 300 elementos passa de 852 KB e vai pelo síncrono. O mesmo código percorre os dois regimes conforme a base de dados — por isso a decisão é por tamanho de bloco, e não por tipo de arquivo.</a:t>
            </a:r>
          </a:p>
          <a:p>
            <a:endParaRPr/>
          </a:p>
          <a:p>
            <a:r>
              <a:t>OMITIDO DE PROPÓSITO — o anel de buffers. A implementação real reserva 32 buffers pré-alocados e os reutiliza de forma circular; antes de reaproveitar uma posição, o processo aguarda com MPI_Wait a conclusão da escrita anterior daquele buffer, e ao final da simulação um MPI_Waitall conclui as pendentes. Isso foi tirado do slide para não competir com o que importa. SE PERGUNTAREM 'como você garante que o buffer continua válido numa escrita não bloqueante?': é exatamente esse anel de 32 buffers; é o único ponto de bloqueio do caminho de escrita, em regime permanente quase nunca é atingido, e o custo dessas esperas foi medido e é desprezível frente ao tempo total de escrita (Seção 3.3.1).</a:t>
            </a:r>
          </a:p>
          <a:p>
            <a:endParaRPr/>
          </a:p>
          <a:p>
            <a:r>
              <a:t>ATENÇÃO — o limiar impresso é 128 KB. Sua anotação diz que o ponto de quebra do rendezvous não era 64 nem 128 KB. Fixe UM valor e alinhe o slide do MPI, este slide e o do tempo de bloqueio. Apresente como parâmetro de projeto; o Cap. 6 propõe varrer 64/128/256 KB.</a:t>
            </a:r>
          </a:p>
          <a:p>
            <a:endParaRPr/>
          </a:p>
          <a:p>
            <a:r>
              <a:t>SE PERGUNTAREM POR QUE NÃO COLETIVA: os offsets são calculáveis e os blocos contíguos, então não há o que a biblioteca agregue; a coletiva exigiria sincronizar ranks que terminam em momentos diferentes. Tentativas preliminares deram deadlock (Cap. 6).</a:t>
            </a:r>
          </a:p>
          <a:p>
            <a:r>
              <a:t>SE PERGUNTAREM POR QUE NÃO MUDAR O FORMATO: quebraria a compatibilidade com a cadeia do planejamento; manter o formato também dá a linha de base para comparar propostas futuras de organização dos arquivos.</a:t>
            </a:r>
          </a:p>
          <a:p>
            <a:endParaRPr/>
          </a:p>
          <a:p>
            <a:r>
              <a:t>posicaoLogica(estagio, cenario, patamar) devolve o ÍNDICE do registro no arquivo; a fórmula explícita não está escrita no Cap. 3 — se a banca puxar esse fio, é aqui que bate.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PARA QUE ESTE SLIDE EXISTE: em HPC, como se mediu é cobrado tanto quanto o resultado. Ele responde de uma vez as perguntas de reprodutibilidade e prepara a leitura de todos os gráficos que vêm depois.</a:t>
            </a:r>
          </a:p>
          <a:p>
            <a:endParaRPr/>
          </a:p>
          <a:p>
            <a:r>
              <a:t>A FAIXA DE CIMA É O ARGUMENTO: a carga é a MESMA nos dois ambientes. Mesma base (PMO/PAR out/2023), mesmos 1.536 cenários × 3 estágios, mesmos 24 ranks por nó, mesma faixa de 2 a 32 nós. O que muda é só a infraestrutura — por isso o resultado qualitativo repetido nos dois lugares vale como portabilidade, e não como coincidência.</a:t>
            </a:r>
          </a:p>
          <a:p>
            <a:endParaRPr/>
          </a:p>
          <a:p>
            <a:r>
              <a:t>POR QUE 24 RANKS POR NÓ, E NÃO 48: cada rank MPI consome mais de 8 GB residentes. Com 384 GB por nó, ativar hyper-threading e dobrar os ranks estouraria a memória física. Logo, um rank por núcleo FÍSICO. É decisão imposta pela aplicação, não preferência.</a:t>
            </a:r>
          </a:p>
          <a:p>
            <a:endParaRPr/>
          </a:p>
          <a:p>
            <a:r>
              <a:t>STRONG SCALING, E ISSO É ESCOLHA: problema de tamanho fixo, número de nós crescente. A pergunta que interessa ao planejamento é 'o mesmo PMO roda mais rápido com mais nós?'. SE PERGUNTAREM POR WEAK SCALING: está em trabalhos futuros.</a:t>
            </a:r>
          </a:p>
          <a:p>
            <a:endParaRPr/>
          </a:p>
          <a:p>
            <a:r>
              <a:t>OS TRÊS CONTRASTES QUE EXPLICAM OS RESULTADOS:</a:t>
            </a:r>
          </a:p>
          <a:p>
            <a:r>
              <a:t>1) REDE — 18,75 Gb/s de Ethernet na AWS contra 100 Gb/s de InfiniBand no SDumont. Contraintuitivo: o ambiente com a rede mais lenta é o que dá o maior ganho de banda (113x contra 13,7x). Isso reforça o diagnóstico — o gargalo da arquitetura atual não é a rede em si, é a serialização no nó escritor.</a:t>
            </a:r>
          </a:p>
          <a:p>
            <a:r>
              <a:t>2) OSTs — 10 na AWS contra 6 no SDumont. A banda agregada do Lustre escala com o número de OSTs, o que já antecipa parte da diferença de magnitude entre os dois ambientes e conecta com o slide do efeito dos OSTs.</a:t>
            </a:r>
          </a:p>
          <a:p>
            <a:r>
              <a:t>3) DEDICADO x COMPARTILHADO — este é o mais importante. O FSx da AWS é exclusivo do experimento; o Lustre do SDumont divide banda e metadados com outros jobs. O SDumont é, portanto, o cenário ADVERSO — e é justamente por preservar a vantagem lá que a solução se mostra portátil.</a:t>
            </a:r>
          </a:p>
          <a:p>
            <a:endParaRPr/>
          </a:p>
          <a:p>
            <a:r>
              <a:t>SE PERGUNTAREM PELA BANDA PERCEBIDA DE 60,5 Gb/s EM 2 NÓS NA AWS, acima dos 18,75 Gb/s nominais do adaptador: é consequência da definição da métrica. Em 2 nós, cerca de metade dos trabalhadores fica no mesmo nó do escritor e comunica por memória compartilhada, com bloqueio mínimo; o denominador encolhe. Conforme cresce a escala, a fração de envios locais cai (um quarto em 4 nós, um oitavo em 8, menos de 6% em 16) e a métrica converge para muito abaixo do nominal.</a:t>
            </a:r>
          </a:p>
          <a:p>
            <a:endParaRPr/>
          </a:p>
          <a:p>
            <a:r>
              <a:t>PENDÊNCIA — COMPILADOR E FLAGS: a avaliação de banca marcou como risco alto a ausência de compilador, flags de otimização e configuração do mpirun. Esses dados não estão no Capítulo 4; sem eles, este slide fica incompleto no critério de reprodutibilidade. Acrescente uma linha em cada coluna assim que levantar os valores.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 duas figuras juntas formam o argumento — separadas, cada uma conta metade da história.</a:t>
            </a:r>
          </a:p>
          <a:p>
            <a:endParaRPr/>
          </a:p>
          <a:p>
            <a:r>
              <a:t>ESQUERDA (4.1): predominância de requisições PEQUENAS. É o que torna o workload hostil ao Lustre e o que justifica o limiar de 128 KB no Cap. 3.</a:t>
            </a:r>
          </a:p>
          <a:p>
            <a:endParaRPr/>
          </a:p>
          <a:p>
            <a:r>
              <a:t>DIREITA (4.2): o VOLUME se concentra nos blocos maiores.</a:t>
            </a:r>
          </a:p>
          <a:p>
            <a:endParaRPr/>
          </a:p>
          <a:p>
            <a:r>
              <a:t>A LEITURA CONJUNTA: a maior parte das operações é pequena, mas a maior parte dos bytes está em poucas operações grandes. Ou seja, o custo não é proporcional ao volume — são as muitas requisições pequenas que pagam o custo fixo de coordenação. É exatamente por isso que faz sentido tratar os dois regimes de forma diferente (assíncrono para pequenos, síncrono para grandes).</a:t>
            </a:r>
          </a:p>
          <a:p>
            <a:endParaRPr/>
          </a:p>
          <a:p>
            <a:r>
              <a:t>Conclusão do seu docx: não é vantajoso ter muitos arquivos pequenos, por causa da operação coletiva — agrupar resultados menores. Liga direto com o trabalho futuro de reorganizar os arquivos diários.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UM SLIDE COM ANIMAÇÃO. Abre só com a implementação atual; ao CLICAR, as barras do MPI-IO aparecem com fade. São duas imagens sobrepostas no mesmo retângulo — a de cima ('MPI-IO (animar)') tem fundo transparente e só contém as barras hachuradas mais a entrada da legenda.</a:t>
            </a:r>
          </a:p>
          <a:p>
            <a:endParaRPr/>
          </a:p>
          <a:p>
            <a:r>
              <a:t>COMEÇAR OS EXPERIMENTOS POR AQUI (decisão do seu roteiro).</a:t>
            </a:r>
          </a:p>
          <a:p>
            <a:endParaRPr/>
          </a:p>
          <a:p>
            <a:r>
              <a:t>ANTES DO CLIQUE — mensagem: a banda não cresce com o número de nós, ela CAI. De 60,5 Gb/s em 2 nós para 3,4 Gb/s em 32 nós. Dobrar o hardware piora a banda percebida pela aplicação. Deixe a plateia absorver isso antes de clicar.</a:t>
            </a:r>
          </a:p>
          <a:p>
            <a:r>
              <a:t>O eixo y vai até 470 Gb/s com espaço vazio acima: é de propósito, é onde o MPI-IO vai entrar.</a:t>
            </a:r>
          </a:p>
          <a:p>
            <a:endParaRPr/>
          </a:p>
          <a:p>
            <a:r>
              <a:t>DEPOIS DO CLIQUE: em 32 nós, 380,3 contra 3,4 Gb/s = 113x mais banda, e o sentido da curva se inverte — o MPI-IO cresce com os nós (57,0 / 106,0 / 167,0 / 274,2 / 380,3).</a:t>
            </a:r>
          </a:p>
          <a:p>
            <a:r>
              <a:t>Em 2 nós as duas são equivalentes (60,5 contra 57,0) e a atual é levemente melhor. DIZER ISSO: o ganho aparece com escala, não em qualquer regime — e o Cap. 6 precisa registrar isso.</a:t>
            </a:r>
          </a:p>
          <a:p>
            <a:endParaRPr/>
          </a:p>
          <a:p>
            <a:r>
              <a:t>SE APRESENTAR NO GOOGLE APRESENTAÇÕES: a animação é descartada na importação e as duas séries aparecem juntas de saída. Nesse caso use o arquivo de reserva Apresentacao_esqueleto_banda_2slides.pptx, ou recrie a animação em Inserir &gt; Animação &gt; Aparecer, 'ao clicar', na imagem 'MPI-IO (animar)'.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ANIMAR: a imagem 'MPI-IO (animar)' deve receber entrada Aparecer, ao clicar.</a:t>
            </a:r>
          </a:p>
          <a:p>
            <a:endParaRPr/>
          </a:p>
          <a:p>
            <a:r>
              <a:t>ANTES DO CLIQUE — só a implementação atual. Números: 8.971 s em 2 nós, caindo até 1.874 s em 16 nós, e SUBINDO para 2.013 s em 32 nós. A regressão é significativa: IC 95% não se sobrepõem (1.874 ± 71 contra 2.013 ± 36). Em 32 nós a E/S é 49,5% do tempo.</a:t>
            </a:r>
          </a:p>
          <a:p>
            <a:r>
              <a:t>Deixe a plateia ver que dobrar de 16 para 32 nós PIORA o tempo antes de clicar.</a:t>
            </a:r>
          </a:p>
          <a:p>
            <a:endParaRPr/>
          </a:p>
          <a:p>
            <a:r>
              <a:t>DEPOIS DO CLIQUE — MPI-IO: 1.274 s em 32 nós, 1,58x mais rápido, e continua escalando de 16 para 32. A E/S cai de 49,5% para 0,7%.</a:t>
            </a:r>
          </a:p>
          <a:p>
            <a:r>
              <a:t>ASSUMA A RESSALVA: em 32 nós há apenas 2 cenários por rank, então parte da perda de eficiência é granularidade. Sua defesa: a fração de E/S é medida e instrumentada, não inferida por resíduo.</a:t>
            </a:r>
          </a:p>
          <a:p>
            <a:r>
              <a:t>Novo limite visível: MPI_File_open/close chega a 11,6% do tempo em 32 nós.</a:t>
            </a:r>
          </a:p>
          <a:p>
            <a:endParaRPr/>
          </a:p>
          <a:p>
            <a:r>
              <a:t>--- nota anterior ---</a:t>
            </a:r>
          </a:p>
          <a:p>
            <a:r>
              <a:t>USAR A VERSÃO EM ANIMAÇÃO (Tempo_execucao_AWS_transicao_2slides.pptx): primeiro só a implementação atual, depois o MPI-IO aparece.</a:t>
            </a:r>
          </a:p>
          <a:p>
            <a:r>
              <a:t>Números: 8.971 s em 2 nós → 1.874 s em 16 nós → 2.013 s em 32 nós (PIORA 7,4%; IC 95% não se sobrepõem).</a:t>
            </a:r>
          </a:p>
          <a:p>
            <a:r>
              <a:t>Em 32 nós a E/S é 49,5% do tempo. Com MPI-IO: 1.274 s (1,58x mais rápido), E/S cai para 0,7%.</a:t>
            </a:r>
          </a:p>
          <a:p>
            <a:r>
              <a:t>ASSUMIR A RESSALVA: em 32 nós há só 2 cenários por rank — parte da perda é granularidade. Defesa: a fração de E/S é medida, não inferida.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DE BACKUP — tabela completa do Capítulo 4, para a arguição.</a:t>
            </a:r>
          </a:p>
          <a:p>
            <a:endParaRPr/>
          </a:p>
          <a:p>
            <a:r>
              <a:t>A CURVA VIRA: o tempo total cai até 16 nós (1.873,56 s) e PIORA em 32 (2.013,06 s). É o regime saturado do escritor único.</a:t>
            </a:r>
          </a:p>
          <a:p>
            <a:r>
              <a:t>A banda percebida desaba de 60,51 para 3,37 Gb/s, mais de uma ordem de grandeza, enquanto a fração de E/S sobe de 0,34% para 49,51%.</a:t>
            </a:r>
          </a:p>
          <a:p>
            <a:r>
              <a:t>A eficiência cai a 27,9% em 32 nós. Speedup máximo de 4,79x, em 16 nós.</a:t>
            </a:r>
          </a:p>
          <a:p>
            <a:r>
              <a:t>Os 60,51 Gb/s em 2 nós excedem os 18,75 Gb/s nominais do adaptador: em 2 nós metade dos trabalhadores comunica por memória compartilhada com o escritor, e o denominador da banda percebida encolhe (definição na Seção 3.5).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DE BACKUP — tabela completa do Capítulo 4, para a arguição.</a:t>
            </a:r>
          </a:p>
          <a:p>
            <a:endParaRPr/>
          </a:p>
          <a:p>
            <a:r>
              <a:t>MONOTÔNICA NOS DOIS SENTIDOS: o tempo total cai em toda a faixa (8.858,91 -&gt; 1.274,25 s) e a banda cresce sem inflexão (57,04 -&gt; 380,30 Gb/s). O armazenamento não saturou.</a:t>
            </a:r>
          </a:p>
          <a:p>
            <a:r>
              <a:t>A E/S deixa de ser fator: fica em 0,70% do tempo em 32 nós, com tempo absoluto praticamente constante (18,98 -&gt; 8,96 s).</a:t>
            </a:r>
          </a:p>
          <a:p>
            <a:r>
              <a:t>A coluna nova é o open/close: 42,48 s em 2 nós para 147,26 s em 32. Cresce com o número de nós porque é operação coletiva, mas é UMA por execução — não cresce com cenários nem com estágios. Os 11,6% de participação em 32 nós estão inflados porque o teste tem só 3 estágios mensais.</a:t>
            </a:r>
          </a:p>
          <a:p>
            <a:r>
              <a:t>Eficiência de 43,5% em 32 nós: gargalo de computação em strong scaling, não de E/S.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DE BACKUP — tabela completa do Capítulo 4, para a arguição.</a:t>
            </a:r>
          </a:p>
          <a:p>
            <a:endParaRPr/>
          </a:p>
          <a:p>
            <a:r>
              <a:t>ESTA É A TABELA QUE RESUME O EXPERIMENTO AWS. Leia a coluna 'Ganho de banda': 0,94x, 2,07x, 8,82x, 60,66x, 113,00x. O ganho é de ESCALA.</a:t>
            </a:r>
          </a:p>
          <a:p>
            <a:r>
              <a:t>O tempo total melhora 36,7% em 32 nós; a E/S melhora 99,1%.</a:t>
            </a:r>
          </a:p>
          <a:p>
            <a:r>
              <a:t>ASSUMA O PONTO FRACO: em 4 nós há PIORA de 6,3% no tempo total, apesar de a banda já ser 2,07x melhor. O Cap. 6 registra como investigação pendente e atribui a fatores externos ao módulo de E/S — provavelmente variação do tempo de computação entre repetições.</a:t>
            </a:r>
          </a:p>
          <a:p>
            <a:r>
              <a:t>Em 2 nós o empate (1,3%) é esperado: o escritor ainda não saturou e o custo fixo da camada MPI-IO pesa.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Experimento de sensibilidade: 4 OSTs contra 10 OSTs, com TODOS os demais parâmetros constantes — mesma base PMO/PAR de outubro de 2023, 1.536 cenários, 3 estágios mensais, 24 ranks por nó e mesma instrumentação MPI-IO. Rodada dedicada, portanto os valores absolutos são diretamente comparáveis.</a:t>
            </a:r>
          </a:p>
          <a:p>
            <a:endParaRPr/>
          </a:p>
          <a:p>
            <a:r>
              <a:t>ESQUERDA (4.7): a banda agregada percebida pela aplicação — o EFEITO.</a:t>
            </a:r>
          </a:p>
          <a:p>
            <a:r>
              <a:t>DIREITA (4.6): o tempo de envio por classe de tamanho de mensagem — a CAUSA.</a:t>
            </a:r>
          </a:p>
          <a:p>
            <a:endParaRPr/>
          </a:p>
          <a:p>
            <a:r>
              <a:t>Ordem alinhada ao seu roteiro, que manda começar pela banda: primeiro o resultado que interessa (mais OSTs, mais banda), depois o mecanismo que o explica (as requisições se distribuem entre mais servidores de objeto e o tempo por operação cai). É a evidência que sustenta a contribuição de 'orientações para o dimensionamento do sistema de arquivos'.</a:t>
            </a:r>
          </a:p>
          <a:p>
            <a:endParaRPr/>
          </a:p>
          <a:p>
            <a:r>
              <a:t>PENDÊNCIA: a avaliação de banca apontou a Subseção 4.1.4 (OSTs) como estruturalmente anômala no texto — vale reposicionar no capítulo, embora no slide o par funcione bem aqui.</a:t>
            </a:r>
          </a:p>
          <a:p>
            <a:r>
              <a:t>A configuração de 10 OSTs é a mesma do Experimento AWS principal; stripe_count=10 e stripe_size=1 MB ainda carecem de justificativa quantitativa no texto (outra pendência mapeada).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ANIMAR: a imagem 'MPI-IO (animar)' deve receber entrada Aparecer, ao clicar.</a:t>
            </a:r>
          </a:p>
          <a:p>
            <a:endParaRPr/>
          </a:p>
          <a:p>
            <a:r>
              <a:t>AMBIENTE DIFERENTE: nunca comparar com a AWS lado a lado — hardware, rede e Lustre distintos (aqui o Lustre é compartilhado). Apresentar como verificação de PORTABILIDADE do comportamento, não como comparação de desempenho.</a:t>
            </a:r>
          </a:p>
          <a:p>
            <a:endParaRPr/>
          </a:p>
          <a:p>
            <a:r>
              <a:t>ANTES DO CLIQUE — a atual cai de 27,9 Gb/s em 2 nós para 2,5 Gb/s em 32 nós. Mesmo padrão da AWS.</a:t>
            </a:r>
          </a:p>
          <a:p>
            <a:r>
              <a:t>Note as barras de erro largas em 2, 4 e 8 nós: é Lustre compartilhado com outros usuários, e essa variabilidade é esperada. Se perguntarem, essa é a resposta.</a:t>
            </a:r>
          </a:p>
          <a:p>
            <a:endParaRPr/>
          </a:p>
          <a:p>
            <a:r>
              <a:t>DEPOIS DO CLIQUE — MPI-IO cresce com os nós: 5,5 / 8,9 / 12,1 / 18,9 / 34,1 Gb/s. Em 32 nós, 34,1 contra 2,5 = 13,6x. O sentido da curva se inverte, como na AWS.</a:t>
            </a:r>
          </a:p>
          <a:p>
            <a:r>
              <a:t>Em 2, 4 e 8 nós a atual é MELHOR que a MPI-IO neste ambiente — dizer isso. O ganho aparece a partir de 16 nós, e é o Cap. 6 que precisa registrar essa ressalva.</a:t>
            </a:r>
          </a:p>
          <a:p>
            <a:endParaRPr/>
          </a:p>
          <a:p>
            <a:r>
              <a:t>--- nota anterior ---</a:t>
            </a:r>
          </a:p>
          <a:p>
            <a:r>
              <a:t>AMBIENTE DIFERENTE: nunca comparar AWS e SDumont lado a lado — parâmetros e hardware distintos. Apresentar como verificação de portabilidade do comportamento, não como comparação de desempenho.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ANIMAR: a imagem 'MPI-IO (animar)' deve receber entrada Aparecer, ao clicar.</a:t>
            </a:r>
          </a:p>
          <a:p>
            <a:endParaRPr/>
          </a:p>
          <a:p>
            <a:r>
              <a:t>ANTES DO CLIQUE — a atual: 14.524 s em 2 nós, decresce até 3.130 s em 16 nós e volta a subir para 3.744 s em 32 nós. Mesma inversão observada na AWS, em hardware completamente diferente.</a:t>
            </a:r>
          </a:p>
          <a:p>
            <a:r>
              <a:t>MENSAGEM CENTRAL DO SLIDE: o gargalo não é artefato de um ambiente específico.</a:t>
            </a:r>
          </a:p>
          <a:p>
            <a:endParaRPr/>
          </a:p>
          <a:p>
            <a:r>
              <a:t>DEPOIS DO CLIQUE — MPI-IO: 2.519 s em 16 nós e 2.233 s em 32 nós, ainda escalando. Em 32 nós, 3.744 contra 2.233 = 1,68x mais rápido.</a:t>
            </a:r>
          </a:p>
          <a:p>
            <a:r>
              <a:t>Em 2 e 4 nós as duas praticamente empatam (14.524 contra 14.796; 7.758 contra 7.800), com leve vantagem da atual — mesma ressalva da AWS.</a:t>
            </a:r>
          </a:p>
          <a:p>
            <a:endParaRPr/>
          </a:p>
          <a:p>
            <a:r>
              <a:t>Dados: pasta 'Sem rede' (atual) e 'Sem rede - MPIO - ASYNC' (MPI-IO). Existe também uma pasta ASYNC-FIX com números melhores em 32 nós (1.808 s) que NÃO é a usada nas figuras da dissertação — não citar para não gerar inconsistência.</a:t>
            </a:r>
          </a:p>
          <a:p>
            <a:endParaRPr/>
          </a:p>
          <a:p>
            <a:r>
              <a:t>--- nota anterior ---</a:t>
            </a:r>
          </a:p>
          <a:p>
            <a:r>
              <a:t>Mesmo padrão qualitativo: decresce até 16 nós e perde eficiência rapidamente nas maiores escalas (14.524 s em 2 nós).</a:t>
            </a:r>
          </a:p>
          <a:p>
            <a:r>
              <a:t>Mensagem: o gargalo não é artefato de um ambiente específico.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DE BACKUP — tabela completa do Capítulo 4, para a arguição.</a:t>
            </a:r>
          </a:p>
          <a:p>
            <a:endParaRPr/>
          </a:p>
          <a:p>
            <a:r>
              <a:t>MESMO PADRÃO, OUTRA ESCALA: o tempo cai até 16 nós (3.129,98 s) e piora em 32 (3.743,71 s). O colapso aqui começa em 16 nós, não em 8 como na AWS.</a:t>
            </a:r>
          </a:p>
          <a:p>
            <a:r>
              <a:t>Banda de 27,86 para 2,49 Gb/s; fração de E/S de 0,55% para 45,83%; eficiência de 100% para 24,2%.</a:t>
            </a:r>
          </a:p>
          <a:p>
            <a:r>
              <a:t>A banda de partida é bem menor que na AWS (27,86 contra 60,51 Gb/s) porque o Lustre é COMPARTILHADO com outros jobs e tem 6 OSTs, não 10.</a:t>
            </a:r>
          </a:p>
          <a:p>
            <a:r>
              <a:t>O tempo de comunicação é alto e quase constante (370 a 545 s) — é o custo de mover tudo até o rank escritor.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DE BACKUP — tabela completa do Capítulo 4, para a arguição.</a:t>
            </a:r>
          </a:p>
          <a:p>
            <a:endParaRPr/>
          </a:p>
          <a:p>
            <a:r>
              <a:t>Tempo total decrescente em toda a faixa (14.796 -&gt; 2.233 s) e banda monotonicamente crescente (5,55 -&gt; 34,10 Gb/s), como na AWS.</a:t>
            </a:r>
          </a:p>
          <a:p>
            <a:r>
              <a:t>O tempo médio de E/S por processo cai de 321,24 s para 64,06 s, e a fração de E/S fica abaixo de 5% em todas as configurações.</a:t>
            </a:r>
          </a:p>
          <a:p>
            <a:r>
              <a:t>ATENÇÃO À PRIMEIRA LINHA: 5,55 Gb/s em 2 nós é MENOS que os 27,86 Gb/s da implementação atual. Em pequena escala, com 6 OSTs e um sistema de arquivos disputado, a escrita distribuída não compensa o custo fixo. A partir de 8 nós inverte.</a:t>
            </a:r>
          </a:p>
          <a:p>
            <a:r>
              <a:t>O open/close chega a 230,03 s em 32 nós — mais que na AWS, coerente com um sistema de arquivos compartilhado e mais lento em metadados.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DE BACKUP — tabela completa do Capítulo 4, para a arguição.</a:t>
            </a:r>
          </a:p>
          <a:p>
            <a:endParaRPr/>
          </a:p>
          <a:p>
            <a:r>
              <a:t>A TABELA MAIS DELICADA DAS SEIS, E A MAIS HONESTA. Ela mostra o ganho de 40,4% em 32 nós e, ao mesmo tempo, os números negativos em pequena escala.</a:t>
            </a:r>
          </a:p>
          <a:p>
            <a:r>
              <a:t>ESPERE A PERGUNTA sobre o −305,3% de E/S em 2 nós. Resposta: são métricas de agregação diferente — na implementação atual a coluna é o tempo de E/S do rank escritor; na MPI-IO é o tempo MÉDIO de E/S por processo, que passa a existir em todos os ranks. Em 2 nós, com 6 OSTs e Lustre compartilhado, esse tempo por processo é grande; a partir de 8 nós a soma dos ganhos inverte o sinal (7,7%, 87,3%, 96,3%).</a:t>
            </a:r>
          </a:p>
          <a:p>
            <a:r>
              <a:t>Não fuja da linha de 2 e 4 nós: dizer 'em pequena escala a arquitetura atual é competitiva, o ganho é de escala' é mais forte do que ser confrontado com isso.</a:t>
            </a:r>
          </a:p>
          <a:p>
            <a:r>
              <a:t>O teto de 34,10 Gb/s contra os 380,30 Gb/s da AWS é o argumento do trabalho futuro de sistema de arquivos ad-hoc (Expand).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PARA QUE ESTE SLIDE EXISTE: a avaliação de banca de junho deu 0,0 ao Cap. 5 e apontou a ausência de trabalhos relacionados como risco crítico. Este slide responde 'onde você se posiciona?' — a terceira coluna é o slide; as duas primeiras são contexto.</a:t>
            </a:r>
          </a:p>
          <a:p>
            <a:endParaRPr/>
          </a:p>
          <a:p>
            <a:r>
              <a:t>A ORDEM É UM ARGUMENTO, em três passos:</a:t>
            </a:r>
          </a:p>
          <a:p>
            <a:r>
              <a:t>1) DICKENS &amp; LOGAN (2008) é o trabalho que introduziu o uso de MPI-IO sobre o Lustre e caracterizou o desempenho dessa combinação. Ele entra aqui por uma razão simples e forte: é o MESMO conjunto de ferramentas deste trabalho — MPI-IO sobre Lustre, em ambiente HPC. O SDDP é um novo caso de uso dessa mesma pilha. Não é preciso ir além disso no slide.</a:t>
            </a:r>
          </a:p>
          <a:p>
            <a:r>
              <a:t>2) LIAO et al. (2007) dá o mecanismo de alinhamento. Dois estágios: o local agrega mensagens por destino (utilização de rede); o global mantém páginas do tamanho da stripe, cada uma com um dono, o que faz toda escrita ao sistema de arquivos nascer alinhada e elimina o falso compartilhamento de locks. DIFERENÇA: o efeito do 1º estágio já é obtido aqui pela agregação das 720 horas por (estágio, cenário); o 2º não foi implementado. RESSALVA HONESTA, se perguntarem: o alinhamento deles vem da POSSE das páginas, não só do corte nas fronteiras — replicar isso exigiria reintroduzir uma noção de dono por stripe, ou seja, a coordenação que a arquitetura proposta evita.</a:t>
            </a:r>
          </a:p>
          <a:p>
            <a:r>
              <a:t>3) GARCÍA-CARBALLEIRA et al. (2023) muda a camada, não a aplicação. Volume efêmero sobre o armazenamento local dos nós alocados ao job, com stage-in/stage-out. DIFERENÇA: é o único dos três que ataca a contenção EXTERNA — a que impôs o teto de 34,1 Gb/s no SDumont, uma ordem de grandeza abaixo dos 380,3 Gb/s da AWS dedicada. Não compete com a proposta: compõe com ela.</a:t>
            </a:r>
          </a:p>
          <a:p>
            <a:endParaRPr/>
          </a:p>
          <a:p>
            <a:r>
              <a:t>FRASE DE FECHAMENTO DO SLIDE: os três sustentam a escolha de MPI-IO sobre Lustre. Dickens caracteriza o desempenho dessa pilha, Liao muda a bufferização, García-Carballeira muda a camada de armazenamento — e este trabalho muda quem escreve, sem sair do padrão MPI-IO e sem alterar o formato dos resultados.</a:t>
            </a:r>
          </a:p>
          <a:p>
            <a:endParaRPr/>
          </a:p>
          <a:p>
            <a:r>
              <a:t>SE PERGUNTAREM POR MAIS TRABALHOS: o Cap. 5 tem seis (estes três, mais Dickens &amp; Logan 2010 com a Y-lib, Gropp 2008 e Liao 2008). Gropp 2008 é o lastro teórico da escolha: com acessos non-interleaved, MPI_File_write_all degenera em MPI_File_write mais o custo de sincronização — logo, a coletiva é estritamente pior nesse regime. Dickens &amp; Logan 2010 mostra que agregar em poucos processos pode ser o pior caminho no Lustre.</a:t>
            </a:r>
          </a:p>
          <a:p>
            <a:endParaRPr/>
          </a:p>
          <a:p>
            <a:r>
              <a:t>LACUNA CONHECIDA, se alguém perguntar por que não HDF5 ou ADIOS: essas bibliotecas trazem portabilidade e autodescrição de formato, e é exatamente o formato binário que precisa ser preservado para não quebrar a cadeia de softwares do planejamento. Vale acrescentar essa família ao Cap. 5.</a:t>
            </a:r>
          </a:p>
          <a:p>
            <a:endParaRPr/>
          </a:p>
          <a:p>
            <a:r>
              <a:t>(Posição provisória: antes das Conclusões, espelhando a ordem da dissertação. Considere mover para depois do slide do Lustre — apresentado ANTES da arquitetura proposta, ele justifica a escolha antes de a pergunta nascer.)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ATENÇÃO — pendências que você mesmo anotou no docx:</a:t>
            </a:r>
          </a:p>
          <a:p>
            <a:r>
              <a:t>1) 'Erro grave nas conclusões: decorrente da saturação do adaptador de rede do processo escritor único' — corrigir a redação.</a:t>
            </a:r>
          </a:p>
          <a:p>
            <a:r>
              <a:t>2) A quebra do rendezvous não era em 64 KB nem em 128 KB — acertar o número (toca os slides 5, 9 e 13).</a:t>
            </a:r>
          </a:p>
          <a:p>
            <a:r>
              <a:t>3) Validação dos dados com softwares existentes.</a:t>
            </a:r>
          </a:p>
          <a:p>
            <a:endParaRPr/>
          </a:p>
          <a:p>
            <a:r>
              <a:t>ORIGEM DE CADA NÚMERO (Cap. 4):</a:t>
            </a:r>
          </a:p>
          <a:p>
            <a:r>
              <a:t>1) Banda atual AWS: 60,5 Gb/s em 2 nós -&gt; 18,9 (8) -&gt; 4,5 (16) -&gt; 3,4 (32). Total atual: 1.873,56 s em 16 nós contra 2.013,06 s em 32 — a curva vira. Diga 'inverte a escalabilidade': adicionar nós piora.</a:t>
            </a:r>
          </a:p>
          <a:p>
            <a:r>
              <a:t>2) Fração de E/S da atual: 7,6% (8 nós) -&gt; 28,2% (16) -&gt; 49,5% (32). MPI-IO fica &lt;= 1% a partir de 4 nós; 0,70% em 32. Total 2.013,06 -&gt; 1.274,25 s (36,7%; 1,58x). Redução do tempo de E/S: 99,1%.</a:t>
            </a:r>
          </a:p>
          <a:p>
            <a:r>
              <a:t>3) Banda MPI-IO AWS: 57,0 -&gt; 106,0 -&gt; 167,0 -&gt; 274,2 -&gt; 380,3 Gb/s (113,00x em 32). SDumont: 5,5 -&gt; 34,1 Gb/s (13,7x). Monotônica nos dois: o teto do armazenamento não foi atingido.</a:t>
            </a:r>
          </a:p>
          <a:p>
            <a:r>
              <a:t>4) SDumont: pequeno sobrecusto em 2 e 4 nós (1,9% e 0,5%), ganho a partir de 8 nós (0,3%, 19,5% e 40,4%). Redução do tempo de E/S: 96,3%. Lustre COMPARTILHADO, com concorrência de outras cargas — por isso a portabilidade é o resultado mais robusto.</a:t>
            </a:r>
          </a:p>
          <a:p>
            <a:r>
              <a:t>5) OSTs (AWS): 4 -&gt; 10 OSTs amplia a banda ~5,6x em 16 nós e ~23,6x em 32. Mensagem: stripe_count e stripe_size são parâmetro de projeto, não detalhe operacional.</a:t>
            </a:r>
          </a:p>
          <a:p>
            <a:r>
              <a:t>6) Eficiência em 32 nós: 43,5% (AWS) e 41,4% (SDumont). É strong scaling: problema fixo, cada rank resolve menos cenários, custos ~constantes de computação (acesso à memória) deixam de ser amortizados — gargalo COMPUTACIONAL, distinto do de E/S. MPI_File_open/close: 42 s em 2 nós -&gt; 147 s em 32; uma chamada por execução, independe do número de cenários e estágios; a fração de 11,6% está inflada porque o teste tem só 3 estágios mensais.</a:t>
            </a:r>
          </a:p>
          <a:p>
            <a:endParaRPr/>
          </a:p>
          <a:p>
            <a:r>
              <a:t>SE PERGUNTAREM 'e em 2 e 4 nós?': a atual é competitiva ou melhor (na AWS, -6,3% em 4 nós) porque o escritor ainda não saturou e o custo fixo da MPI-IO pesa. O ganho é de escala — e é justamente onde o problema real vive.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Extraído do Capítulo 6. Manter curto: a banca lê o slide. Ordem proposta: primeiro o que refina a solução entregue, depois o que a estende.</a:t>
            </a:r>
          </a:p>
          <a:p>
            <a:endParaRPr/>
          </a:p>
          <a:p>
            <a:r>
              <a:t>1) Dos 117 arquivos de resultado, 104 são horários e 13 diários; os diários respondem por TODAS as escritas de blocos muito pequenos, porque a aplicação não agrupa os dias (nos horários ela agrupa as 720 horas em uma escrita). A escrita assíncrona mitiga em parte, mas a frequência de requisições pequenas ao Lustre permanece.</a:t>
            </a:r>
          </a:p>
          <a:p>
            <a:r>
              <a:t>2) Liao et al. (2007): bufferização em dois estágios alinhada ao particionamento do sistema de arquivos melhora escritas pequenas e desalinhadas. Objetivo: uma submissão MPI-IO por stripe, logo um OST por requisição, reduzindo contenção entre ranks sobre o mesmo OST.</a:t>
            </a:r>
          </a:p>
          <a:p>
            <a:r>
              <a:t>3) O limiar síncrono/assíncrono adotado é parâmetro de projeto, não medida — daí a proposta de varrer 64/128/256 KB. Cuidado: alinhar com o valor citado nos slides 5, 9 e 13.</a:t>
            </a:r>
          </a:p>
          <a:p>
            <a:r>
              <a:t>4) ESTE É O ITEM DE DEFESA para 'por que não escrita coletiva?'. Tentativas preliminares deram deadlock, atribuído a múltiplas escritas por cenário combinadas ao desalinhamento do número de cenários por rank no bag-of-tasks. Viabilizar exigiria sincronização que reconcilie distribuição dinâmica de tarefas com a semântica coletiva.</a:t>
            </a:r>
          </a:p>
          <a:p>
            <a:r>
              <a:t>5) Redes: EFA/InfiniBand para ver até que ponto a rede deixa de limitar e como escala o custo da coordenação MPI-IO em baixa latência. Escala: acima de 32 nós podem aparecer saturação de metadados e efeitos de coordenação coletiva.</a:t>
            </a:r>
          </a:p>
          <a:p>
            <a:r>
              <a:t>6) Fase de geração de cortes: padrão de comunicação e sincronização diferente do da simulação final. Gargalo computacional: profiling da hierarquia de memória, para separar efeitos de computação e de E/S na eficiência paralela.</a:t>
            </a:r>
          </a:p>
          <a:p>
            <a:endParaRPr/>
          </a:p>
          <a:p>
            <a:r>
              <a:t>SE PERGUNTAREM POR WEAK SCALING: o estudo é deliberadamente strong scaling (caso fixo, nós variáveis), porque a pergunta de negócio é 'o mesmo PMO roda mais rápido com mais nós?'. Weak scaling entra aqui, como continuidade.</a:t>
            </a:r>
          </a:p>
          <a:p>
            <a:endParaRPr/>
          </a:p>
          <a:p>
            <a:r>
              <a:t>Limitação operacional, se perguntarem: a disponibilidade de instâncias r7i.12xlarge na AWS restringiu a janela de experimentação.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Roteiro (docx): 'tempo de bloqueio dos blocos'.</a:t>
            </a:r>
          </a:p>
          <a:p>
            <a:r>
              <a:t>Aqui aparece a transição eager/rendezvous. CONFERIR o ponto de quebra — sua conclusão diz que não era 64 KB nem 128 KB.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Fecha a caracterização no segundo ambiente.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457BF1E-E00D-41BD-0BAE-6695FD6698A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1591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80000"/>
                </a:schemeClr>
              </a:gs>
              <a:gs pos="9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52571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2571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9312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5802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rry image of a city&#10;&#10;Description automatically generated">
            <a:extLst>
              <a:ext uri="{FF2B5EF4-FFF2-40B4-BE49-F238E27FC236}">
                <a16:creationId xmlns:a16="http://schemas.microsoft.com/office/drawing/2014/main" id="{31CFD4B2-973C-060A-E56B-83D8A8EE66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5" b="528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80000"/>
                </a:schemeClr>
              </a:gs>
              <a:gs pos="9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52571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2571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9312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5890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ue planet with dots and lines around it&#10;&#10;Description automatically generated">
            <a:extLst>
              <a:ext uri="{FF2B5EF4-FFF2-40B4-BE49-F238E27FC236}">
                <a16:creationId xmlns:a16="http://schemas.microsoft.com/office/drawing/2014/main" id="{958B62DD-8E16-DC56-4C9F-2777F961F9E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987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65000"/>
                </a:schemeClr>
              </a:gs>
              <a:gs pos="91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6686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6686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6686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6930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FE72562-197E-A924-C206-7921BAEDB72F}"/>
              </a:ext>
            </a:extLst>
          </p:cNvPr>
          <p:cNvSpPr/>
          <p:nvPr userDrawn="1"/>
        </p:nvSpPr>
        <p:spPr>
          <a:xfrm>
            <a:off x="1" y="911225"/>
            <a:ext cx="7305674" cy="74114"/>
          </a:xfrm>
          <a:prstGeom prst="rect">
            <a:avLst/>
          </a:prstGeom>
          <a:solidFill>
            <a:srgbClr val="6B9EA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5" name="Picture 34" descr="Power lines of power lines in a field&#10;&#10;Description automatically generated">
            <a:extLst>
              <a:ext uri="{FF2B5EF4-FFF2-40B4-BE49-F238E27FC236}">
                <a16:creationId xmlns:a16="http://schemas.microsoft.com/office/drawing/2014/main" id="{57C0443E-A5A6-2ED1-BA0D-572A454EBD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prstClr val="black"/>
              <a:srgbClr val="4C787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201"/>
          <a:stretch/>
        </p:blipFill>
        <p:spPr>
          <a:xfrm>
            <a:off x="403945" y="0"/>
            <a:ext cx="3413559" cy="6356282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470191A-5A8B-4695-6507-590C268098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75100" y="223647"/>
            <a:ext cx="6896100" cy="590931"/>
          </a:xfrm>
          <a:noFill/>
        </p:spPr>
        <p:txBody>
          <a:bodyPr wrap="square" rtlCol="0">
            <a:spAutoFit/>
          </a:bodyPr>
          <a:lstStyle>
            <a:lvl1pPr>
              <a:defRPr lang="en-US" sz="3600" b="1" smtClean="0">
                <a:solidFill>
                  <a:srgbClr val="16294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US" sz="18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116014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FE72562-197E-A924-C206-7921BAEDB72F}"/>
              </a:ext>
            </a:extLst>
          </p:cNvPr>
          <p:cNvSpPr/>
          <p:nvPr userDrawn="1"/>
        </p:nvSpPr>
        <p:spPr>
          <a:xfrm>
            <a:off x="1" y="911225"/>
            <a:ext cx="7305674" cy="74114"/>
          </a:xfrm>
          <a:prstGeom prst="rect">
            <a:avLst/>
          </a:prstGeom>
          <a:solidFill>
            <a:srgbClr val="6B9EA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470191A-5A8B-4695-6507-590C268098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75100" y="223647"/>
            <a:ext cx="6896100" cy="590931"/>
          </a:xfrm>
          <a:noFill/>
        </p:spPr>
        <p:txBody>
          <a:bodyPr wrap="square" rtlCol="0">
            <a:spAutoFit/>
          </a:bodyPr>
          <a:lstStyle>
            <a:lvl1pPr>
              <a:defRPr lang="en-US" sz="3600" b="1" smtClean="0">
                <a:solidFill>
                  <a:srgbClr val="16294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US" sz="18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4" name="Picture 3" descr="A large dam with a body of water&#10;&#10;Description automatically generated">
            <a:extLst>
              <a:ext uri="{FF2B5EF4-FFF2-40B4-BE49-F238E27FC236}">
                <a16:creationId xmlns:a16="http://schemas.microsoft.com/office/drawing/2014/main" id="{EB91D891-362D-C60A-7419-BAD5F90A71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rgbClr val="4C787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776"/>
          <a:stretch/>
        </p:blipFill>
        <p:spPr>
          <a:xfrm>
            <a:off x="395067" y="0"/>
            <a:ext cx="3413558" cy="6356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9245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de seção">
    <p:bg>
      <p:bgPr>
        <a:gradFill>
          <a:gsLst>
            <a:gs pos="77000">
              <a:schemeClr val="accent4"/>
            </a:gs>
            <a:gs pos="0">
              <a:schemeClr val="accent3"/>
            </a:gs>
          </a:gsLst>
          <a:lin ang="108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A05C712-34F0-AEFE-656C-F81274925D7E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853987003"/>
              </p:ext>
            </p:extLst>
          </p:nvPr>
        </p:nvGraphicFramePr>
        <p:xfrm>
          <a:off x="2755900" y="2434807"/>
          <a:ext cx="7572917" cy="1981130"/>
        </p:xfrm>
        <a:graphic>
          <a:graphicData uri="http://schemas.openxmlformats.org/drawingml/2006/table">
            <a:tbl>
              <a:tblPr firstRow="1" bandRow="1"/>
              <a:tblGrid>
                <a:gridCol w="7572917">
                  <a:extLst>
                    <a:ext uri="{9D8B030D-6E8A-4147-A177-3AD203B41FA5}">
                      <a16:colId xmlns:a16="http://schemas.microsoft.com/office/drawing/2014/main" val="3760559414"/>
                    </a:ext>
                  </a:extLst>
                </a:gridCol>
              </a:tblGrid>
              <a:tr h="19811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180975" algn="l"/>
                      <a:r>
                        <a:rPr lang="en-US" sz="6000" b="1" dirty="0">
                          <a:solidFill>
                            <a:schemeClr val="bg1"/>
                          </a:solidFill>
                          <a:latin typeface="Myriad Pro" panose="020B05030304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  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6848749"/>
                  </a:ext>
                </a:extLst>
              </a:tr>
            </a:tbl>
          </a:graphicData>
        </a:graphic>
      </p:graphicFrame>
      <p:sp>
        <p:nvSpPr>
          <p:cNvPr id="9" name="Frame 8">
            <a:extLst>
              <a:ext uri="{FF2B5EF4-FFF2-40B4-BE49-F238E27FC236}">
                <a16:creationId xmlns:a16="http://schemas.microsoft.com/office/drawing/2014/main" id="{708860BE-0D82-90A3-D798-5AAD19D9DE6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25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5ED83F4-1D7E-5FA8-D1AF-4C1E9B9CDC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34169" y="2434807"/>
            <a:ext cx="8214405" cy="1981130"/>
          </a:xfrm>
        </p:spPr>
        <p:txBody>
          <a:bodyPr anchor="ctr" anchorCtr="0"/>
          <a:lstStyle>
            <a:lvl1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189474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apa de seçã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5ED83F4-1D7E-5FA8-D1AF-4C1E9B9CDC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88797" y="3895307"/>
            <a:ext cx="8214405" cy="1981130"/>
          </a:xfrm>
        </p:spPr>
        <p:txBody>
          <a:bodyPr anchor="ctr" anchorCtr="0"/>
          <a:lstStyle>
            <a:lvl1pPr>
              <a:defRPr lang="en-US" sz="6000" b="1" kern="1200" dirty="0" smtClean="0">
                <a:solidFill>
                  <a:schemeClr val="accent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A05A453-2699-6656-2048-D2C1283E511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6070" y="3895307"/>
            <a:ext cx="1321930" cy="1981130"/>
          </a:xfrm>
        </p:spPr>
        <p:txBody>
          <a:bodyPr anchor="ctr" anchorCtr="0"/>
          <a:lstStyle>
            <a:lvl1pPr algn="r">
              <a:defRPr lang="en-US" sz="6000" b="1" kern="1200" dirty="0" smtClean="0">
                <a:solidFill>
                  <a:schemeClr val="accent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35366C-8099-C19E-E4C2-45EB79FBD743}"/>
              </a:ext>
            </a:extLst>
          </p:cNvPr>
          <p:cNvSpPr/>
          <p:nvPr userDrawn="1"/>
        </p:nvSpPr>
        <p:spPr>
          <a:xfrm>
            <a:off x="-1130" y="6616700"/>
            <a:ext cx="12193130" cy="241300"/>
          </a:xfrm>
          <a:prstGeom prst="rect">
            <a:avLst/>
          </a:prstGeom>
          <a:gradFill>
            <a:gsLst>
              <a:gs pos="78000">
                <a:schemeClr val="accent4"/>
              </a:gs>
              <a:gs pos="0">
                <a:schemeClr val="accent3">
                  <a:lumMod val="40000"/>
                  <a:lumOff val="60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ue letter on a black background&#10;&#10;Description automatically generated">
            <a:extLst>
              <a:ext uri="{FF2B5EF4-FFF2-40B4-BE49-F238E27FC236}">
                <a16:creationId xmlns:a16="http://schemas.microsoft.com/office/drawing/2014/main" id="{2081CC8A-4433-11D8-26FD-A812D98148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6978" y="564630"/>
            <a:ext cx="722721" cy="300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9650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520A6-6F3D-AFE2-D7A7-9AC424E1C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50" y="303033"/>
            <a:ext cx="11755539" cy="65835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314B89-7FBD-D203-7F94-9A46893D23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751" y="1371601"/>
            <a:ext cx="11755539" cy="4924424"/>
          </a:xfrm>
        </p:spPr>
        <p:txBody>
          <a:bodyPr>
            <a:normAutofit/>
          </a:bodyPr>
          <a:lstStyle>
            <a:lvl1pPr>
              <a:defRPr sz="2400"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1800">
                <a:latin typeface="+mn-lt"/>
              </a:defRPr>
            </a:lvl3pPr>
            <a:lvl4pPr>
              <a:defRPr sz="1600">
                <a:latin typeface="+mn-lt"/>
              </a:defRPr>
            </a:lvl4pPr>
            <a:lvl5pPr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B261E-9F25-42CF-5A85-49EE0CBEC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9035" y="6390012"/>
            <a:ext cx="1136254" cy="303722"/>
          </a:xfrm>
        </p:spPr>
        <p:txBody>
          <a:bodyPr/>
          <a:lstStyle>
            <a:lvl1pPr algn="r">
              <a:defRPr/>
            </a:lvl1pPr>
          </a:lstStyle>
          <a:p>
            <a:fld id="{809018B1-3A62-43BC-AB0B-949CA5A722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7EA7C8-EE9A-D73C-8D18-39C4BDF52D43}"/>
              </a:ext>
            </a:extLst>
          </p:cNvPr>
          <p:cNvSpPr txBox="1"/>
          <p:nvPr userDrawn="1"/>
        </p:nvSpPr>
        <p:spPr>
          <a:xfrm>
            <a:off x="3048000" y="6451028"/>
            <a:ext cx="6096000" cy="2769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lvl="0"/>
            <a:r>
              <a:rPr lang="en-US" dirty="0"/>
              <a:t>© PSR</a:t>
            </a:r>
          </a:p>
        </p:txBody>
      </p:sp>
      <p:pic>
        <p:nvPicPr>
          <p:cNvPr id="11" name="Picture 10" descr="A triangle with lines and dots&#10;&#10;Description automatically generated">
            <a:extLst>
              <a:ext uri="{FF2B5EF4-FFF2-40B4-BE49-F238E27FC236}">
                <a16:creationId xmlns:a16="http://schemas.microsoft.com/office/drawing/2014/main" id="{31F7C503-C8B3-7F85-B2F3-5714E158FA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750" y="6396923"/>
            <a:ext cx="612390" cy="296811"/>
          </a:xfrm>
          <a:prstGeom prst="rect">
            <a:avLst/>
          </a:prstGeom>
        </p:spPr>
      </p:pic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9150549-795D-B3C4-C4E4-49CAECFBB7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0023" y="850900"/>
            <a:ext cx="11792225" cy="520701"/>
          </a:xfrm>
        </p:spPr>
        <p:txBody>
          <a:bodyPr>
            <a:normAutofit/>
          </a:bodyPr>
          <a:lstStyle>
            <a:lvl1pPr>
              <a:defRPr lang="en-US" sz="2400" b="0" kern="1200" dirty="0" smtClean="0">
                <a:solidFill>
                  <a:schemeClr val="accent6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60812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FA7EAE-3CA9-C039-B807-5601345FB6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99751" y="63341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</a:lstStyle>
          <a:p>
            <a:fld id="{809018B1-3A62-43BC-AB0B-949CA5A722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D8258D-C1B7-2CD5-8D3B-1EAEB6E38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50" y="176033"/>
            <a:ext cx="11755539" cy="658359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B2D668-DCF3-5A87-BE4C-6D7D176F7C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9751" y="1027182"/>
            <a:ext cx="11755539" cy="5149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20453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1" r:id="rId2"/>
    <p:sldLayoutId id="2147483672" r:id="rId3"/>
    <p:sldLayoutId id="2147483663" r:id="rId4"/>
    <p:sldLayoutId id="2147483675" r:id="rId5"/>
    <p:sldLayoutId id="2147483662" r:id="rId6"/>
    <p:sldLayoutId id="2147483673" r:id="rId7"/>
    <p:sldLayoutId id="2147483650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3600" b="1" kern="1200" smtClean="0">
          <a:solidFill>
            <a:srgbClr val="20324C"/>
          </a:solidFill>
          <a:latin typeface="Myriad Pro" panose="020B0503030403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96686" y="879175"/>
            <a:ext cx="9441724" cy="1643527"/>
          </a:xfrm>
        </p:spPr>
        <p:txBody>
          <a:bodyPr/>
          <a:lstStyle/>
          <a:p>
            <a:pPr algn="l"/>
            <a:r>
              <a:rPr lang="pt-BR" sz="2800" b="0" i="0" u="none" strike="noStrike" baseline="0" dirty="0">
                <a:latin typeface="NimbusRomNo9L-Medi"/>
              </a:rPr>
              <a:t>Escalando a E/S do SDDP em Ambientes HPC: da Escrita</a:t>
            </a:r>
            <a:br>
              <a:rPr lang="pt-BR" sz="2800" b="0" i="0" u="none" strike="noStrike" baseline="0" dirty="0">
                <a:latin typeface="NimbusRomNo9L-Medi"/>
              </a:rPr>
            </a:br>
            <a:r>
              <a:rPr lang="pt-BR" sz="2800" b="0" i="0" u="none" strike="noStrike" baseline="0" dirty="0">
                <a:latin typeface="NimbusRomNo9L-Medi"/>
              </a:rPr>
              <a:t>Serializada as Escritas Paralelas com MPI-IO sobre Lustre</a:t>
            </a:r>
            <a:endParaRPr sz="26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96686" y="2437873"/>
            <a:ext cx="6975922" cy="300082"/>
          </a:xfrm>
        </p:spPr>
        <p:txBody>
          <a:bodyPr/>
          <a:lstStyle/>
          <a:p>
            <a:endParaRPr sz="15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696686" y="3004268"/>
            <a:ext cx="6975922" cy="996170"/>
          </a:xfrm>
        </p:spPr>
        <p:txBody>
          <a:bodyPr/>
          <a:lstStyle/>
          <a:p>
            <a:r>
              <a:rPr sz="2800" dirty="0"/>
              <a:t>Marcelo Barros da Cruz </a:t>
            </a:r>
          </a:p>
          <a:p>
            <a:r>
              <a:rPr sz="2800" dirty="0"/>
              <a:t>Agosto de 2026</a:t>
            </a:r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089A2-E5F5-EDD8-46D5-668EBB40C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D30F9-56AB-B43B-3F45-8BDE01AB7D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6686" y="879175"/>
            <a:ext cx="9510304" cy="812530"/>
          </a:xfrm>
        </p:spPr>
        <p:txBody>
          <a:bodyPr/>
          <a:lstStyle/>
          <a:p>
            <a:r>
              <a:rPr sz="2600" dirty="0" err="1"/>
              <a:t>Investigando</a:t>
            </a:r>
            <a:r>
              <a:rPr sz="2600" dirty="0"/>
              <a:t> </a:t>
            </a:r>
            <a:r>
              <a:rPr sz="2600" dirty="0" err="1"/>
              <a:t>Problemas</a:t>
            </a:r>
            <a:r>
              <a:rPr sz="2600" dirty="0"/>
              <a:t> de </a:t>
            </a:r>
            <a:r>
              <a:rPr sz="2600" dirty="0" err="1"/>
              <a:t>Escalabilidade</a:t>
            </a:r>
            <a:r>
              <a:rPr sz="2600" dirty="0"/>
              <a:t> de E/S no </a:t>
            </a:r>
            <a:r>
              <a:rPr sz="2600" dirty="0" err="1"/>
              <a:t>Algoritmo</a:t>
            </a:r>
            <a:r>
              <a:rPr sz="2600" dirty="0"/>
              <a:t> SDDP </a:t>
            </a:r>
            <a:r>
              <a:rPr sz="2600" dirty="0" err="1"/>
              <a:t>em</a:t>
            </a:r>
            <a:r>
              <a:rPr sz="2600" dirty="0"/>
              <a:t> Ambientes HPC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32A12C-AEC2-C372-BCBE-50AA72A7AA5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500"/>
              <a:t>Dissertação de Mestrado — PESC/COPPE/UFRJ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154016-D8CB-9BDF-CD65-80114A2C1E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6686" y="3004268"/>
            <a:ext cx="9418864" cy="1110532"/>
          </a:xfrm>
        </p:spPr>
        <p:txBody>
          <a:bodyPr/>
          <a:lstStyle/>
          <a:p>
            <a:r>
              <a:rPr sz="1600" dirty="0"/>
              <a:t>Marcelo Barros da Cruz   |   </a:t>
            </a:r>
            <a:r>
              <a:rPr sz="1600" dirty="0" err="1"/>
              <a:t>Orientador</a:t>
            </a:r>
            <a:r>
              <a:rPr sz="1600" dirty="0"/>
              <a:t>:  </a:t>
            </a:r>
            <a:r>
              <a:rPr lang="en-US" sz="1600" b="0" dirty="0"/>
              <a:t>Diego Leonel Cadette Dutra</a:t>
            </a:r>
            <a:endParaRPr sz="1600" dirty="0"/>
          </a:p>
          <a:p>
            <a:r>
              <a:rPr sz="1600" dirty="0"/>
              <a:t>Banca:  </a:t>
            </a:r>
            <a:r>
              <a:rPr lang="en-US" sz="1600" b="0" dirty="0"/>
              <a:t>Nelson Maculan Filho (PESC/COPPE/UFRJ) e  Mario Veiga Ferraz Pereira (PSR) </a:t>
            </a:r>
            <a:r>
              <a:rPr sz="1600" dirty="0"/>
              <a:t> |   </a:t>
            </a:r>
            <a:r>
              <a:rPr sz="1600" dirty="0" err="1"/>
              <a:t>agosto</a:t>
            </a:r>
            <a:r>
              <a:rPr sz="1600" dirty="0"/>
              <a:t> de 2026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D972E9E-EC8D-6D98-2FBE-167968B1212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8042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supercomputador mais rápido do mundo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1100"/>
              <a:t>LineShine — Centro Nacional de Supercomputação de Shenzhen, China  ·  13,79 milhões de núcleos (LX2 de 304 núcleos a 1,55 GHz)  ·  42,2 MW  ·  TOP500, junho de 2026</a:t>
            </a:r>
          </a:p>
        </p:txBody>
      </p:sp>
      <p:pic>
        <p:nvPicPr>
          <p:cNvPr id="5" name="Picture 4" descr="Linesh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607726"/>
            <a:ext cx="6230435" cy="24921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0407" y="1871601"/>
            <a:ext cx="5054883" cy="402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300" b="0"/>
              <a:t>Caso hipotético: 10.000 cenários × 120 estágios, todos os problemas resolvidos de forma independente (SHOTGUN).</a:t>
            </a:r>
          </a:p>
          <a:p>
            <a:pPr marL="0" indent="0">
              <a:spcBef>
                <a:spcPts val="1000"/>
              </a:spcBef>
              <a:buNone/>
            </a:pPr>
            <a:r>
              <a:rPr sz="1300" b="0"/>
              <a:t>1,2 milhão de tarefas para distribuir em uma máquina de 13,79 milhões de cores.</a:t>
            </a:r>
          </a:p>
          <a:p>
            <a:pPr marL="0" indent="0">
              <a:spcBef>
                <a:spcPts val="1000"/>
              </a:spcBef>
              <a:buNone/>
            </a:pPr>
            <a:endParaRPr sz="1300" b="0"/>
          </a:p>
          <a:p>
            <a:pPr marL="0" indent="0">
              <a:spcBef>
                <a:spcPts val="1000"/>
              </a:spcBef>
              <a:buNone/>
            </a:pPr>
            <a:r>
              <a:rPr sz="2600" b="1">
                <a:solidFill>
                  <a:srgbClr val="2F5893"/>
                </a:solidFill>
              </a:rPr>
              <a:t>O SDDP ganharia escalabilidade?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Introdução e Motivação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Quando a E/S se torna o gargalo de uma aplicação paralela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11601"/>
            <a:ext cx="11755539" cy="19312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sz="1600" dirty="0"/>
              <a:t>Caso de estudo — o SDDP: na simulação final os cenários são independentes (bag-of-tasks) e cada processo grava um bloco contíguo por (estágio, cenário), que a resolução horária amplia em uma ordem de grandeza</a:t>
            </a:r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dirty="0"/>
              <a:t>O HPC oferece as duas peças para esse padrão: o Lustre entrega banda agregada que cresce com o número de OSTs, e a MPI-IO permite que vários processos gravem em offsets distintos de um mesmo arquivo</a:t>
            </a:r>
            <a:endParaRPr lang="en-US" sz="1600" dirty="0"/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sz="1600" dirty="0"/>
              <a:t>Mas essa banda é potencial, não automática: um único rank escritor converte a E/S em comunicação ponto a ponto e a serializa — o limite passa a ser a rede do nó escritor, não o armazenamento</a:t>
            </a:r>
            <a:endParaRPr lang="en-US" sz="1600" dirty="0"/>
          </a:p>
        </p:txBody>
      </p:sp>
      <p:pic>
        <p:nvPicPr>
          <p:cNvPr id="6" name="Picture 5" descr="formato_patamares_vs_hor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937" y="3099920"/>
            <a:ext cx="6985161" cy="162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9749" y="4871218"/>
            <a:ext cx="11755539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700" b="1" dirty="0">
                <a:solidFill>
                  <a:srgbClr val="2F5893"/>
                </a:solidFill>
              </a:rPr>
              <a:t>Por </a:t>
            </a:r>
            <a:r>
              <a:rPr sz="1700" b="1" dirty="0" err="1">
                <a:solidFill>
                  <a:srgbClr val="2F5893"/>
                </a:solidFill>
              </a:rPr>
              <a:t>tarefa</a:t>
            </a:r>
            <a:r>
              <a:rPr sz="1700" b="1" dirty="0">
                <a:solidFill>
                  <a:srgbClr val="2F5893"/>
                </a:solidFill>
              </a:rPr>
              <a:t> (</a:t>
            </a:r>
            <a:r>
              <a:rPr sz="1700" b="1" dirty="0" err="1">
                <a:solidFill>
                  <a:srgbClr val="2F5893"/>
                </a:solidFill>
              </a:rPr>
              <a:t>estágio</a:t>
            </a:r>
            <a:r>
              <a:rPr sz="1700" b="1" dirty="0">
                <a:solidFill>
                  <a:srgbClr val="2F5893"/>
                </a:solidFill>
              </a:rPr>
              <a:t>, </a:t>
            </a:r>
            <a:r>
              <a:rPr sz="1700" b="1" dirty="0" err="1">
                <a:solidFill>
                  <a:srgbClr val="2F5893"/>
                </a:solidFill>
              </a:rPr>
              <a:t>cenário</a:t>
            </a:r>
            <a:r>
              <a:rPr sz="1700" b="1" dirty="0">
                <a:solidFill>
                  <a:srgbClr val="2F5893"/>
                </a:solidFill>
              </a:rPr>
              <a:t>): 3 </a:t>
            </a:r>
            <a:r>
              <a:rPr sz="1700" b="1" dirty="0" err="1">
                <a:solidFill>
                  <a:srgbClr val="2F5893"/>
                </a:solidFill>
              </a:rPr>
              <a:t>registros</a:t>
            </a:r>
            <a:r>
              <a:rPr sz="1700" b="1" dirty="0">
                <a:solidFill>
                  <a:srgbClr val="2F5893"/>
                </a:solidFill>
              </a:rPr>
              <a:t>  →  720 </a:t>
            </a:r>
            <a:r>
              <a:rPr sz="1700" b="1" dirty="0" err="1">
                <a:solidFill>
                  <a:srgbClr val="2F5893"/>
                </a:solidFill>
              </a:rPr>
              <a:t>registros</a:t>
            </a:r>
            <a:r>
              <a:rPr sz="1700" b="1" dirty="0">
                <a:solidFill>
                  <a:srgbClr val="2F5893"/>
                </a:solidFill>
              </a:rPr>
              <a:t>  =  240x </a:t>
            </a:r>
            <a:r>
              <a:rPr sz="1700" b="1" dirty="0" err="1">
                <a:solidFill>
                  <a:srgbClr val="2F5893"/>
                </a:solidFill>
              </a:rPr>
              <a:t>mais</a:t>
            </a:r>
            <a:r>
              <a:rPr sz="1700" b="1" dirty="0">
                <a:solidFill>
                  <a:srgbClr val="2F5893"/>
                </a:solidFill>
              </a:rPr>
              <a:t> dados a </a:t>
            </a:r>
            <a:r>
              <a:rPr sz="1700" b="1" dirty="0" err="1">
                <a:solidFill>
                  <a:srgbClr val="2F5893"/>
                </a:solidFill>
              </a:rPr>
              <a:t>persistir</a:t>
            </a:r>
            <a:endParaRPr sz="1700" b="1" dirty="0">
              <a:solidFill>
                <a:srgbClr val="2F5893"/>
              </a:solidFill>
            </a:endParaRPr>
          </a:p>
          <a:p>
            <a:pPr marL="0" indent="0">
              <a:buNone/>
            </a:pPr>
            <a:r>
              <a:rPr sz="1200" dirty="0"/>
              <a:t>A carga de </a:t>
            </a:r>
            <a:r>
              <a:rPr sz="1200" dirty="0" err="1"/>
              <a:t>computação</a:t>
            </a:r>
            <a:r>
              <a:rPr sz="1200" dirty="0"/>
              <a:t> </a:t>
            </a:r>
            <a:r>
              <a:rPr sz="1200" dirty="0" err="1"/>
              <a:t>por</a:t>
            </a:r>
            <a:r>
              <a:rPr sz="1200" dirty="0"/>
              <a:t> </a:t>
            </a:r>
            <a:r>
              <a:rPr sz="1200" dirty="0" err="1"/>
              <a:t>tarefa</a:t>
            </a:r>
            <a:r>
              <a:rPr sz="1200" dirty="0"/>
              <a:t> </a:t>
            </a:r>
            <a:r>
              <a:rPr sz="1200" dirty="0" err="1"/>
              <a:t>não</a:t>
            </a:r>
            <a:r>
              <a:rPr sz="1200" dirty="0"/>
              <a:t> </a:t>
            </a:r>
            <a:r>
              <a:rPr sz="1200" dirty="0" err="1"/>
              <a:t>muda</a:t>
            </a:r>
            <a:r>
              <a:rPr sz="1200" dirty="0"/>
              <a:t> — </a:t>
            </a:r>
            <a:r>
              <a:rPr sz="1200" dirty="0" err="1"/>
              <a:t>cresce</a:t>
            </a:r>
            <a:r>
              <a:rPr sz="1200" dirty="0"/>
              <a:t> o volume de </a:t>
            </a:r>
            <a:r>
              <a:rPr sz="1200" dirty="0" err="1"/>
              <a:t>saída</a:t>
            </a:r>
            <a:r>
              <a:rPr sz="1200" dirty="0"/>
              <a:t>, e o </a:t>
            </a:r>
            <a:r>
              <a:rPr sz="1200" dirty="0" err="1"/>
              <a:t>gargalo</a:t>
            </a:r>
            <a:r>
              <a:rPr sz="1200" dirty="0"/>
              <a:t> </a:t>
            </a:r>
            <a:r>
              <a:rPr sz="1200" dirty="0" err="1"/>
              <a:t>migra</a:t>
            </a:r>
            <a:r>
              <a:rPr sz="1200" dirty="0"/>
              <a:t> da CPU para a E/S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Objetivo e Contribuições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9751" y="1211601"/>
            <a:ext cx="11755539" cy="1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Objetivo</a:t>
            </a:r>
          </a:p>
          <a:p>
            <a:pPr marL="0" indent="0">
              <a:buNone/>
            </a:pPr>
            <a:r>
              <a:rPr sz="1300"/>
              <a:t>Propor e avaliar uma arquitetura paralela de E/S para o SDDP, baseada em escritas independentes com MPI-IO sobre Lustre, substituindo a estratégia atual com processo escritor único.</a:t>
            </a:r>
          </a:p>
          <a:p>
            <a:pPr marL="0" indent="0">
              <a:spcBef>
                <a:spcPts val="400"/>
              </a:spcBef>
              <a:buNone/>
            </a:pPr>
            <a:r>
              <a:rPr sz="1300"/>
              <a:t>O foco da pesquisa é exclusivamente a </a:t>
            </a:r>
            <a:r>
              <a:rPr sz="1300" b="1">
                <a:solidFill>
                  <a:srgbClr val="2F5893"/>
                </a:solidFill>
              </a:rPr>
              <a:t>escrita dos resultados da simulação final</a:t>
            </a:r>
            <a:r>
              <a:rPr sz="1300"/>
              <a:t> — etapa posterior à convergência da política, em que se acumula o maior volume de dados produzido pela aplicação.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9751" y="2451601"/>
            <a:ext cx="5583881" cy="38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877553"/>
                </a:solidFill>
              </a:rPr>
              <a:t>Fora do escopo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 fase iterativa de geração de cortes — a construção da política — e suas escolhas algorítmicas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Otimizações da computação executada na simulação final: o tempo de resolução de cada cenário é tratado como dado, e apenas a escrita dos resultados é objeto do trabalho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 paralelização das leituras dos dados de entrada, cujo volume é muito inferior ao da escrita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Melhorias no escalonamento de tarefas entre ranks: mantém-se o bag-of-tasks já existente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1409" y="2451601"/>
            <a:ext cx="5583881" cy="38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Contribuições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Diagnóstico dos gargalos da arquitetura atual: o processo escritor único e o limite do adaptador de rede do nó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Arquitetura de E/S paralela com MPI-IO sobre Lustre, com escritas independentes em offsets pré-calculados, preservando o formato dos arquivos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Instrumentação das duas implementações com métricas equivalentes: computação, coordenação MPI, E/S, bloqueio e banda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Avaliação experimental em dois ambientes — AWS com FSx for Lustre e SDumont com Lustre compartilhado — de 2 a 32 nós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Análise da influência do número de OSTs na escalabilidade, com orientações de dimensionamento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MPI e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Do modelo de troca de mensagens à E/S paralela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51601"/>
            <a:ext cx="5701436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MPI — protocolos Eager e Rendezvous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51601"/>
            <a:ext cx="5701436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MPI-IO — escritas independentes e coletivas</a:t>
            </a:r>
          </a:p>
        </p:txBody>
      </p:sp>
      <p:pic>
        <p:nvPicPr>
          <p:cNvPr id="7" name="Picture 6" descr="Eager-and-Rendezvous-Protoco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642935"/>
            <a:ext cx="5701436" cy="2671755"/>
          </a:xfrm>
          <a:prstGeom prst="rect">
            <a:avLst/>
          </a:prstGeom>
        </p:spPr>
      </p:pic>
      <p:pic>
        <p:nvPicPr>
          <p:cNvPr id="8" name="Picture 7" descr="mpiio_independente_vs_coletiv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854" y="3147738"/>
            <a:ext cx="5701436" cy="16621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99751" y="6106025"/>
            <a:ext cx="11755539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buNone/>
            </a:pPr>
            <a:r>
              <a:rPr sz="1000">
                <a:solidFill>
                  <a:srgbClr val="877553"/>
                </a:solidFill>
              </a:rPr>
              <a:t>Capítulo 2 — Figuras 2.1 (esq.) e 2.3 (dir.)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Onde está o paralelismo do sistema de arquivos</a:t>
            </a:r>
          </a:p>
        </p:txBody>
      </p:sp>
      <p:pic>
        <p:nvPicPr>
          <p:cNvPr id="5" name="Picture 4" descr="Lustre_arquite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3530" y="1571601"/>
            <a:ext cx="7267980" cy="452442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atual de E/S do SDDP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Um único processo escritor centraliza todas as gravações</a:t>
            </a:r>
          </a:p>
        </p:txBody>
      </p:sp>
      <p:pic>
        <p:nvPicPr>
          <p:cNvPr id="5" name="Picture 4" descr="SDDP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0944" y="1571601"/>
            <a:ext cx="7413152" cy="452442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proposta com MPI-IO e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3 — Figura 3.1</a:t>
            </a:r>
          </a:p>
        </p:txBody>
      </p:sp>
      <p:pic>
        <p:nvPicPr>
          <p:cNvPr id="5" name="Picture 4" descr="SDDP_architectur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28" y="1371601"/>
            <a:ext cx="9411785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600" b="0" i="0" u="none" strike="noStrike" baseline="0" dirty="0">
                <a:latin typeface="F70"/>
              </a:rPr>
              <a:t>Implementação das escritas paralelas independentes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3 — Código 3.1 (esq.) e Figura 3.4 (dir.)</a:t>
            </a:r>
          </a:p>
        </p:txBody>
      </p:sp>
      <p:sp>
        <p:nvSpPr>
          <p:cNvPr id="30" name="Rotulo 1"/>
          <p:cNvSpPr txBox="1"/>
          <p:nvPr/>
        </p:nvSpPr>
        <p:spPr>
          <a:xfrm>
            <a:off x="201168" y="1170432"/>
            <a:ext cx="6766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Pseudocódigo da escrita independente por rank</a:t>
            </a:r>
          </a:p>
        </p:txBody>
      </p:sp>
      <p:sp>
        <p:nvSpPr>
          <p:cNvPr id="31" name="Rotulo 2"/>
          <p:cNvSpPr txBox="1"/>
          <p:nvPr/>
        </p:nvSpPr>
        <p:spPr>
          <a:xfrm>
            <a:off x="7242048" y="1170432"/>
            <a:ext cx="47457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Formato dos resultados preservado</a:t>
            </a:r>
          </a:p>
        </p:txBody>
      </p:sp>
      <p:pic>
        <p:nvPicPr>
          <p:cNvPr id="38" name="Codigo 3.1" descr="codigo_3_1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1554480"/>
            <a:ext cx="6766560" cy="4155026"/>
          </a:xfrm>
          <a:prstGeom prst="rect">
            <a:avLst/>
          </a:prstGeom>
        </p:spPr>
      </p:pic>
      <p:pic>
        <p:nvPicPr>
          <p:cNvPr id="39" name="Figura 3.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48" y="1764792"/>
            <a:ext cx="4745736" cy="1802575"/>
          </a:xfrm>
          <a:prstGeom prst="rect">
            <a:avLst/>
          </a:prstGeom>
        </p:spPr>
      </p:pic>
      <p:sp>
        <p:nvSpPr>
          <p:cNvPr id="40" name="Ponte"/>
          <p:cNvSpPr txBox="1"/>
          <p:nvPr/>
        </p:nvSpPr>
        <p:spPr>
          <a:xfrm>
            <a:off x="7242048" y="3886200"/>
            <a:ext cx="4745736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5893"/>
                </a:solidFill>
              </a:rPr>
              <a:t>irec = posicaoLogica(estágio, cenário, hora)</a:t>
            </a:r>
          </a:p>
          <a:p>
            <a:r>
              <a:rPr sz="1400" b="1">
                <a:solidFill>
                  <a:srgbClr val="2F5893"/>
                </a:solidFill>
              </a:rPr>
              <a:t>offset = irec × tamRegistro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333333"/>
                </a:solidFill>
              </a:rPr>
              <a:t>A posição de cada registro é função do índice — então cada rank calcula sozinho onde gravar, sem coordenação global e sem escritor central.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Ambientes experimentais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mesma carga, duas infraestruturas</a:t>
            </a:r>
          </a:p>
        </p:txBody>
      </p:sp>
      <p:sp>
        <p:nvSpPr>
          <p:cNvPr id="5" name="Comum"/>
          <p:cNvSpPr txBox="1"/>
          <p:nvPr/>
        </p:nvSpPr>
        <p:spPr>
          <a:xfrm>
            <a:off x="201168" y="1225296"/>
            <a:ext cx="11786616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202020"/>
                </a:solidFill>
              </a:rPr>
              <a:t>Base PMO/PAR de outubro de 2023  ·  1.536 cenários × 3 estágios mensais  ·  24 ranks por nó (1 por núcleo físico; sem hyper-threading, pois cada rank usa mais de 8 GB residentes)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202020"/>
                </a:solidFill>
              </a:rPr>
              <a:t>2 a 32 nós  ·  5 repetições por configuração (média ± desvio padrão)  ·  strong scaling: problema fixo, número de nós variável</a:t>
            </a:r>
          </a:p>
        </p:txBody>
      </p:sp>
      <p:sp>
        <p:nvSpPr>
          <p:cNvPr id="6" name="AWS_tit"/>
          <p:cNvSpPr txBox="1"/>
          <p:nvPr/>
        </p:nvSpPr>
        <p:spPr>
          <a:xfrm>
            <a:off x="201168" y="2212848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F5893"/>
                </a:solidFill>
              </a:rPr>
              <a:t>AWS — nuvem com armazenamento dedicado</a:t>
            </a:r>
          </a:p>
        </p:txBody>
      </p:sp>
      <p:sp>
        <p:nvSpPr>
          <p:cNvPr id="7" name="AWS"/>
          <p:cNvSpPr txBox="1"/>
          <p:nvPr/>
        </p:nvSpPr>
        <p:spPr>
          <a:xfrm>
            <a:off x="201168" y="2651760"/>
            <a:ext cx="5760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Nós: </a:t>
            </a:r>
            <a:r>
              <a:rPr sz="1300">
                <a:solidFill>
                  <a:srgbClr val="202020"/>
                </a:solidFill>
              </a:rPr>
              <a:t>até 32 × r7i.12xlarge (memory-optimized)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CPU: </a:t>
            </a:r>
            <a:r>
              <a:rPr sz="1300">
                <a:solidFill>
                  <a:srgbClr val="202020"/>
                </a:solidFill>
              </a:rPr>
              <a:t>Intel Xeon Sapphire Rapids 8488C, 3,2 GHz — 24 núcleos físicos (48 lógicos)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Memória: </a:t>
            </a:r>
            <a:r>
              <a:rPr sz="1300">
                <a:solidFill>
                  <a:srgbClr val="202020"/>
                </a:solidFill>
              </a:rPr>
              <a:t>384 GB DDR5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Rede: </a:t>
            </a:r>
            <a:r>
              <a:rPr sz="1300">
                <a:solidFill>
                  <a:srgbClr val="202020"/>
                </a:solidFill>
              </a:rPr>
              <a:t>Elastic Network Adapter (Ethernet), até 18,75 Gb/s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Armazenamento: </a:t>
            </a:r>
            <a:r>
              <a:rPr sz="1300">
                <a:solidFill>
                  <a:srgbClr val="202020"/>
                </a:solidFill>
              </a:rPr>
              <a:t>Amazon FSx for Lustre 2.12, 12 TB — 1 MDS (350 GB) + 10 OSTs (1,165 TB cada)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Lustre: </a:t>
            </a:r>
            <a:r>
              <a:rPr sz="1300">
                <a:solidFill>
                  <a:srgbClr val="202020"/>
                </a:solidFill>
              </a:rPr>
              <a:t>stripe_count = 10, stripe_size = 1 MB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MPI: </a:t>
            </a:r>
            <a:r>
              <a:rPr sz="1300">
                <a:solidFill>
                  <a:srgbClr val="202020"/>
                </a:solidFill>
              </a:rPr>
              <a:t>MPICH2 3.2</a:t>
            </a:r>
          </a:p>
        </p:txBody>
      </p:sp>
      <p:sp>
        <p:nvSpPr>
          <p:cNvPr id="8" name="AWS_fecho"/>
          <p:cNvSpPr txBox="1"/>
          <p:nvPr/>
        </p:nvSpPr>
        <p:spPr>
          <a:xfrm>
            <a:off x="201168" y="4818888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8C7A4B"/>
                </a:solidFill>
              </a:rPr>
              <a:t>Armazenamento dedicado ao experimento</a:t>
            </a:r>
          </a:p>
        </p:txBody>
      </p:sp>
      <p:sp>
        <p:nvSpPr>
          <p:cNvPr id="9" name="SDU_tit"/>
          <p:cNvSpPr txBox="1"/>
          <p:nvPr/>
        </p:nvSpPr>
        <p:spPr>
          <a:xfrm>
            <a:off x="6227064" y="2212848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2F5893"/>
                </a:solidFill>
              </a:rPr>
              <a:t>SDumont — supercomputador (LNCC / SINAPAD)</a:t>
            </a:r>
          </a:p>
        </p:txBody>
      </p:sp>
      <p:sp>
        <p:nvSpPr>
          <p:cNvPr id="10" name="SDU"/>
          <p:cNvSpPr txBox="1"/>
          <p:nvPr/>
        </p:nvSpPr>
        <p:spPr>
          <a:xfrm>
            <a:off x="6227064" y="2651760"/>
            <a:ext cx="57607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Nós: </a:t>
            </a:r>
            <a:r>
              <a:rPr sz="1300">
                <a:solidFill>
                  <a:srgbClr val="202020"/>
                </a:solidFill>
              </a:rPr>
              <a:t>até 32 nós de processamento (EVIDEN/ATOS/BULL)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CPU: </a:t>
            </a:r>
            <a:r>
              <a:rPr sz="1300">
                <a:solidFill>
                  <a:srgbClr val="202020"/>
                </a:solidFill>
              </a:rPr>
              <a:t>2 × Intel Xeon Cascade Lake Gold 6252 — 24 núcleos físicos (48 lógicos)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Memória: </a:t>
            </a:r>
            <a:r>
              <a:rPr sz="1300">
                <a:solidFill>
                  <a:srgbClr val="202020"/>
                </a:solidFill>
              </a:rPr>
              <a:t>384 GB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Rede: </a:t>
            </a:r>
            <a:r>
              <a:rPr sz="1300">
                <a:solidFill>
                  <a:srgbClr val="202020"/>
                </a:solidFill>
              </a:rPr>
              <a:t>InfiniBand EDR, 100 Gb/s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Armazenamento: </a:t>
            </a:r>
            <a:r>
              <a:rPr sz="1300">
                <a:solidFill>
                  <a:srgbClr val="202020"/>
                </a:solidFill>
              </a:rPr>
              <a:t>Lustre 2.12 em Cray/HPE ClusterStor L300, 1,1 PB — 1 MDS (1 MDT) + 6 OSS (1 OST cada)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Lustre: </a:t>
            </a:r>
            <a:r>
              <a:rPr sz="1300">
                <a:solidFill>
                  <a:srgbClr val="202020"/>
                </a:solidFill>
              </a:rPr>
              <a:t>stripe_count = 6, stripe_size = 1 MB</a:t>
            </a:r>
          </a:p>
          <a:p>
            <a:pPr marL="285750" indent="-285750">
              <a:spcBef>
                <a:spcPts val="200"/>
              </a:spcBef>
              <a:buFont typeface="Wingdings" pitchFamily="2" charset="2"/>
              <a:buChar char="§"/>
            </a:pPr>
            <a:r>
              <a:rPr sz="1300" b="1">
                <a:solidFill>
                  <a:srgbClr val="202020"/>
                </a:solidFill>
              </a:rPr>
              <a:t>MPI: </a:t>
            </a:r>
            <a:r>
              <a:rPr sz="1300">
                <a:solidFill>
                  <a:srgbClr val="202020"/>
                </a:solidFill>
              </a:rPr>
              <a:t>MPICH2 3.2</a:t>
            </a:r>
          </a:p>
        </p:txBody>
      </p:sp>
      <p:sp>
        <p:nvSpPr>
          <p:cNvPr id="11" name="SDU_fecho"/>
          <p:cNvSpPr txBox="1"/>
          <p:nvPr/>
        </p:nvSpPr>
        <p:spPr>
          <a:xfrm>
            <a:off x="6227064" y="4818888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8C7A4B"/>
                </a:solidFill>
              </a:rPr>
              <a:t>Armazenamento compartilhado com outros jobs de HPC</a:t>
            </a:r>
          </a:p>
        </p:txBody>
      </p:sp>
      <p:sp>
        <p:nvSpPr>
          <p:cNvPr id="12" name="Contrastes"/>
          <p:cNvSpPr txBox="1"/>
          <p:nvPr/>
        </p:nvSpPr>
        <p:spPr>
          <a:xfrm>
            <a:off x="201168" y="5440680"/>
            <a:ext cx="1178661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2F5893"/>
                </a:solidFill>
              </a:rPr>
              <a:t>Três diferenças de infraestrutura, com a mesma carga:</a:t>
            </a:r>
            <a:r>
              <a:rPr sz="1350">
                <a:solidFill>
                  <a:srgbClr val="202020"/>
                </a:solidFill>
              </a:rPr>
              <a:t>  rede (18,75 Gb/s Ethernet × 100 Gb/s InfiniBand)  ·  OSTs (10 × 6)  ·  armazenamento dedicado × compartilhado</a:t>
            </a:r>
          </a:p>
          <a:p>
            <a:pPr>
              <a:spcBef>
                <a:spcPts val="500"/>
              </a:spcBef>
            </a:pPr>
            <a:r>
              <a:rPr sz="1300">
                <a:solidFill>
                  <a:srgbClr val="202020"/>
                </a:solidFill>
              </a:rPr>
              <a:t>Manter a carga fixa e variar apenas a infraestrutura é o que permite separar efeito de arquitetura de efeito de plataforma.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Caracterização do perfil de E/S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Figuras 4.1 (esq.) e 4.2 (dir.)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Número de escritas por faixa de tamanho de bloco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Volume gravado por faixa de tamanho de bloco</a:t>
            </a:r>
          </a:p>
        </p:txBody>
      </p:sp>
      <p:pic>
        <p:nvPicPr>
          <p:cNvPr id="7" name="Picture 6" descr="escrita_frequencia_por_blo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592445"/>
            <a:ext cx="5701436" cy="2822735"/>
          </a:xfrm>
          <a:prstGeom prst="rect">
            <a:avLst/>
          </a:prstGeom>
        </p:spPr>
      </p:pic>
      <p:pic>
        <p:nvPicPr>
          <p:cNvPr id="8" name="Picture 7" descr="escrita_volume_por_blo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854" y="2590696"/>
            <a:ext cx="5701436" cy="282623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Banda agregada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4.3</a:t>
            </a:r>
          </a:p>
        </p:txBody>
      </p:sp>
      <p:pic>
        <p:nvPicPr>
          <p:cNvPr id="5" name="Picture 4" descr="Banda_AWS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  <p:pic>
        <p:nvPicPr>
          <p:cNvPr id="6" name="MPI-IO (animar)" descr="Banda_AWS_over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execução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4.4</a:t>
            </a:r>
          </a:p>
        </p:txBody>
      </p:sp>
      <p:pic>
        <p:nvPicPr>
          <p:cNvPr id="5" name="Picture 4" descr="T_AWS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  <p:pic>
        <p:nvPicPr>
          <p:cNvPr id="6" name="MPI-IO (animar)" descr="T_AWS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— implementação atual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1168" y="1572768"/>
          <a:ext cx="11786612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Nós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Eficiência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60,51 ± 5,20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30,85 ± 13,23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0,34%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177,51 ± 29,73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8.971,23 ± 348,60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51,28 ± 2,82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78,23 ± 27,79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1,62%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212,76 ± 19,33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4.823,20 ± 53,08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1,86×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93,0%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18,94 ± 3,76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201,67 ± 53,32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7,64%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174,04 ± 12,90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2.639,18 ± 18,34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85,0%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4,52 ± 0,33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527,94 ± 53,07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28,18%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167,77 ± 7,07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1.873,56 ± 56,94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4,79×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59,9%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3,37 ± 0,10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996,57 ± 166,98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49,51%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304,96 ± 3,83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2.013,06 ± 29,10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4,46×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27,9%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— implementação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Nós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open/close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Eficiência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57,04 ± 8,47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18,98 ± 5,55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0,21%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188,24 ± 25,66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42,48 ± 7,69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8.858,91 ± 111,44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106,04 ± 19,42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12,79 ± 3,50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0,25%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233,70 ± 24,23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51,23 ± 15,15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5.127,24 ± 107,53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1,73×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86,4%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167,03 ± 40,19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10,75 ± 6,25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0,41%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185,30 ± 19,97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69,82 ± 4,68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2.599,75 ± 37,14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3,41×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85,2%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274,24 ± 15,33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7,47 ± 1,78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0,48%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233,71 ± 5,14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83,53 ± 4,16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1.558,33 ± 9,39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5,68×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71,1%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380,30 ± 30,65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8,96 ± 2,46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0,70%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235,99 ± 9,30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147,26 ± 7,32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1.274,25 ± 23,90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6,95×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43,5%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AWS — comparativo atual ×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Nós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Total atual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Total MPI-IO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Melhoria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no total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Banda atual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Banda MPI-IO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Ganho de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banda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E/S atual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E/S MPI-IO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Melhoria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8.971,23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8.858,91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60,51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57,04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0,94×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30,85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18,98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38,5%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4.823,20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5.127,24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−6,3%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51,28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106,04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2,07×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78,23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12,79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83,7%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2.639,18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2.599,75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1,5%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18,94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167,03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8,82×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201,67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10,75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94,7%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1.873,56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1.558,33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16,8%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4,52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274,24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60,66×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527,94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7,47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98,6%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2.013,06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1.274,25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36,7%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3,37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380,30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113,00×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996,57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8,96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99,1%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Melhoria calculada sobre a implementação atual; valores negativos indicam piora  ·  E/S = tempo médio de E/S por processo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Efeito do número de OSTs no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Figuras 4.7 (esq.) e 4.6 (dir.)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Banda agregada média percebida pela aplicação</a:t>
            </a:r>
          </a:p>
        </p:txBody>
      </p:sp>
      <p:pic>
        <p:nvPicPr>
          <p:cNvPr id="7" name="Picture 6" descr="Experimento_OSTs_ba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1380" y="1641601"/>
            <a:ext cx="7766959" cy="48174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Banda agregada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4.8</a:t>
            </a:r>
          </a:p>
        </p:txBody>
      </p:sp>
      <p:pic>
        <p:nvPicPr>
          <p:cNvPr id="5" name="Picture 4" descr="B_SDU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  <p:pic>
        <p:nvPicPr>
          <p:cNvPr id="6" name="MPI-IO (animar)" descr="B_SDU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execução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4.9</a:t>
            </a:r>
          </a:p>
        </p:txBody>
      </p:sp>
      <p:pic>
        <p:nvPicPr>
          <p:cNvPr id="5" name="Picture 4" descr="T_SDU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  <p:pic>
        <p:nvPicPr>
          <p:cNvPr id="6" name="MPI-IO (animar)" descr="T_SDU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SDumont — implementação atual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1168" y="1572768"/>
          <a:ext cx="11786612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6028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Nós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Eficiência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27,86 ± 7,06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79,26 ± 32,75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0,55%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383,25 ± 28,01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14.523,52 ± 24,32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24,76 ± 6,73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123,16 ± 49,49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1,59%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370,35 ± 20,95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7.758,10 ± 27,99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1,87×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93,6%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23,87 ± 4,84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210,86 ± 79,43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4,94%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383,38 ± 22,87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4.265,40 ± 62,72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85,1%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4,19 ± 0,30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795,68 ± 87,70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25,42%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389,72 ± 6,26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3.129,98 ± 73,39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4,64×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58,0%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2,49 ± 0,49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1.715,81 ± 259,79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45,83%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544,71 ± 38,00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3.743,71 ± 249,11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3,88×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24,2%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SDumont — implementação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024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Nós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Banda percebida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% E/S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Comunicação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open/close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Speedup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Eficiência</a:t>
                      </a:r>
                    </a:p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(%)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5,55 ± 0,37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321,24 ± 85,21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2,17%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352,81 ± 8,60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23,24 ± 3,03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14.796,47 ± 46,32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1,00×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8,89 ± 0,97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271,52 ± 50,04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3,48%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231,00 ± 12,85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32,27 ± 1,60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7.800,23 ± 93,32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1,90×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94,8%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12,09 ± 1,51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194,71 ± 34,40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4,58%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222,57 ± 7,89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79,31 ± 21,88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4.251,01 ± 141,68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3,48×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87,0%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18,85 ± 1,19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100,92 ± 21,10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4,01%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281,28 ± 18,34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126,49 ± 28,31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2.519,43 ± 100,75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5,87×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73,4%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34,10 ± 5,36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64,06 ± 26,99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2,87%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357,72 ± 22,32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230,03 ± 8,88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2.232,82 ± 86,57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6,63×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02020"/>
                          </a:solidFill>
                        </a:rPr>
                        <a:t>41,4%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Média ± desvio padrão de 5 repetições  ·  1.536 cenários × 3 estágios  ·  24 ranks por nó  ·  eficiência relativa à base de 2 nós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SDumont — comparativo atual ×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Tabela 4.6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1168" y="1572768"/>
          <a:ext cx="11786616" cy="33832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24663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Nós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Total atual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Total MPI-IO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Melhoria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no total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Banda atual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Banda MPI-IO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(Gb/s)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Ganho de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banda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E/S atual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E/S MPI-IO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(s)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Melhoria</a:t>
                      </a:r>
                    </a:p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E/S</a:t>
                      </a:r>
                    </a:p>
                  </a:txBody>
                  <a:tcPr marL="36576" marR="36576" marT="27432" marB="27432">
                    <a:solidFill>
                      <a:srgbClr val="2F5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14.523,52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14.796,47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−1,9%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27,86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5,55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0,20×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79,26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321,24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−305,3%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4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7.758,10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7.800,23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−0,5%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24,76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8,89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0,36×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123,16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271,52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−120,5%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8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4.265,40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4.251,01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23,87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12,09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0,51×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210,86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194,71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7,7%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16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3.129,98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2.519,43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19,5%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4,19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18,85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4,50×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795,68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100,92</a:t>
                      </a:r>
                    </a:p>
                  </a:txBody>
                  <a:tcPr marL="36576" marR="36576" marT="27432" marB="27432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87,3%</a:t>
                      </a:r>
                    </a:p>
                  </a:txBody>
                  <a:tcPr marL="36576" marR="36576" marT="27432" marB="27432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F5893"/>
                          </a:solidFill>
                        </a:rPr>
                        <a:t>32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3.743,71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2.232,82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40,4%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2,49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34,10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13,70×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1.715,81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64,06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02020"/>
                          </a:solidFill>
                        </a:rPr>
                        <a:t>96,3%</a:t>
                      </a:r>
                    </a:p>
                  </a:txBody>
                  <a:tcPr marL="36576" marR="36576" marT="27432" marB="27432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Legenda"/>
          <p:cNvSpPr txBox="1"/>
          <p:nvPr/>
        </p:nvSpPr>
        <p:spPr>
          <a:xfrm>
            <a:off x="201168" y="5257800"/>
            <a:ext cx="1178661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A5A5A"/>
                </a:solidFill>
              </a:rPr>
              <a:t>Melhoria calculada sobre a implementação atual; valores negativos indicam piora  ·  E/S = tempo médio de E/S por processo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Trabalhos relacionados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5 — onde este trabalho se posiciona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1168" y="1280160"/>
          <a:ext cx="11786616" cy="44622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714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Trabalho</a:t>
                      </a:r>
                    </a:p>
                  </a:txBody>
                  <a:tcPr marL="82296" marR="82296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mostra</a:t>
                      </a:r>
                    </a:p>
                  </a:txBody>
                  <a:tcPr marL="82296" marR="82296">
                    <a:solidFill>
                      <a:srgbClr val="2F589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Onde este trabalho se posiciona</a:t>
                      </a:r>
                    </a:p>
                  </a:txBody>
                  <a:tcPr marL="82296" marR="82296">
                    <a:solidFill>
                      <a:srgbClr val="2F58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2F5893"/>
                          </a:solidFill>
                        </a:rPr>
                        <a:t>Dickens &amp; Logan (2008)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Towards an Understanding of the Performance of MPI-IO in Lustre File Systems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02020"/>
                          </a:solidFill>
                        </a:rPr>
                        <a:t>Introduziu o uso de MPI-IO sobre o Lustre em ambiente HPC, caracterizando o desempenho dessa combinação.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202020"/>
                          </a:solidFill>
                        </a:rPr>
                        <a:t>Mesmo conjunto de ferramentas deste trabalho — MPI-IO sobre Lustre —, o que torna o SDDP um novo caso de uso dessa mesma pilha.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F5893"/>
                          </a:solidFill>
                        </a:rPr>
                        <a:t>Liao et al. (2007)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Improving MPI Independent Write Performance Using a Two-Stage Write-Behind Buffering Method</a:t>
                      </a:r>
                    </a:p>
                  </a:txBody>
                  <a:tcPr marL="82296" marR="82296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Escritas independentes menores que uma stripe forçam múltiplos locks. Dois estágios: buffers locais por destino (agregam a rede) e buffers globais com páginas do tamanho da stripe (alinham a E/S). A independente chega a superar a coletiva.</a:t>
                      </a:r>
                    </a:p>
                  </a:txBody>
                  <a:tcPr marL="82296" marR="82296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O 1º estágio já existe aqui de outra forma: cada rank agrega as 720 horas de um par (estágio, cenário) num bloco contíguo. O 2º — alinhamento sistemático à stripe — não foi adotado: parte das escritas alinha incidentalmente à stripe de 1 MB.</a:t>
                      </a:r>
                    </a:p>
                  </a:txBody>
                  <a:tcPr marL="82296" marR="82296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16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F5893"/>
                          </a:solidFill>
                        </a:rPr>
                        <a:t>García-Carballeira et al. (2023)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1150" b="0" i="1">
                          <a:solidFill>
                            <a:srgbClr val="202020"/>
                          </a:solidFill>
                        </a:rPr>
                        <a:t>A new Ad-Hoc parallel file system for HPC environments based on Expand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Sistema de arquivos ad-hoc que virtualiza o armazenamento local dos nós num volume efêmero, com o ciclo de vida do job, reduzindo a congestão sobre o sistema de arquivos de backend; sincroniza no stage-in e no stage-out.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02020"/>
                          </a:solidFill>
                        </a:rPr>
                        <a:t>Endereça o teto observado no SDumont, com Lustre compartilhado (34,1 Gb/s contra 380,3 Gb/s no FSx dedicado). Age na camada de armazenamento, enquanto este trabalho age no caminho de escrita da aplicação — são complementares.</a:t>
                      </a:r>
                    </a:p>
                  </a:txBody>
                  <a:tcPr marL="82296" marR="82296"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Fecho"/>
          <p:cNvSpPr txBox="1"/>
          <p:nvPr/>
        </p:nvSpPr>
        <p:spPr>
          <a:xfrm>
            <a:off x="201168" y="5897880"/>
            <a:ext cx="1178661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893"/>
                </a:solidFill>
              </a:rPr>
              <a:t>Os três sustentam a escolha de MPI-IO sobre Lustre: </a:t>
            </a:r>
            <a:r>
              <a:rPr sz="1300">
                <a:solidFill>
                  <a:srgbClr val="333333"/>
                </a:solidFill>
              </a:rPr>
              <a:t>Dickens caracteriza o desempenho dessa pilha, Liao muda a bufferização, García-Carballeira muda a camada de armazenamento — este trabalho muda quem escreve.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Conclusões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Diagnóstico: o escritor único inverte a escalabilidade — na AWS a banda percebida cai de 60,5 para 3,4 Gb/s entre 2 e 32 nós, e o melhor tempo total ocorre em 16 nós, não em 32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Em 32 nós a E/S consome 49,5% do tempo na implementação atual; com escritas independentes em MPI-IO cai para 0,7%, e o tempo total cai 36,7% (2.013 s → 1.274 s)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O contraste é qualitativo, não pontual: a banda da MPI-IO cresce monotonicamente até 380 Gb/s (113×) na AWS e 34 Gb/s (13,7×) no SDumont — o armazenamento ainda não saturou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Portabilidade: o mesmo padrão se repete em nuvem dedicada e em supercomputador compartilhado (40,4% de redução em 32 nós no SDumont) — não é artefato de infraestrutura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Dimensionar o Lustre é parte do ganho: passar de 4 para 10 OSTs amplia a banda agregada 5,6× em 16 nós e 23,6× em 32 nós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Limites assumidos: eficiência de 43,5% em 32 nós (strong scaling, gargalo de computação) e MPI_File_open/close em 11,6% do tempo — custo fixo por execução, não por carga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O que foi demonstrado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Trabalhos futuros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Reorganizar o padrão dos arquivos diários (13 dos 117 arquivos), agrupando o mês em uma escrita por (estágio, cenário) — elimina a parcela residual de requisições pequenas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Bufferização alinhada às stripes do Lustre, para que cada submissão MPI-IO incida sobre exatamente um OST (Liao et al., 2007)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Sensibilidade aos parâmetros de projeto: stripe_size do Lustre e limiar síncrono/assíncrono (64, 128 e 256 KB)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Escrita coletiva (two-phase I/O): tentativas preliminares resultaram em deadlock com o bag-of-tasks — exige reconciliar distribuição dinâmica e semântica coletiva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Redes de baixa latência (InfiniBand HDR/NDR, AWS EFA) e escalas acima de 32 nós, onde pode surgir saturação de metadados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Estender a arquitetura à fase de geração de cortes e diagnosticar o gargalo computacional do regime de strong scaling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Direções de continuidade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bloqueio dos envios por tamanho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4.5</a:t>
            </a:r>
          </a:p>
        </p:txBody>
      </p:sp>
      <p:pic>
        <p:nvPicPr>
          <p:cNvPr id="5" name="Picture 4" descr="EnvioPorTamanho_A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16" y="1371601"/>
            <a:ext cx="6135809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bloqueio dos envios por tamanho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4.10</a:t>
            </a:r>
          </a:p>
        </p:txBody>
      </p:sp>
      <p:pic>
        <p:nvPicPr>
          <p:cNvPr id="5" name="Picture 4" descr="EnvioPorTamanho_SDum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16" y="1371601"/>
            <a:ext cx="6135809" cy="492442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ontent">
  <a:themeElements>
    <a:clrScheme name="PSR">
      <a:dk1>
        <a:srgbClr val="000000"/>
      </a:dk1>
      <a:lt1>
        <a:srgbClr val="FFFFFF"/>
      </a:lt1>
      <a:dk2>
        <a:srgbClr val="20324C"/>
      </a:dk2>
      <a:lt2>
        <a:srgbClr val="D8D8D8"/>
      </a:lt2>
      <a:accent1>
        <a:srgbClr val="162944"/>
      </a:accent1>
      <a:accent2>
        <a:srgbClr val="2F5893"/>
      </a:accent2>
      <a:accent3>
        <a:srgbClr val="6B9EA6"/>
      </a:accent3>
      <a:accent4>
        <a:srgbClr val="4C787F"/>
      </a:accent4>
      <a:accent5>
        <a:srgbClr val="877553"/>
      </a:accent5>
      <a:accent6>
        <a:srgbClr val="AC9A78"/>
      </a:accent6>
      <a:hlink>
        <a:srgbClr val="2F5893"/>
      </a:hlink>
      <a:folHlink>
        <a:srgbClr val="2F5893"/>
      </a:folHlink>
    </a:clrScheme>
    <a:fontScheme name="ELAU PSR 2024">
      <a:majorFont>
        <a:latin typeface="Myriad Pro"/>
        <a:ea typeface=""/>
        <a:cs typeface=""/>
      </a:majorFont>
      <a:minorFont>
        <a:latin typeface="Myriad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24467</TotalTime>
  <Words>9675</Words>
  <Application>Microsoft Office PowerPoint</Application>
  <PresentationFormat>Widescreen</PresentationFormat>
  <Paragraphs>764</Paragraphs>
  <Slides>28</Slides>
  <Notes>28</Notes>
  <HiddenSlides>2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7" baseType="lpstr">
      <vt:lpstr>Aptos</vt:lpstr>
      <vt:lpstr>Arial</vt:lpstr>
      <vt:lpstr>Calibri</vt:lpstr>
      <vt:lpstr>F70</vt:lpstr>
      <vt:lpstr>Myriad Pro</vt:lpstr>
      <vt:lpstr>NimbusRomNo9L-Medi</vt:lpstr>
      <vt:lpstr>Open Sans</vt:lpstr>
      <vt:lpstr>Wingdings</vt:lpstr>
      <vt:lpstr>content</vt:lpstr>
      <vt:lpstr>Escalando a E/S do SDDP em Ambientes HPC: da Escrita Serializada as Escritas Paralelas com MPI-IO sobre Lustre</vt:lpstr>
      <vt:lpstr>Investigando Problemas de Escalabilidade de E/S no Algoritmo SDDP em Ambientes HPC</vt:lpstr>
      <vt:lpstr>O supercomputador mais rápido do mundo</vt:lpstr>
      <vt:lpstr>Introdução e Motivação</vt:lpstr>
      <vt:lpstr>Objetivo e Contribuições</vt:lpstr>
      <vt:lpstr>MPI e MPI-IO</vt:lpstr>
      <vt:lpstr>Lustre</vt:lpstr>
      <vt:lpstr>Arquitetura atual de E/S do SDDP</vt:lpstr>
      <vt:lpstr>Arquitetura proposta com MPI-IO e Lustre</vt:lpstr>
      <vt:lpstr>Implementação das escritas paralelas independentes</vt:lpstr>
      <vt:lpstr>Ambientes experimentais</vt:lpstr>
      <vt:lpstr>Caracterização do perfil de E/S</vt:lpstr>
      <vt:lpstr>Banda agregada — AWS</vt:lpstr>
      <vt:lpstr>Tempo de execução — AWS</vt:lpstr>
      <vt:lpstr>AWS — implementação atual</vt:lpstr>
      <vt:lpstr>AWS — implementação MPI-IO</vt:lpstr>
      <vt:lpstr>AWS — comparativo atual × MPI-IO</vt:lpstr>
      <vt:lpstr>Efeito do número de OSTs no Lustre</vt:lpstr>
      <vt:lpstr>Banda agregada — SDumont</vt:lpstr>
      <vt:lpstr>Tempo de execução — SDumont</vt:lpstr>
      <vt:lpstr>SDumont — implementação atual</vt:lpstr>
      <vt:lpstr>SDumont — implementação MPI-IO</vt:lpstr>
      <vt:lpstr>SDumont — comparativo atual × MPI-IO</vt:lpstr>
      <vt:lpstr>Trabalhos relacionados</vt:lpstr>
      <vt:lpstr>Conclusões</vt:lpstr>
      <vt:lpstr>Trabalhos futuros</vt:lpstr>
      <vt:lpstr>Tempo de bloqueio dos envios por tamanho — AWS</vt:lpstr>
      <vt:lpstr>Tempo de bloqueio dos envios por tamanho — SDumont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Lucas Guerreiro</dc:creator>
  <cp:lastModifiedBy>Marcelo Barros</cp:lastModifiedBy>
  <cp:revision>472</cp:revision>
  <dcterms:created xsi:type="dcterms:W3CDTF">2024-01-10T21:29:53Z</dcterms:created>
  <dcterms:modified xsi:type="dcterms:W3CDTF">2026-08-19T00:45:08Z</dcterms:modified>
</cp:coreProperties>
</file>