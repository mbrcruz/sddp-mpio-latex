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pm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771" r:id="rId2"/>
    <p:sldId id="5770" r:id="rId3"/>
    <p:sldId id="5774" r:id="rId4"/>
    <p:sldId id="5775" r:id="rId5"/>
    <p:sldId id="5791" r:id="rId6"/>
    <p:sldId id="5784" r:id="rId7"/>
    <p:sldId id="5783" r:id="rId8"/>
    <p:sldId id="5785" r:id="rId9"/>
    <p:sldId id="5793" r:id="rId10"/>
    <p:sldId id="5786" r:id="rId11"/>
    <p:sldId id="5798" r:id="rId12"/>
    <p:sldId id="5794" r:id="rId13"/>
    <p:sldId id="5787" r:id="rId14"/>
    <p:sldId id="5795" r:id="rId15"/>
    <p:sldId id="5796" r:id="rId16"/>
    <p:sldId id="5777" r:id="rId17"/>
    <p:sldId id="5780" r:id="rId18"/>
    <p:sldId id="5782" r:id="rId19"/>
    <p:sldId id="5778" r:id="rId20"/>
    <p:sldId id="5779" r:id="rId21"/>
    <p:sldId id="5792" r:id="rId22"/>
    <p:sldId id="5789" r:id="rId23"/>
    <p:sldId id="5790" r:id="rId24"/>
    <p:sldId id="5797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3426E"/>
    <a:srgbClr val="FF7A4F"/>
    <a:srgbClr val="00ADA1"/>
    <a:srgbClr val="990033"/>
    <a:srgbClr val="162944"/>
    <a:srgbClr val="2F5893"/>
    <a:srgbClr val="ACBBD0"/>
    <a:srgbClr val="4D7980"/>
    <a:srgbClr val="3E6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678" autoAdjust="0"/>
  </p:normalViewPr>
  <p:slideViewPr>
    <p:cSldViewPr snapToGrid="0">
      <p:cViewPr varScale="1">
        <p:scale>
          <a:sx n="100" d="100"/>
          <a:sy n="100" d="100"/>
        </p:scale>
        <p:origin x="876" y="9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2A2CF-32D5-4D4E-B710-CC654E292E38}" type="datetimeFigureOut">
              <a:rPr lang="en-US" smtClean="0"/>
              <a:t>3/24/2025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FC1F3-6408-419A-A05A-0888B79047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0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7BF1E-E00D-41BD-0BAE-6695FD669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59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8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ity&#10;&#10;Description automatically generated">
            <a:extLst>
              <a:ext uri="{FF2B5EF4-FFF2-40B4-BE49-F238E27FC236}">
                <a16:creationId xmlns:a16="http://schemas.microsoft.com/office/drawing/2014/main" id="{31CFD4B2-973C-060A-E56B-83D8A8EE6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52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planet with dots and lines around it&#10;&#10;Description automatically generated">
            <a:extLst>
              <a:ext uri="{FF2B5EF4-FFF2-40B4-BE49-F238E27FC236}">
                <a16:creationId xmlns:a16="http://schemas.microsoft.com/office/drawing/2014/main" id="{958B62DD-8E16-DC56-4C9F-2777F961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65000"/>
                </a:schemeClr>
              </a:gs>
              <a:gs pos="91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6686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686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93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 descr="Power lines of power lines in a field&#10;&#10;Description automatically generated">
            <a:extLst>
              <a:ext uri="{FF2B5EF4-FFF2-40B4-BE49-F238E27FC236}">
                <a16:creationId xmlns:a16="http://schemas.microsoft.com/office/drawing/2014/main" id="{57C0443E-A5A6-2ED1-BA0D-572A454EB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1"/>
          <a:stretch/>
        </p:blipFill>
        <p:spPr>
          <a:xfrm>
            <a:off x="403945" y="0"/>
            <a:ext cx="3413559" cy="63562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60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 descr="A large dam with a body of water&#10;&#10;Description automatically generated">
            <a:extLst>
              <a:ext uri="{FF2B5EF4-FFF2-40B4-BE49-F238E27FC236}">
                <a16:creationId xmlns:a16="http://schemas.microsoft.com/office/drawing/2014/main" id="{EB91D891-362D-C60A-7419-BAD5F90A7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76"/>
          <a:stretch/>
        </p:blipFill>
        <p:spPr>
          <a:xfrm>
            <a:off x="395067" y="0"/>
            <a:ext cx="3413558" cy="63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2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">
    <p:bg>
      <p:bgPr>
        <a:gradFill>
          <a:gsLst>
            <a:gs pos="77000">
              <a:schemeClr val="accent4"/>
            </a:gs>
            <a:gs pos="0">
              <a:schemeClr val="accent3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5C712-34F0-AEFE-656C-F81274925D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3987003"/>
              </p:ext>
            </p:extLst>
          </p:nvPr>
        </p:nvGraphicFramePr>
        <p:xfrm>
          <a:off x="2755900" y="2434807"/>
          <a:ext cx="7572917" cy="1981130"/>
        </p:xfrm>
        <a:graphic>
          <a:graphicData uri="http://schemas.openxmlformats.org/drawingml/2006/table">
            <a:tbl>
              <a:tblPr firstRow="1" bandRow="1"/>
              <a:tblGrid>
                <a:gridCol w="7572917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1981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180975" algn="l"/>
                      <a:r>
                        <a:rPr lang="en-US" sz="6000" b="1" dirty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sp>
        <p:nvSpPr>
          <p:cNvPr id="9" name="Frame 8">
            <a:extLst>
              <a:ext uri="{FF2B5EF4-FFF2-40B4-BE49-F238E27FC236}">
                <a16:creationId xmlns:a16="http://schemas.microsoft.com/office/drawing/2014/main" id="{708860BE-0D82-90A3-D798-5AAD19D9DE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4169" y="24348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9474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e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8797" y="38953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accent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A05A453-2699-6656-2048-D2C1283E51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70" y="3895307"/>
            <a:ext cx="1321930" cy="1981130"/>
          </a:xfrm>
        </p:spPr>
        <p:txBody>
          <a:bodyPr anchor="ctr" anchorCtr="0"/>
          <a:lstStyle>
            <a:lvl1pPr algn="r">
              <a:defRPr lang="en-US" sz="6000" b="1" kern="1200" dirty="0" smtClean="0">
                <a:solidFill>
                  <a:schemeClr val="accent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5366C-8099-C19E-E4C2-45EB79FBD743}"/>
              </a:ext>
            </a:extLst>
          </p:cNvPr>
          <p:cNvSpPr/>
          <p:nvPr userDrawn="1"/>
        </p:nvSpPr>
        <p:spPr>
          <a:xfrm>
            <a:off x="-1130" y="6616700"/>
            <a:ext cx="12193130" cy="241300"/>
          </a:xfrm>
          <a:prstGeom prst="rect">
            <a:avLst/>
          </a:prstGeom>
          <a:gradFill>
            <a:gsLst>
              <a:gs pos="78000">
                <a:schemeClr val="accent4"/>
              </a:gs>
              <a:gs pos="0">
                <a:schemeClr val="accent3">
                  <a:lumMod val="40000"/>
                  <a:lumOff val="6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081CC8A-4433-11D8-26FD-A812D98148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78" y="564630"/>
            <a:ext cx="722721" cy="3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6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20A6-6F3D-AFE2-D7A7-9AC424E1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303033"/>
            <a:ext cx="11755539" cy="65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4B89-7FBD-D203-7F94-9A46893D2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51" y="1371601"/>
            <a:ext cx="11755539" cy="4924424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261E-9F25-42CF-5A85-49EE0CB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9035" y="6390012"/>
            <a:ext cx="1136254" cy="303722"/>
          </a:xfrm>
        </p:spPr>
        <p:txBody>
          <a:bodyPr/>
          <a:lstStyle>
            <a:lvl1pPr algn="r">
              <a:defRPr/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EA7C8-EE9A-D73C-8D18-39C4BDF52D43}"/>
              </a:ext>
            </a:extLst>
          </p:cNvPr>
          <p:cNvSpPr txBox="1"/>
          <p:nvPr userDrawn="1"/>
        </p:nvSpPr>
        <p:spPr>
          <a:xfrm>
            <a:off x="3048000" y="6451028"/>
            <a:ext cx="60960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r>
              <a:rPr lang="en-US" dirty="0"/>
              <a:t>© PSR</a:t>
            </a:r>
          </a:p>
        </p:txBody>
      </p:sp>
      <p:pic>
        <p:nvPicPr>
          <p:cNvPr id="11" name="Picture 10" descr="A triangle with lines and dots&#10;&#10;Description automatically generated">
            <a:extLst>
              <a:ext uri="{FF2B5EF4-FFF2-40B4-BE49-F238E27FC236}">
                <a16:creationId xmlns:a16="http://schemas.microsoft.com/office/drawing/2014/main" id="{31F7C503-C8B3-7F85-B2F3-5714E158FA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" y="6396923"/>
            <a:ext cx="612390" cy="2968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9150549-795D-B3C4-C4E4-49CAECFBB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0023" y="850900"/>
            <a:ext cx="11792225" cy="520701"/>
          </a:xfrm>
        </p:spPr>
        <p:txBody>
          <a:bodyPr>
            <a:normAutofit/>
          </a:bodyPr>
          <a:lstStyle>
            <a:lvl1pPr>
              <a:defRPr lang="en-US" sz="2400" b="0" kern="1200" dirty="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08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7EAE-3CA9-C039-B807-5601345FB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9751" y="6334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8258D-C1B7-2CD5-8D3B-1EAEB6E3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176033"/>
            <a:ext cx="11755539" cy="6583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D668-DCF3-5A87-BE4C-6D7D176F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751" y="1027182"/>
            <a:ext cx="11755539" cy="5149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4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2" r:id="rId3"/>
    <p:sldLayoutId id="2147483663" r:id="rId4"/>
    <p:sldLayoutId id="2147483675" r:id="rId5"/>
    <p:sldLayoutId id="2147483662" r:id="rId6"/>
    <p:sldLayoutId id="2147483673" r:id="rId7"/>
    <p:sldLayoutId id="2147483650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 smtClean="0">
          <a:solidFill>
            <a:srgbClr val="20324C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pm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svg"/><Relationship Id="rId2" Type="http://schemas.openxmlformats.org/officeDocument/2006/relationships/hyperlink" Target="https://www.psr-inc.com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C573D-30AC-D162-8C9B-E20630FD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83DBCB-6313-731F-50EC-AA6E8832C5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88E54B4-6190-F9E6-FD36-3F56CC957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5" y="3038761"/>
            <a:ext cx="6975922" cy="1754326"/>
          </a:xfrm>
        </p:spPr>
        <p:txBody>
          <a:bodyPr/>
          <a:lstStyle/>
          <a:p>
            <a:r>
              <a:rPr lang="en-US" dirty="0"/>
              <a:t>Marcelo Cruz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Diego Leonel Cadette Dutra – UFRJ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Claudio Luis de Amorim - UFRJ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07B732C-DCB3-C1F8-19C9-CD8BA8558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5" y="1980937"/>
            <a:ext cx="6286821" cy="978729"/>
          </a:xfrm>
        </p:spPr>
        <p:txBody>
          <a:bodyPr/>
          <a:lstStyle/>
          <a:p>
            <a:r>
              <a:rPr lang="it-IT" sz="3200" dirty="0"/>
              <a:t>Improve I/O scalability for SDDP algorithm with MPI/IO/Lustre</a:t>
            </a:r>
            <a:endParaRPr lang="en-US" sz="3200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FC3A6F6-E2E3-9863-EA87-730453205A18}"/>
              </a:ext>
            </a:extLst>
          </p:cNvPr>
          <p:cNvSpPr txBox="1">
            <a:spLocks/>
          </p:cNvSpPr>
          <p:nvPr/>
        </p:nvSpPr>
        <p:spPr>
          <a:xfrm>
            <a:off x="696685" y="5014174"/>
            <a:ext cx="6975922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March 21</a:t>
            </a:r>
            <a:r>
              <a:rPr lang="en-US" sz="2000" b="0" baseline="30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th </a:t>
            </a:r>
            <a:r>
              <a:rPr lang="en-US" sz="2000" b="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388615-DC46-7948-7732-62B39F809E21}"/>
              </a:ext>
            </a:extLst>
          </p:cNvPr>
          <p:cNvCxnSpPr>
            <a:cxnSpLocks/>
          </p:cNvCxnSpPr>
          <p:nvPr/>
        </p:nvCxnSpPr>
        <p:spPr>
          <a:xfrm>
            <a:off x="782320" y="3434563"/>
            <a:ext cx="742038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2">
            <a:extLst>
              <a:ext uri="{FF2B5EF4-FFF2-40B4-BE49-F238E27FC236}">
                <a16:creationId xmlns:a16="http://schemas.microsoft.com/office/drawing/2014/main" id="{CA909F71-729B-3415-ECA0-B9532D852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5" y="1437849"/>
            <a:ext cx="8698327" cy="535531"/>
          </a:xfrm>
        </p:spPr>
        <p:txBody>
          <a:bodyPr/>
          <a:lstStyle/>
          <a:p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A0EA8-A306-64B5-108A-60453A5837EF}"/>
              </a:ext>
            </a:extLst>
          </p:cNvPr>
          <p:cNvSpPr txBox="1"/>
          <p:nvPr/>
        </p:nvSpPr>
        <p:spPr>
          <a:xfrm>
            <a:off x="942975" y="4571999"/>
            <a:ext cx="7420386" cy="728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3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31DDE-C22C-9B2E-BC67-4440072DCF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4BA2F7-09BC-9BB4-8D2F-FB760E8D8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17470"/>
              </p:ext>
            </p:extLst>
          </p:nvPr>
        </p:nvGraphicFramePr>
        <p:xfrm>
          <a:off x="4276725" y="1400714"/>
          <a:ext cx="7326269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6269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en-US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Introduction</a:t>
                      </a:r>
                      <a:endParaRPr lang="es-419" sz="1800" b="1" noProof="0" dirty="0">
                        <a:solidFill>
                          <a:schemeClr val="accent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25E956-F6B0-F348-0305-B5AE95865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241194"/>
              </p:ext>
            </p:extLst>
          </p:nvPr>
        </p:nvGraphicFramePr>
        <p:xfrm>
          <a:off x="4276724" y="2116533"/>
          <a:ext cx="7326269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6269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en-US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Evaluation</a:t>
                      </a:r>
                      <a:endParaRPr lang="es-419" sz="1800" b="1" noProof="0" dirty="0">
                        <a:solidFill>
                          <a:schemeClr val="accent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3622F6-B520-A4A0-CECA-82A210412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711762"/>
              </p:ext>
            </p:extLst>
          </p:nvPr>
        </p:nvGraphicFramePr>
        <p:xfrm>
          <a:off x="4276726" y="2832352"/>
          <a:ext cx="4676774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6774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es-419" sz="1800" b="1" noProof="0" dirty="0" err="1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Background</a:t>
                      </a:r>
                      <a:endParaRPr lang="es-419" sz="1800" b="1" noProof="0" dirty="0">
                        <a:solidFill>
                          <a:schemeClr val="accent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34184B-01B6-0CDF-1F1A-E350BFA28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154986"/>
              </p:ext>
            </p:extLst>
          </p:nvPr>
        </p:nvGraphicFramePr>
        <p:xfrm>
          <a:off x="4276726" y="3548171"/>
          <a:ext cx="7326270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6270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en-US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Solution</a:t>
                      </a:r>
                      <a:endParaRPr lang="es-419" sz="1800" b="1" noProof="0" dirty="0">
                        <a:solidFill>
                          <a:schemeClr val="accent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CF43CA-973D-A726-C58E-479ABFD91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36435"/>
              </p:ext>
            </p:extLst>
          </p:nvPr>
        </p:nvGraphicFramePr>
        <p:xfrm>
          <a:off x="4276725" y="4263990"/>
          <a:ext cx="6355415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5415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marR="0" lvl="0" indent="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419" sz="1800" b="1" noProof="0" dirty="0">
                        <a:solidFill>
                          <a:schemeClr val="accent1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52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5CD3C2-F68E-FDF5-4E39-AB48BB117A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A1872-8F6D-821F-0089-ACD6EC133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4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647D-8A93-5886-2C3D-FDE2D02C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Introduction </a:t>
            </a:r>
            <a:r>
              <a:rPr lang="en-US" dirty="0"/>
              <a:t>- </a:t>
            </a:r>
            <a:r>
              <a:rPr lang="pt-BR" dirty="0"/>
              <a:t>The SDDP </a:t>
            </a:r>
            <a:r>
              <a:rPr lang="pt-BR" dirty="0" err="1"/>
              <a:t>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25E83-1EB6-5554-4E65-BB26A13A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A575A-FC8F-A087-E4AC-F8DD8D7A5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E3883-2237-8F26-F64D-656F6B6C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130676"/>
            <a:ext cx="6402631" cy="5165350"/>
          </a:xfrm>
          <a:prstGeom prst="rect">
            <a:avLst/>
          </a:prstGeom>
        </p:spPr>
      </p:pic>
      <p:pic>
        <p:nvPicPr>
          <p:cNvPr id="7" name="Espaço Reservado para Conteúdo 6" descr="Uma imagem contendo Ícone&#10;&#10;Descrição gerada automaticamente">
            <a:extLst>
              <a:ext uri="{FF2B5EF4-FFF2-40B4-BE49-F238E27FC236}">
                <a16:creationId xmlns:a16="http://schemas.microsoft.com/office/drawing/2014/main" id="{83677A3E-F384-997A-F315-9684F2253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9219" y="1964578"/>
            <a:ext cx="4373743" cy="345897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8A7AA-A6A2-9734-253E-5E93DD6A9B5A}"/>
              </a:ext>
            </a:extLst>
          </p:cNvPr>
          <p:cNvSpPr txBox="1"/>
          <p:nvPr/>
        </p:nvSpPr>
        <p:spPr>
          <a:xfrm>
            <a:off x="5619750" y="196457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Temporal dependency.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number of scenarios is the number of processes that can run simultaneously.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93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07E9-928A-7AF0-60D4-BE5ECE10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6B41-7EF2-571B-893F-3C2AE5B1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Introduction </a:t>
            </a:r>
            <a:r>
              <a:rPr lang="en-US" dirty="0"/>
              <a:t>- The challenges after migration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C9BAA-FD64-58E3-CD1A-790C426A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08ADE-FC3A-7FE4-F102-7C0B690362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6DBB1-CC75-07F1-3DDB-775EFC911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130676"/>
            <a:ext cx="6402631" cy="516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D3C05-6BFA-7CEF-4F80-9FD2593BD6F4}"/>
              </a:ext>
            </a:extLst>
          </p:cNvPr>
          <p:cNvSpPr txBox="1"/>
          <p:nvPr/>
        </p:nvSpPr>
        <p:spPr>
          <a:xfrm>
            <a:off x="5619749" y="1964577"/>
            <a:ext cx="6143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Global warming.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About ten years ago, the electricity sector in numerous countries began a transformation process toward greater sustainability, with an accelerated increase in the participation of renewable power generators (mainly wind and solar) in their energy mix.</a:t>
            </a:r>
          </a:p>
        </p:txBody>
      </p:sp>
      <p:pic>
        <p:nvPicPr>
          <p:cNvPr id="10" name="Imagem 8">
            <a:extLst>
              <a:ext uri="{FF2B5EF4-FFF2-40B4-BE49-F238E27FC236}">
                <a16:creationId xmlns:a16="http://schemas.microsoft.com/office/drawing/2014/main" id="{E101BEAD-438B-B535-47BA-CF57C7B28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1" b="12411"/>
          <a:stretch/>
        </p:blipFill>
        <p:spPr>
          <a:xfrm>
            <a:off x="514075" y="1964577"/>
            <a:ext cx="4934225" cy="314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7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B32B-53C4-93FC-698B-B0CF5FC8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DAF03-3966-CB6C-8067-195B42867D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60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43DA9-D202-F296-E691-A8F98A5FF8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2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5F81-66D3-885A-B229-4E9DF0C7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01EDB-D082-BF07-7ACD-B1B9DC2E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Stack HPC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8D5FB-43A0-A845-A42E-94A0CEC0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387C6-3940-7AF5-7A08-2EED1ABA2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483BF4-272C-9ECA-5948-A0253FCFA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A4A4C7-437C-AE32-9BCF-9E5E0DEC2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br>
              <a:rPr lang="pt-BR" b="0" i="0" u="none" strike="noStrike" baseline="0" dirty="0">
                <a:latin typeface="NimbusRomNo9L-Regu"/>
              </a:rPr>
            </a:br>
            <a:endParaRPr lang="en-US" i="0" u="none" strike="noStrike" baseline="0" dirty="0">
              <a:latin typeface="Times-Bold"/>
            </a:endParaRPr>
          </a:p>
          <a:p>
            <a:endParaRPr lang="en-US" dirty="0"/>
          </a:p>
        </p:txBody>
      </p:sp>
      <p:pic>
        <p:nvPicPr>
          <p:cNvPr id="7" name="Picture 6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7ECA4E71-FCE6-C0A1-66B2-E5E74FF9D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5" y="1145228"/>
            <a:ext cx="7058025" cy="554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7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4126-4CE8-6059-65DA-6F2D2E6A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D2CA-6277-D40A-EBC8-5C93245C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HD5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63F39-39E7-DD55-7705-33E38511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E036D-9BE0-24B2-53F7-D864179A33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121B8-CF24-ABAD-C696-B0E99EF9D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pic>
        <p:nvPicPr>
          <p:cNvPr id="7" name="Content Placeholder 6" descr="A diagram of a group&#10;&#10;AI-generated content may be incorrect.">
            <a:extLst>
              <a:ext uri="{FF2B5EF4-FFF2-40B4-BE49-F238E27FC236}">
                <a16:creationId xmlns:a16="http://schemas.microsoft.com/office/drawing/2014/main" id="{3F86750D-6CBB-0C6B-6A7E-1E9E86995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5" y="1509259"/>
            <a:ext cx="9829925" cy="4277143"/>
          </a:xfrm>
        </p:spPr>
      </p:pic>
    </p:spTree>
    <p:extLst>
      <p:ext uri="{BB962C8B-B14F-4D97-AF65-F5344CB8AC3E}">
        <p14:creationId xmlns:p14="http://schemas.microsoft.com/office/powerpoint/2010/main" val="968705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8530-11FB-6501-621E-BF307F56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0D3C-44F5-13ED-662F-B59D9BA8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HD5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6B88-4A08-F9EB-57BD-85C9429A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0FDA9-491D-8A86-ED81-8FED513FB7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24D0F-AB7C-EB01-62C4-F8A5857F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F98A7F-8EE4-EBF7-5447-E79EE247E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E173E-BBE8-D60D-D5D1-66366719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05" y="1111250"/>
            <a:ext cx="4233040" cy="519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9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6B5C0-75C3-6680-2705-532446E2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0218-33CE-F052-509B-C8FCF0D2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MPI-IO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064E-D373-0B96-C6A8-0A6E4654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0F1D6-EF0C-2BFD-D3E3-6DB7AC2317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6DAF6E-4C59-A569-9CAD-C8B4B4482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4DD07CD-1C3A-8423-8559-8F2ADD15A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AmazonEmber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ECA36-EFCC-119B-23ED-2B88FB7CA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10" y="1855885"/>
            <a:ext cx="4277322" cy="1076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0A140-6A67-0CA0-855B-DB173298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50" y="3249272"/>
            <a:ext cx="5363323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D0B5-48D1-3740-4483-44FFE729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BFE1-AF71-9E3E-8D1B-D0E054C0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MPI-IO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543B1-6C33-ACB2-9F37-4B47C39F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A1EDF-4F9A-17CD-B454-D0CAF47B32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84B466-4BDB-8DCB-3F70-57CCE0CD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BFBF04-77C1-8782-2CE9-1E91E4E81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AmazonEmber"/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C06CFE-A3CF-A6BE-0529-E22F0372F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13" y="1378052"/>
            <a:ext cx="3440140" cy="2477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B690E2-0924-C18D-D61E-276C30279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180" y="4063917"/>
            <a:ext cx="4416848" cy="2477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1AE2FE-B24B-D63C-565C-93C1AD4DC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692" y="1781810"/>
            <a:ext cx="6272608" cy="325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4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B5DA1-B13E-E7A2-CD4A-5473ECD38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A3E0-CA71-B7F0-E5E8-2D08392F4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MPI-IO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020F6-6657-3A90-2A4D-320169EB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77B2C-4224-A67C-572B-C2DBC43E4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827FA-63DD-86AD-B8CE-C47392F0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6A8043-1127-FB33-6DB8-BD1BFE131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33088" y="1371600"/>
            <a:ext cx="3289312" cy="4924425"/>
          </a:xfrm>
        </p:spPr>
      </p:pic>
    </p:spTree>
    <p:extLst>
      <p:ext uri="{BB962C8B-B14F-4D97-AF65-F5344CB8AC3E}">
        <p14:creationId xmlns:p14="http://schemas.microsoft.com/office/powerpoint/2010/main" val="88069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E598D-0E49-1F15-EFC5-03425F4C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3090-376B-C61B-22A5-FB4A338E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LUSTRE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909E2-D50C-EAF0-35CE-48567CE3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FCECF-08B3-8A25-0C9B-60A7DDF078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1FF9C-B4FE-49B3-F027-292862DD1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4AE9F9-8D71-85D1-43FB-82C20A046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br>
              <a:rPr lang="pt-BR" b="0" i="0" u="none" strike="noStrike" baseline="0" dirty="0">
                <a:latin typeface="NimbusRomNo9L-Regu"/>
              </a:rPr>
            </a:br>
            <a:endParaRPr lang="en-US" i="0" u="none" strike="noStrike" baseline="0" dirty="0">
              <a:latin typeface="Times-Bold"/>
            </a:endParaRPr>
          </a:p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7B40A91-2595-790A-DE38-D38894A5E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012" y="1885949"/>
            <a:ext cx="4010025" cy="3600450"/>
          </a:xfrm>
          <a:prstGeom prst="rect">
            <a:avLst/>
          </a:prstGeom>
        </p:spPr>
      </p:pic>
      <p:pic>
        <p:nvPicPr>
          <p:cNvPr id="10" name="Picture 9" descr="A diagram of a computer server&#10;&#10;AI-generated content may be incorrect.">
            <a:extLst>
              <a:ext uri="{FF2B5EF4-FFF2-40B4-BE49-F238E27FC236}">
                <a16:creationId xmlns:a16="http://schemas.microsoft.com/office/drawing/2014/main" id="{B0C24362-C1B8-0A14-7723-C1A4D588D6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587" y="1482093"/>
            <a:ext cx="3948113" cy="437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87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E99D-9D6B-8299-8249-94EFAC21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B826-7C9C-73CE-0ABD-4D148DAE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</a:t>
            </a:r>
            <a:r>
              <a:rPr lang="en-US" dirty="0" err="1"/>
              <a:t>MPI_Ssend</a:t>
            </a:r>
            <a:r>
              <a:rPr lang="en-US" dirty="0"/>
              <a:t> , </a:t>
            </a:r>
            <a:r>
              <a:rPr lang="en-US" dirty="0" err="1"/>
              <a:t>MPI_Isend</a:t>
            </a:r>
            <a:r>
              <a:rPr lang="en-US" dirty="0"/>
              <a:t> and </a:t>
            </a:r>
            <a:r>
              <a:rPr lang="en-US" dirty="0" err="1"/>
              <a:t>MPI_Send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8D5E1-26DD-C4DD-6DDE-9E84C897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07807-9C15-4059-18C5-F3D9864A22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0EE049-4842-F1CE-0E47-216074B12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533DA47-8395-8E89-A8C3-EBB85D25D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6481" y="2213217"/>
            <a:ext cx="3337308" cy="3266731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650B5A-B34B-44CC-23A5-396D77128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3168"/>
            <a:ext cx="3527040" cy="32877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6FDE2C4-43C2-CF27-3274-6D2378EE2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848" y="2213216"/>
            <a:ext cx="3783025" cy="326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78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A06C-1A38-862A-DB66-AE5180BA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E30BC-BDEF-5781-A4C0-BD8291C9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 </a:t>
            </a:r>
            <a:r>
              <a:rPr lang="en-US" dirty="0"/>
              <a:t>– Eager vs </a:t>
            </a:r>
            <a:r>
              <a:rPr lang="en-US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Rendezvous Protocols</a:t>
            </a:r>
            <a:br>
              <a:rPr lang="en-US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99884-1A8C-7D47-6542-2BF919D1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3B512-6110-3ECE-C302-11E7852A5B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A3B927-0421-A924-F8E7-5539F965E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pic>
        <p:nvPicPr>
          <p:cNvPr id="10" name="Content Placeholder 9" descr="A diagram of a sender&#10;&#10;AI-generated content may be incorrect.">
            <a:extLst>
              <a:ext uri="{FF2B5EF4-FFF2-40B4-BE49-F238E27FC236}">
                <a16:creationId xmlns:a16="http://schemas.microsoft.com/office/drawing/2014/main" id="{291F0863-B77B-C46C-A0E9-8B9778DF5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" y="1304434"/>
            <a:ext cx="11363487" cy="4438444"/>
          </a:xfrm>
        </p:spPr>
      </p:pic>
    </p:spTree>
    <p:extLst>
      <p:ext uri="{BB962C8B-B14F-4D97-AF65-F5344CB8AC3E}">
        <p14:creationId xmlns:p14="http://schemas.microsoft.com/office/powerpoint/2010/main" val="2685009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D959-C0FB-0303-2DF1-D8F2A68D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6075F6-947A-0CF1-76F1-D3D8CD3279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60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Evaluation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5AB4-15DA-7892-240A-5F0C6503FD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1627-7425-2E12-DF52-DB8F2143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CEC4-1023-0CDE-3A77-082E411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Evaluation </a:t>
            </a:r>
            <a:r>
              <a:rPr lang="en-US" dirty="0"/>
              <a:t>- 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CC8C1-E59C-D2CC-C214-7863672A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608AD-202D-9CE8-2008-32B9DEEEB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66575-CF97-439C-D03C-4775153E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C78FEF8-C2E9-AE27-F6DF-B071AF688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AmazonEmber"/>
            </a:endParaRPr>
          </a:p>
          <a:p>
            <a:pPr lvl="1"/>
            <a:r>
              <a:rPr lang="en-US" dirty="0">
                <a:solidFill>
                  <a:srgbClr val="333333"/>
                </a:solidFill>
                <a:latin typeface="AmazonEmber"/>
              </a:rPr>
              <a:t>PMO BRASIL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AmazonEmber"/>
              </a:rPr>
              <a:t>Monthly: 1200 Scenarios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AmazonEmber"/>
              </a:rPr>
              <a:t>Hourly: 100 Scenarios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AmazonEmber"/>
              </a:rPr>
              <a:t>Memory-bounded ( 8 GB per process )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AmazonEmber"/>
              </a:rPr>
              <a:t>I/O bounded.</a:t>
            </a:r>
          </a:p>
          <a:p>
            <a:pPr lvl="1"/>
            <a:endParaRPr lang="en-US" dirty="0">
              <a:solidFill>
                <a:srgbClr val="333333"/>
              </a:solidFill>
              <a:latin typeface="AmazonEmb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02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918B-2C17-CDCB-3133-D1F01086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94D8-DD04-33CD-6A05-441044CB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Evaluation </a:t>
            </a:r>
            <a:r>
              <a:rPr lang="en-US" dirty="0"/>
              <a:t>- 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7BBB7-1481-0026-3F15-5E509779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B2648-7DC0-CF9E-9F02-ABA5F1C43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6F117-B8FC-B84C-8A49-B922CC18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AE233B-9C59-DBA2-0FC9-FEF3FE343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  <a:latin typeface="AmazonEmber"/>
            </a:endParaRP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AmazonEmber"/>
              </a:rPr>
              <a:t>16 nodes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AmazonEmber"/>
              </a:rPr>
              <a:t>Up to 3.2 GHz 4th Generation Intel Xeon Scalable processor (Sapphire Rapids 8488C)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AmazonEmber"/>
              </a:rPr>
              <a:t>32 Cores and 64 Hyper </a:t>
            </a:r>
            <a:r>
              <a:rPr lang="en-US" dirty="0" err="1">
                <a:solidFill>
                  <a:srgbClr val="333333"/>
                </a:solidFill>
                <a:latin typeface="AmazonEmber"/>
              </a:rPr>
              <a:t>Theads</a:t>
            </a:r>
            <a:r>
              <a:rPr lang="en-US" dirty="0">
                <a:solidFill>
                  <a:srgbClr val="333333"/>
                </a:solidFill>
                <a:latin typeface="AmazonEmber"/>
              </a:rPr>
              <a:t>.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AmazonEmber"/>
              </a:rPr>
              <a:t>64 GiB of ram memory per machine</a:t>
            </a:r>
          </a:p>
          <a:p>
            <a:pPr lvl="1"/>
            <a:r>
              <a:rPr lang="en-US" u="none" strike="noStrike" baseline="0" dirty="0">
                <a:solidFill>
                  <a:srgbClr val="333333"/>
                </a:solidFill>
                <a:latin typeface="AmazonEmber"/>
              </a:rPr>
              <a:t>Networ</a:t>
            </a:r>
            <a:r>
              <a:rPr lang="en-US" dirty="0">
                <a:solidFill>
                  <a:srgbClr val="333333"/>
                </a:solidFill>
                <a:latin typeface="AmazonEmber"/>
              </a:rPr>
              <a:t>k </a:t>
            </a:r>
            <a:r>
              <a:rPr lang="en-US" dirty="0" err="1">
                <a:solidFill>
                  <a:srgbClr val="333333"/>
                </a:solidFill>
                <a:latin typeface="AmazonEmber"/>
              </a:rPr>
              <a:t>bandwith</a:t>
            </a:r>
            <a:r>
              <a:rPr lang="en-US" dirty="0">
                <a:solidFill>
                  <a:srgbClr val="333333"/>
                </a:solidFill>
                <a:latin typeface="AmazonEmber"/>
              </a:rPr>
              <a:t> 20 Gb/s</a:t>
            </a:r>
            <a:br>
              <a:rPr lang="pt-BR" b="0" i="0" u="none" strike="noStrike" baseline="0" dirty="0">
                <a:latin typeface="NimbusRomNo9L-Regu"/>
              </a:rPr>
            </a:br>
            <a:endParaRPr lang="en-US" i="0" u="none" strike="noStrike" baseline="0" dirty="0">
              <a:latin typeface="Times-Bold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74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A55F-C0B0-1440-29B3-4EBF4072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F757-1B7B-1418-C380-4F9B1C82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Evaluation </a:t>
            </a:r>
            <a:r>
              <a:rPr lang="en-US" dirty="0"/>
              <a:t>- cluster 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33153-E278-A9A5-11F0-B4D27F9F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9DEBF-3503-A63A-DD7B-5A5B505EC8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BDFF8-B6DA-3015-9705-89972E2C0A70}"/>
              </a:ext>
            </a:extLst>
          </p:cNvPr>
          <p:cNvSpPr txBox="1"/>
          <p:nvPr/>
        </p:nvSpPr>
        <p:spPr>
          <a:xfrm>
            <a:off x="9739427" y="1509258"/>
            <a:ext cx="2215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Master Adapter Control Data and Results Data</a:t>
            </a:r>
          </a:p>
        </p:txBody>
      </p:sp>
      <p:pic>
        <p:nvPicPr>
          <p:cNvPr id="15" name="Content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DB4EC2-C79C-2876-FC56-CCC83940A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26634"/>
            <a:ext cx="9739427" cy="7450438"/>
          </a:xfrm>
        </p:spPr>
      </p:pic>
    </p:spTree>
    <p:extLst>
      <p:ext uri="{BB962C8B-B14F-4D97-AF65-F5344CB8AC3E}">
        <p14:creationId xmlns:p14="http://schemas.microsoft.com/office/powerpoint/2010/main" val="479162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DA8F-957B-F4A9-90DE-90A1684A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5658-C06F-ABEC-D0BB-9A37B24C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Evaluation </a:t>
            </a:r>
            <a:r>
              <a:rPr lang="en-US" dirty="0"/>
              <a:t>- </a:t>
            </a:r>
            <a:r>
              <a:rPr lang="pt-BR" dirty="0"/>
              <a:t>The SDDP </a:t>
            </a:r>
            <a:r>
              <a:rPr lang="pt-BR" dirty="0" err="1"/>
              <a:t>Algorithm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A498-6EBF-3F25-5813-5518BACE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87DC4-A2FC-12F5-F975-2C6D07A31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FFA81-2D68-C068-D7DC-1A5B33CA2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31" y="1378052"/>
            <a:ext cx="6096000" cy="4917974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2753F7B-54D0-1E18-7EC0-10DCDC37A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352591"/>
              </p:ext>
            </p:extLst>
          </p:nvPr>
        </p:nvGraphicFramePr>
        <p:xfrm>
          <a:off x="200025" y="1371600"/>
          <a:ext cx="11755435" cy="2734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481">
                  <a:extLst>
                    <a:ext uri="{9D8B030D-6E8A-4147-A177-3AD203B41FA5}">
                      <a16:colId xmlns:a16="http://schemas.microsoft.com/office/drawing/2014/main" val="3776084218"/>
                    </a:ext>
                  </a:extLst>
                </a:gridCol>
                <a:gridCol w="1284644">
                  <a:extLst>
                    <a:ext uri="{9D8B030D-6E8A-4147-A177-3AD203B41FA5}">
                      <a16:colId xmlns:a16="http://schemas.microsoft.com/office/drawing/2014/main" val="259481008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134545046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43511389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669775693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3811245273"/>
                    </a:ext>
                  </a:extLst>
                </a:gridCol>
                <a:gridCol w="1763710">
                  <a:extLst>
                    <a:ext uri="{9D8B030D-6E8A-4147-A177-3AD203B41FA5}">
                      <a16:colId xmlns:a16="http://schemas.microsoft.com/office/drawing/2014/main" val="3992995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Test</a:t>
                      </a:r>
                      <a:endParaRPr lang="pt-BR" sz="16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Scenarios</a:t>
                      </a:r>
                      <a:endParaRPr lang="pt-BR" sz="16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/>
                        <a:t>Storage</a:t>
                      </a:r>
                      <a:r>
                        <a:rPr lang="pt-BR" sz="1600" dirty="0"/>
                        <a:t> </a:t>
                      </a:r>
                      <a:r>
                        <a:rPr lang="pt-BR" sz="1600" dirty="0" err="1"/>
                        <a:t>Size</a:t>
                      </a:r>
                      <a:endParaRPr lang="pt-BR" sz="16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Average(s) round-trip MPI</a:t>
                      </a:r>
                      <a:endParaRPr lang="pt-BR" sz="16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Stdev</a:t>
                      </a:r>
                      <a:r>
                        <a:rPr lang="en-US" sz="1600" dirty="0"/>
                        <a:t>(s)</a:t>
                      </a:r>
                      <a:endParaRPr lang="pt-BR" sz="16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Comunication</a:t>
                      </a:r>
                      <a:r>
                        <a:rPr lang="pt-BR" sz="1600" dirty="0"/>
                        <a:t> time(s)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Total time(s)</a:t>
                      </a:r>
                      <a:endParaRPr lang="pt-BR" sz="16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91502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 2 nodes</a:t>
                      </a:r>
                      <a:endParaRPr lang="pt-BR" sz="14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40 GB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 0,000958</a:t>
                      </a:r>
                    </a:p>
                    <a:p>
                      <a:pPr algn="ctr"/>
                      <a:r>
                        <a:rPr lang="pt-BR" sz="1400" dirty="0"/>
                        <a:t> 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0,006271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0,285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2528,51</a:t>
                      </a:r>
                      <a:endParaRPr lang="pt-BR" sz="14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403318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 Nodes </a:t>
                      </a:r>
                      <a:endParaRPr lang="pt-BR" sz="14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24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80 GB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0,0049552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0,010698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1,473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2565,91</a:t>
                      </a:r>
                      <a:endParaRPr lang="pt-BR" sz="14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299379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8 Nodes</a:t>
                      </a:r>
                      <a:endParaRPr lang="pt-BR" sz="14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48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160 GB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0,186381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 0,460219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55,382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2772,69</a:t>
                      </a:r>
                      <a:endParaRPr lang="pt-BR" sz="14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90915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16 Nodes</a:t>
                      </a:r>
                      <a:endParaRPr lang="pt-BR" sz="14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96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320 GB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0,884963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1,525884  </a:t>
                      </a:r>
                      <a:endParaRPr lang="pt-BR" sz="1400" dirty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262,898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3190,86</a:t>
                      </a:r>
                      <a:endParaRPr lang="pt-BR" sz="1400" dirty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212472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400" dirty="0"/>
                        <a:t>160 Nodes  (*)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1200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  PB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12800(*)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293660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1600 Nodes (*)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12000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320 PB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128000(*)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63524485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AA53CD7-EFA0-45D5-0462-A93BB76CB471}"/>
              </a:ext>
            </a:extLst>
          </p:cNvPr>
          <p:cNvSpPr txBox="1"/>
          <p:nvPr/>
        </p:nvSpPr>
        <p:spPr>
          <a:xfrm>
            <a:off x="7940796" y="4647259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(*) Estimate based on the bandwidth.</a:t>
            </a:r>
          </a:p>
        </p:txBody>
      </p:sp>
    </p:spTree>
    <p:extLst>
      <p:ext uri="{BB962C8B-B14F-4D97-AF65-F5344CB8AC3E}">
        <p14:creationId xmlns:p14="http://schemas.microsoft.com/office/powerpoint/2010/main" val="170285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4F4F-8703-5477-1B41-AA45D982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5F32-EC9D-A2CA-C9D4-956079EF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Evaluation </a:t>
            </a:r>
            <a:r>
              <a:rPr lang="en-US" dirty="0"/>
              <a:t>– Round-trip time x number nodes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9C6B-EBF3-B812-5F52-17B93157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198B6-7F5A-A1F4-0606-EA9D12740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4E1671-02E4-ED41-4502-F2185CA3B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130676"/>
            <a:ext cx="6402631" cy="516535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F565021-2C8F-DDB3-532C-F370BC82D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4525" y="1734542"/>
            <a:ext cx="7432925" cy="4447183"/>
          </a:xfrm>
        </p:spPr>
      </p:pic>
    </p:spTree>
    <p:extLst>
      <p:ext uri="{BB962C8B-B14F-4D97-AF65-F5344CB8AC3E}">
        <p14:creationId xmlns:p14="http://schemas.microsoft.com/office/powerpoint/2010/main" val="938827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208B-95B2-FE0F-A074-2DC659DE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C43AC-1CFA-010B-5507-0CC95C36F8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60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Solution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8A86-E2A0-5880-69E0-62F258FF19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47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C1C5-53B7-C041-D024-A3A49A26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16A6-EF56-E92F-3300-CE16D9E19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Solution </a:t>
            </a:r>
            <a:r>
              <a:rPr lang="en-US" dirty="0"/>
              <a:t>– MPI-IO  With LUSTRE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2292-C3E0-8112-2E10-3F9E9F92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FE20D-7280-B257-83CE-93A99A849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F0B1E-2BAC-29B9-5187-12FAFD39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98" y="1665266"/>
            <a:ext cx="5616232" cy="4530919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614284-B865-2094-2103-B4A3C4438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br>
              <a:rPr lang="pt-BR" b="0" i="0" u="none" strike="noStrike" baseline="0" dirty="0">
                <a:latin typeface="NimbusRomNo9L-Regu"/>
              </a:rPr>
            </a:br>
            <a:endParaRPr lang="en-US" i="0" u="none" strike="noStrike" baseline="0" dirty="0">
              <a:latin typeface="Times-Bold"/>
            </a:endParaRPr>
          </a:p>
          <a:p>
            <a:endParaRPr lang="en-US" dirty="0"/>
          </a:p>
        </p:txBody>
      </p:sp>
      <p:pic>
        <p:nvPicPr>
          <p:cNvPr id="3" name="Picture 2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DEA9C71D-D35D-BA0A-F93F-4D9D999E9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11" y="1565427"/>
            <a:ext cx="5890596" cy="4630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39390D-E89B-1D10-DC1B-8CDBE0484F7F}"/>
              </a:ext>
            </a:extLst>
          </p:cNvPr>
          <p:cNvSpPr txBox="1"/>
          <p:nvPr/>
        </p:nvSpPr>
        <p:spPr>
          <a:xfrm>
            <a:off x="6337807" y="2029522"/>
            <a:ext cx="55131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Increase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Reduce memory consumption of the Node Master.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Eliminate Central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Works in the cloud and on-premises.</a:t>
            </a:r>
          </a:p>
        </p:txBody>
      </p:sp>
    </p:spTree>
    <p:extLst>
      <p:ext uri="{BB962C8B-B14F-4D97-AF65-F5344CB8AC3E}">
        <p14:creationId xmlns:p14="http://schemas.microsoft.com/office/powerpoint/2010/main" val="295330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14D4-73EC-383D-945C-C2152876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3689-F00C-8520-16C6-A277EEB3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Future Work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70974-2F4C-1264-0CB0-AC56DFFA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7EE8C-C486-6804-57E0-0748BE5B73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77D673-915D-EC9F-D2DF-B7109B0BA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98" y="1665266"/>
            <a:ext cx="5616232" cy="4530919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DAA174-4FA6-E51D-5C29-72FE43C2A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br>
              <a:rPr lang="pt-BR" b="0" i="0" u="none" strike="noStrike" baseline="0" dirty="0">
                <a:latin typeface="NimbusRomNo9L-Regu"/>
              </a:rPr>
            </a:br>
            <a:endParaRPr lang="en-US" i="0" u="none" strike="noStrike" baseline="0" dirty="0">
              <a:latin typeface="Times-Bold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73E80-FD03-BA28-3F64-88B7C03E7C01}"/>
              </a:ext>
            </a:extLst>
          </p:cNvPr>
          <p:cNvSpPr txBox="1"/>
          <p:nvPr/>
        </p:nvSpPr>
        <p:spPr>
          <a:xfrm>
            <a:off x="341070" y="2264153"/>
            <a:ext cx="58936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Integrate MPI-IO aware </a:t>
            </a:r>
            <a:r>
              <a:rPr lang="en-US" sz="2400" dirty="0" err="1"/>
              <a:t>Lustre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Performance Tests with HD5.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Performance Tests with other PFS.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Performance Tests with NFS (ONS e EPE)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Performance Tests </a:t>
            </a:r>
            <a:r>
              <a:rPr lang="en-US" sz="2400" dirty="0"/>
              <a:t>with Shotgun.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2218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BB35-6FC1-5A44-00B7-6A96781F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B914C-75F4-4FB0-2D57-2AC50A31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C2B28-A566-764C-CABB-3DCC353321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B69D4-461A-3E4C-ABBC-B1D6C8358A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81000">
                <a:schemeClr val="accent4"/>
              </a:gs>
              <a:gs pos="0">
                <a:srgbClr val="8AB1B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39CD8-1A58-D58E-1B7D-F0033501EBE6}"/>
              </a:ext>
            </a:extLst>
          </p:cNvPr>
          <p:cNvSpPr txBox="1"/>
          <p:nvPr/>
        </p:nvSpPr>
        <p:spPr>
          <a:xfrm>
            <a:off x="4540799" y="3013501"/>
            <a:ext cx="311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Thank you!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F94AE9-BD34-7DF7-7D29-5AEED5867B84}"/>
              </a:ext>
            </a:extLst>
          </p:cNvPr>
          <p:cNvGrpSpPr/>
          <p:nvPr/>
        </p:nvGrpSpPr>
        <p:grpSpPr>
          <a:xfrm>
            <a:off x="4140596" y="5518665"/>
            <a:ext cx="3910809" cy="832387"/>
            <a:chOff x="6062409" y="5684682"/>
            <a:chExt cx="3910809" cy="83238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6E2B335-8FEC-9911-52D1-6DCFDD03CA3D}"/>
                </a:ext>
              </a:extLst>
            </p:cNvPr>
            <p:cNvGrpSpPr/>
            <p:nvPr userDrawn="1"/>
          </p:nvGrpSpPr>
          <p:grpSpPr>
            <a:xfrm>
              <a:off x="6062409" y="5684682"/>
              <a:ext cx="2008208" cy="832387"/>
              <a:chOff x="6214809" y="5684682"/>
              <a:chExt cx="2008208" cy="832387"/>
            </a:xfrm>
          </p:grpSpPr>
          <p:pic>
            <p:nvPicPr>
              <p:cNvPr id="16" name="Google Shape;139;p50">
                <a:hlinkClick r:id="rId2"/>
                <a:extLst>
                  <a:ext uri="{FF2B5EF4-FFF2-40B4-BE49-F238E27FC236}">
                    <a16:creationId xmlns:a16="http://schemas.microsoft.com/office/drawing/2014/main" id="{6D13F17E-B6B8-B429-3635-3F9BBB9EB515}"/>
                  </a:ext>
                </a:extLst>
              </p:cNvPr>
              <p:cNvPicPr preferRelativeResize="0"/>
              <p:nvPr userDrawn="1"/>
            </p:nvPicPr>
            <p:blipFill rotWithShape="1">
              <a:blip r:embed="rId3">
                <a:lum bright="70000" contrast="-70000"/>
              </a:blip>
              <a:srcRect/>
              <a:stretch/>
            </p:blipFill>
            <p:spPr>
              <a:xfrm>
                <a:off x="7011957" y="5684682"/>
                <a:ext cx="413913" cy="413913"/>
              </a:xfrm>
              <a:prstGeom prst="rect">
                <a:avLst/>
              </a:prstGeom>
            </p:spPr>
          </p:pic>
          <p:sp>
            <p:nvSpPr>
              <p:cNvPr id="17" name="Google Shape;142;p50">
                <a:extLst>
                  <a:ext uri="{FF2B5EF4-FFF2-40B4-BE49-F238E27FC236}">
                    <a16:creationId xmlns:a16="http://schemas.microsoft.com/office/drawing/2014/main" id="{4BE4122A-AE3B-37FC-1C86-571639D3FCBB}"/>
                  </a:ext>
                </a:extLst>
              </p:cNvPr>
              <p:cNvSpPr txBox="1"/>
              <p:nvPr/>
            </p:nvSpPr>
            <p:spPr>
              <a:xfrm>
                <a:off x="6214809" y="6178555"/>
                <a:ext cx="2008208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latin typeface="Myriad Pro Light" panose="020B0403030403020204" pitchFamily="34" charset="0"/>
                    <a:ea typeface="Open Sans"/>
                    <a:cs typeface="Open Sans"/>
                    <a:sym typeface="Open Sans"/>
                  </a:rPr>
                  <a:t>www.psr-inc.com</a:t>
                </a:r>
                <a:endParaRPr sz="1800" dirty="0">
                  <a:solidFill>
                    <a:schemeClr val="bg1"/>
                  </a:solidFill>
                  <a:latin typeface="Myriad Pro Light" panose="020B0403030403020204" pitchFamily="34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E567D8-7ED3-0015-06F0-DBF947DFD615}"/>
                </a:ext>
              </a:extLst>
            </p:cNvPr>
            <p:cNvGrpSpPr/>
            <p:nvPr userDrawn="1"/>
          </p:nvGrpSpPr>
          <p:grpSpPr>
            <a:xfrm>
              <a:off x="7965010" y="5684682"/>
              <a:ext cx="2008208" cy="832387"/>
              <a:chOff x="8117410" y="5684682"/>
              <a:chExt cx="2008208" cy="832387"/>
            </a:xfrm>
          </p:grpSpPr>
          <p:pic>
            <p:nvPicPr>
              <p:cNvPr id="12" name="Google Shape;139;p50">
                <a:hlinkClick r:id="rId2"/>
                <a:extLst>
                  <a:ext uri="{FF2B5EF4-FFF2-40B4-BE49-F238E27FC236}">
                    <a16:creationId xmlns:a16="http://schemas.microsoft.com/office/drawing/2014/main" id="{35302D40-465B-EF0C-CEEA-5BA27B97EAAE}"/>
                  </a:ext>
                </a:extLst>
              </p:cNvPr>
              <p:cNvPicPr preferRelativeResize="0"/>
              <p:nvPr userDrawn="1"/>
            </p:nvPicPr>
            <p:blipFill rotWithShape="1"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914558" y="5684682"/>
                <a:ext cx="413913" cy="413913"/>
              </a:xfrm>
              <a:prstGeom prst="rect">
                <a:avLst/>
              </a:prstGeom>
            </p:spPr>
          </p:pic>
          <p:sp>
            <p:nvSpPr>
              <p:cNvPr id="13" name="Google Shape;142;p50">
                <a:extLst>
                  <a:ext uri="{FF2B5EF4-FFF2-40B4-BE49-F238E27FC236}">
                    <a16:creationId xmlns:a16="http://schemas.microsoft.com/office/drawing/2014/main" id="{AE8772CC-35FD-B01E-EC47-FB4EA0FAB15E}"/>
                  </a:ext>
                </a:extLst>
              </p:cNvPr>
              <p:cNvSpPr txBox="1"/>
              <p:nvPr userDrawn="1"/>
            </p:nvSpPr>
            <p:spPr>
              <a:xfrm>
                <a:off x="8117410" y="6178555"/>
                <a:ext cx="2008208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bg1"/>
                    </a:solidFill>
                    <a:latin typeface="Myriad Pro Light" panose="020B0403030403020204" pitchFamily="34" charset="0"/>
                    <a:ea typeface="Open Sans"/>
                    <a:cs typeface="Open Sans"/>
                    <a:sym typeface="Open Sans"/>
                  </a:rPr>
                  <a:t>sddp@psr-inc.com</a:t>
                </a:r>
                <a:endParaRPr lang="en-US" sz="1800" dirty="0">
                  <a:solidFill>
                    <a:schemeClr val="bg1"/>
                  </a:solidFill>
                  <a:latin typeface="Myriad Pro Light" panose="020B0403030403020204" pitchFamily="34" charset="0"/>
                </a:endParaRPr>
              </a:p>
            </p:txBody>
          </p:sp>
        </p:grpSp>
      </p:grpSp>
      <p:pic>
        <p:nvPicPr>
          <p:cNvPr id="18" name="Picture 17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66B7A28B-1C39-924B-53BD-715876598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916" y="1728242"/>
            <a:ext cx="1651207" cy="92861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27A114D-5521-A475-499C-E68D7EA70E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5875" y="2428875"/>
            <a:ext cx="2000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057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">
  <a:themeElements>
    <a:clrScheme name="PSR">
      <a:dk1>
        <a:srgbClr val="000000"/>
      </a:dk1>
      <a:lt1>
        <a:srgbClr val="FFFFFF"/>
      </a:lt1>
      <a:dk2>
        <a:srgbClr val="20324C"/>
      </a:dk2>
      <a:lt2>
        <a:srgbClr val="D8D8D8"/>
      </a:lt2>
      <a:accent1>
        <a:srgbClr val="162944"/>
      </a:accent1>
      <a:accent2>
        <a:srgbClr val="2F5893"/>
      </a:accent2>
      <a:accent3>
        <a:srgbClr val="6B9EA6"/>
      </a:accent3>
      <a:accent4>
        <a:srgbClr val="4C787F"/>
      </a:accent4>
      <a:accent5>
        <a:srgbClr val="877553"/>
      </a:accent5>
      <a:accent6>
        <a:srgbClr val="AC9A78"/>
      </a:accent6>
      <a:hlink>
        <a:srgbClr val="2F5893"/>
      </a:hlink>
      <a:folHlink>
        <a:srgbClr val="2F5893"/>
      </a:folHlink>
    </a:clrScheme>
    <a:fontScheme name="ELAU PSR 2024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12184</TotalTime>
  <Words>438</Words>
  <Application>Microsoft Office PowerPoint</Application>
  <PresentationFormat>Widescreen</PresentationFormat>
  <Paragraphs>133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AmazonEmber</vt:lpstr>
      <vt:lpstr>Aptos</vt:lpstr>
      <vt:lpstr>Arial</vt:lpstr>
      <vt:lpstr>Calibri</vt:lpstr>
      <vt:lpstr>Myriad Pro</vt:lpstr>
      <vt:lpstr>Myriad Pro Light</vt:lpstr>
      <vt:lpstr>NimbusRomNo9L-Regu</vt:lpstr>
      <vt:lpstr>Open Sans</vt:lpstr>
      <vt:lpstr>Roboto</vt:lpstr>
      <vt:lpstr>Times-Bold</vt:lpstr>
      <vt:lpstr>Wingdings</vt:lpstr>
      <vt:lpstr>content</vt:lpstr>
      <vt:lpstr>Improve I/O scalability for SDDP algorithm with MPI/IO/Lustre</vt:lpstr>
      <vt:lpstr>PowerPoint Presentation</vt:lpstr>
      <vt:lpstr>PowerPoint Presentation</vt:lpstr>
      <vt:lpstr>Introduction - The SDDP Algorithm</vt:lpstr>
      <vt:lpstr>Introduction - The challenges after migration</vt:lpstr>
      <vt:lpstr>PowerPoint Presentation</vt:lpstr>
      <vt:lpstr>Background – Stack HPC</vt:lpstr>
      <vt:lpstr>Background – HD5</vt:lpstr>
      <vt:lpstr>Background – HD5</vt:lpstr>
      <vt:lpstr>Background – MPI-IO</vt:lpstr>
      <vt:lpstr>Background – MPI-IO</vt:lpstr>
      <vt:lpstr>Background – MPI-IO</vt:lpstr>
      <vt:lpstr>Background – LUSTRE</vt:lpstr>
      <vt:lpstr>Background – MPI_Ssend , MPI_Isend and MPI_Send </vt:lpstr>
      <vt:lpstr>Background – Eager vs Rendezvous Protocols </vt:lpstr>
      <vt:lpstr>PowerPoint Presentation</vt:lpstr>
      <vt:lpstr>Evaluation - case study</vt:lpstr>
      <vt:lpstr>Evaluation - case study</vt:lpstr>
      <vt:lpstr>Evaluation - cluster architecture </vt:lpstr>
      <vt:lpstr>Evaluation - The SDDP Algorithm</vt:lpstr>
      <vt:lpstr>Evaluation – Round-trip time x number nodes</vt:lpstr>
      <vt:lpstr>PowerPoint Presentation</vt:lpstr>
      <vt:lpstr>Solution – MPI-IO  With LUSTRE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Lucas Guerreiro</dc:creator>
  <cp:lastModifiedBy>Marcelo Barros</cp:lastModifiedBy>
  <cp:revision>308</cp:revision>
  <dcterms:created xsi:type="dcterms:W3CDTF">2024-01-10T21:29:53Z</dcterms:created>
  <dcterms:modified xsi:type="dcterms:W3CDTF">2025-03-24T20:09:38Z</dcterms:modified>
</cp:coreProperties>
</file>