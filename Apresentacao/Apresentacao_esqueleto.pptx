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8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GANCHO DE ABERTURA — deixar na tela enquanto a banca se acomoda. Não responder agora.</a:t>
            </a:r>
          </a:p>
          <a:p>
            <a:endParaRPr/>
          </a:p>
          <a:p>
            <a:r>
              <a:t>A foto estabelece MAGNITUDE, não a resposta: a plateia sente a escala da máquina antes da pergunta, sem que nada seja antecipado. Os números de apoio estão na linha sob o título.</a:t>
            </a:r>
          </a:p>
          <a:p>
            <a:endParaRPr/>
          </a:p>
          <a:p>
            <a:r>
              <a:t>A pergunta é sobre ESCALABILIDADE, não sobre quantos cores. A montagem entrega abundância dos dois lados — máquina enorme e tarefas de sobra — e deixa a pergunta em aberto. A resposta contraintuitiva (não, não com a arquitetura atual) é a tese, e volta no último slide.</a:t>
            </a:r>
          </a:p>
          <a:p>
            <a:endParaRPr/>
          </a:p>
          <a:p>
            <a:r>
              <a:t>Parâmetros condicionados como HIPOTÉTICO: você não rodou esse caso e o SHOTGUN não foi testado.</a:t>
            </a:r>
          </a:p>
          <a:p>
            <a:endParaRPr/>
          </a:p>
          <a:p>
            <a:r>
              <a:t>SHOTGUN: todos os problemas (estágio, cenário) resolvidos de forma independente, sem sincronização entre estágios — é o que libera o paralelismo máximo: 10.000 x 120 = 1.200.000 tarefas.</a:t>
            </a:r>
          </a:p>
          <a:p>
            <a:endParaRPr/>
          </a:p>
          <a:p>
            <a:r>
              <a:t>Escala contra o experimento (1.536 cenários x 3 estágios = 4.608 tarefas):</a:t>
            </a:r>
          </a:p>
          <a:p>
            <a:r>
              <a:t>  - 260x mais tarefas</a:t>
            </a:r>
          </a:p>
          <a:p>
            <a:r>
              <a:t>  - 864 milhões de registros horários contra 3,3 milhões = 260x mais dados a gravar</a:t>
            </a:r>
          </a:p>
          <a:p>
            <a:r>
              <a:t>  - 1.200.000 ranks úteis = 8,7% dos cores do LineShine</a:t>
            </a:r>
          </a:p>
          <a:p>
            <a:endParaRPr/>
          </a:p>
          <a:p>
            <a:r>
              <a:t>CREDITAR A FOTO: acrescente a fonte da imagem (uma linha discreta no canto, ou menção verbal). É foto de terceiros e a defesa é sessão pública — creditar resolve.</a:t>
            </a:r>
          </a:p>
          <a:p>
            <a:endParaRPr/>
          </a:p>
          <a:p>
            <a:r>
              <a:t>NÃO prometer tempo de execução — não foi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>
            <a:endParaRPr/>
          </a:p>
          <a:p>
            <a:r>
              <a:t>Sequência de fala:</a:t>
            </a:r>
          </a:p>
          <a:p>
            <a:r>
              <a:t>1) O SDDP entra APENAS como carga de trabalho. Simulação final = política já convergida, avaliada sobre muitos cenários; os cenários são independentes por construção, sem estado compartilhado nem coordenação — logo, bag-of-tasks (Cirne, 2003). Em resolução horária cada par (estágio, cenário) vira um bloco contíguo uma ordem de grandeza maior. Frase-chave: a tarefa não termina quando o cenário é resolvido, termina quando o resultado está em disco. Não entrar em SDDP como algoritmo de otimização.</a:t>
            </a:r>
          </a:p>
          <a:p>
            <a:r>
              <a:t>2) As duas peças que o HPC oferece para esse padrão. Lustre: separação entre o fluxo de metadados (MDS/MDT) e o de dados (OSS/OST); a banda agregada escala com o número de OSTs. MPI-IO: no padrão desde o MPI-2; a escrita independente (MPI_File_write_at / iwrite_at) casa exatamente com este workload — offsets calculáveis, blocos contíguos por processo, ranks terminando em momentos diferentes, sem necessidade de sincronização global.</a:t>
            </a:r>
          </a:p>
          <a:p>
            <a:r>
              <a:t>3) O anti-padrão. Concentrar a E/S em um rank escritor transforma E/S em comunicação ponto a ponto: MPI_Send do trabalhador, MPI_Recv do escritor, gravação serializada. Dois gargalos (Seção 2.6, Arquitetura atual de E/S do SDDP): o adaptador de rede do nó escritor, que recebe todos os buffers e ainda divide a NIC com o rank 0 distribuidor; e o caminho de escrita, sequencial em um só processo. Efeito colateral: atraso do escritor bloqueia os trabalhadores no Send.</a:t>
            </a:r>
          </a:p>
          <a:p>
            <a:r>
              <a:t>4) A figura: um requisito do domínio mudou a granularidade do resultado — de 3 registros por tarefa (patamares pesado/médio/leve) para 720 (horas do mês). 240x mais dados a persistir, com a mesma computação por tarefa.</a:t>
            </a:r>
          </a:p>
          <a:p>
            <a:endParaRPr/>
          </a:p>
          <a:p>
            <a:r>
              <a:t>LASTRO NA DISSERTAÇÃO (se pedirem referência): descompasso entre cálculo e E/S em escala — Luu et al. 2015, Xie et al. 2020, Phillips et al. 2009; bag-of-tasks — Cirne et al. 2003; Lustre — Braam 2002 e o Operations Manual; MPI-IO — MPI-2 / MPI 5.0; escritas independentes sobre Lustre — Dickens &amp; Logan 2008/2010, Liao et al. 2007.</a:t>
            </a:r>
          </a:p>
          <a:p>
            <a:endParaRPr/>
          </a:p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>
            <a:endParaRPr/>
          </a:p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PAR EXPLICA A IMPLEMENTAÇÃO: à direita, POR QUE a escrita independente é possível; à esquerda, COMO ela é feita. Duas ideias apenas — offset calculado e limiar de bloco. Nada mais.</a:t>
            </a:r>
          </a:p>
          <a:p>
            <a:endParaRPr/>
          </a:p>
          <a:p>
            <a:r>
              <a:t>DIREITA (Figura 3.4) — comece por aqui. O formato dos arquivos foi PRESERVADO, para não quebrar a cadeia de softwares do planejamento que consome as saídas. Cada registro traz estágio, cenário e hora nas três primeiras colunas; da quarta em diante, um valor por elemento do sistema elétrico (usina, reservatório, barra, interligação...). Consequência decisiva: a posição de cada registro é FUNÇÃO de (estágio, cenário, hora) — irec = posicaoLogica(...), offset = irec x tamRegistro. Nenhum processo precisa perguntar a ninguém onde escrever, e é isso que dispensa coordenação global. Os marcadores laterais são os offsets de início de cada estágio.</a:t>
            </a:r>
          </a:p>
          <a:p>
            <a:endParaRPr/>
          </a:p>
          <a:p>
            <a:r>
              <a:t>ESQUERDA (Código 3.1) — três decisões, na terminologia de acesso a dados do MPI-IO:</a:t>
            </a:r>
          </a:p>
          <a:p>
            <a:r>
              <a:t>POSITIONING: offset explícito e calculado (write_at / iwrite_at), derivado do formato da direita. É o ponto central do slide.</a:t>
            </a:r>
          </a:p>
          <a:p>
            <a:r>
              <a:t>COORDINATION: independente — sem participação dos outros ranks, o que casa com o bag-of-tasks (cada rank grava quando termina).</a:t>
            </a:r>
          </a:p>
          <a:p>
            <a:r>
              <a:t>SYNCHRONISM: por TAMANHO DE BLOCO, e isso é DECISÃO DE PROJETO, não medida. Abaixo do limiar, MPI_File_iwrite_at (assíncrona, sobrepõe E/S e computação); acima, MPI_File_write_at (síncrona). A motivação é a mesma que rege eager x rendezvous na comunicação ponto a ponto: bloco pequeno paga latência, bloco grande paga banda.</a:t>
            </a:r>
          </a:p>
          <a:p>
            <a:r>
              <a:t>LAYOUT (de apoio): o rank acumula em memória as horas do estágio de um cenário e só submete quando o bloco está completo — em vez de 720 escritas de uma linha, uma escrita contígua.</a:t>
            </a:r>
          </a:p>
          <a:p>
            <a:endParaRPr/>
          </a:p>
          <a:p>
            <a:r>
              <a:t>TAMANHO DO REGISTRO: tamRegistro = (3 + numElementos) x 4 bytes. Constante por arquivo. Exemplos da dissertação para um bloco horário de 720 horas: 1 elemento -&gt; 4 colunas -&gt; bloco de 11,25 KB; 10 elementos -&gt; 13 colunas -&gt; 36,56 KB; 300 elementos -&gt; 303 colunas -&gt; 852,19 KB.</a:t>
            </a:r>
          </a:p>
          <a:p>
            <a:r>
              <a:t>USE ISSO A SEU FAVOR: é o número de elementos do sistema elétrico que decide de que lado do limiar o bloco cai. Com poucos elementos vai pelo caminho assíncrono; com 300 elementos passa de 852 KB e vai pelo síncrono. O mesmo código percorre os dois regimes conforme a base de dados — por isso a decisão é por tamanho de bloco, e não por tipo de arquivo.</a:t>
            </a:r>
          </a:p>
          <a:p>
            <a:endParaRPr/>
          </a:p>
          <a:p>
            <a:r>
              <a:t>OMITIDO DE PROPÓSITO — o anel de buffers. A implementação real reserva 32 buffers pré-alocados e os reutiliza de forma circular; antes de reaproveitar uma posição, o processo aguarda com MPI_Wait a conclusão da escrita anterior daquele buffer, e ao final da simulação um MPI_Waitall conclui as pendentes. Isso foi tirado do slide para não competir com o que importa. SE PERGUNTAREM 'como você garante que o buffer continua válido numa escrita não bloqueante?': é exatamente esse anel de 32 buffers; é o único ponto de bloqueio do caminho de escrita, em regime permanente quase nunca é atingido, e o custo dessas esperas foi medido e é desprezível frente ao tempo total de escrita (Seção 3.3.1).</a:t>
            </a:r>
          </a:p>
          <a:p>
            <a:endParaRPr/>
          </a:p>
          <a:p>
            <a:r>
              <a:t>ATENÇÃO — o limiar impresso é 128 KB. Sua anotação diz que o ponto de quebra do rendezvous não era 64 nem 128 KB. Fixe UM valor e alinhe o slide do MPI, este slide e o do tempo de bloqueio. Apresente como parâmetro de projeto; o Cap. 6 propõe varrer 64/128/256 KB.</a:t>
            </a:r>
          </a:p>
          <a:p>
            <a:endParaRPr/>
          </a:p>
          <a:p>
            <a:r>
              <a:t>SE PERGUNTAREM POR QUE NÃO COLETIVA: os offsets são calculáveis e os blocos contíguos, então não há o que a biblioteca agregue; a coletiva exigiria sincronizar ranks que terminam em momentos diferentes. Tentativas preliminares deram deadlock (Cap. 6).</a:t>
            </a:r>
          </a:p>
          <a:p>
            <a:r>
              <a:t>SE PERGUNTAREM POR QUE NÃO MUDAR O FORMATO: quebraria a compatibilidade com a cadeia do planejamento; manter o formato também dá a linha de base para comparar propostas futuras de organização dos arquivos.</a:t>
            </a:r>
          </a:p>
          <a:p>
            <a:endParaRPr/>
          </a:p>
          <a:p>
            <a:r>
              <a:t>posicaoLogica(estagio, cenario, patamar) devolve o ÍNDICE do registro no arquivo; a fórmula explícita não está escrita no Cap. 3 — se a banca puxar esse fio, é aqui que 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 (toca os slides 5, 9 e 13).</a:t>
            </a:r>
          </a:p>
          <a:p>
            <a:r>
              <a:t>3) Validação dos dados com softwares existentes.</a:t>
            </a:r>
          </a:p>
          <a:p>
            <a:endParaRPr/>
          </a:p>
          <a:p>
            <a:r>
              <a:t>ORIGEM DE CADA NÚMERO (Cap. 4):</a:t>
            </a:r>
          </a:p>
          <a:p>
            <a:r>
              <a:t>1) Banda atual AWS: 60,5 Gb/s em 2 nós -&gt; 18,9 (8) -&gt; 4,5 (16) -&gt; 3,4 (32). Total atual: 1.873,56 s em 16 nós contra 2.013,06 s em 32 — a curva vira. Diga 'inverte a escalabilidade': adicionar nós piora.</a:t>
            </a:r>
          </a:p>
          <a:p>
            <a:r>
              <a:t>2) Fração de E/S da atual: 7,6% (8 nós) -&gt; 28,2% (16) -&gt; 49,5% (32). MPI-IO fica &lt;= 1% a partir de 4 nós; 0,70% em 32. Total 2.013,06 -&gt; 1.274,25 s (36,7%; 1,58x). Redução do tempo de E/S: 99,1%.</a:t>
            </a:r>
          </a:p>
          <a:p>
            <a:r>
              <a:t>3) Banda MPI-IO AWS: 57,0 -&gt; 106,0 -&gt; 167,0 -&gt; 274,2 -&gt; 380,3 Gb/s (113,00x em 32). SDumont: 5,5 -&gt; 34,1 Gb/s (13,7x). Monotônica nos dois: o teto do armazenamento não foi atingido.</a:t>
            </a:r>
          </a:p>
          <a:p>
            <a:r>
              <a:t>4) SDumont: pequeno sobrecusto em 2 e 4 nós (1,9% e 0,5%), ganho a partir de 8 nós (0,3%, 19,5% e 40,4%). Redução do tempo de E/S: 96,3%. Lustre COMPARTILHADO, com concorrência de outras cargas — por isso a portabilidade é o resultado mais robusto.</a:t>
            </a:r>
          </a:p>
          <a:p>
            <a:r>
              <a:t>5) OSTs (AWS): 4 -&gt; 10 OSTs amplia a banda ~5,6x em 16 nós e ~23,6x em 32. Mensagem: stripe_count e stripe_size são parâmetro de projeto, não detalhe operacional.</a:t>
            </a:r>
          </a:p>
          <a:p>
            <a:r>
              <a:t>6) Eficiência em 32 nós: 43,5% (AWS) e 41,4% (SDumont). É strong scaling: problema fixo, cada rank resolve menos cenários, custos ~constantes de computação (acesso à memória) deixam de ser amortizados — gargalo COMPUTACIONAL, distinto do de E/S. MPI_File_open/close: 42 s em 2 nós -&gt; 147 s em 32; uma chamada por execução, independe do número de cenários e estágios; a fração de 11,6% está inflada porque o teste tem só 3 estágios mensais.</a:t>
            </a:r>
          </a:p>
          <a:p>
            <a:endParaRPr/>
          </a:p>
          <a:p>
            <a:r>
              <a:t>SE PERGUNTAREM 'e em 2 e 4 nós?': a atual é competitiva ou melhor (na AWS, -6,3% em 4 nós) porque o escritor ainda não saturou e o custo fixo da MPI-IO pesa. O ganho é de escala — e é justamente onde o problema real 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 Ordem proposta: primeiro o que refina a solução entregue, depois o que a estende.</a:t>
            </a:r>
          </a:p>
          <a:p>
            <a:endParaRPr/>
          </a:p>
          <a:p>
            <a:r>
              <a:t>1) Dos 117 arquivos de resultado, 104 são horários e 13 diários; os diários respondem por TODAS as escritas de blocos muito pequenos, porque a aplicação não agrupa os dias (nos horários ela agrupa as 720 horas em uma escrita). A escrita assíncrona mitiga em parte, mas a frequência de requisições pequenas ao Lustre permanece.</a:t>
            </a:r>
          </a:p>
          <a:p>
            <a:r>
              <a:t>2) Liao et al. (2007): bufferização em dois estágios alinhada ao particionamento do sistema de arquivos melhora escritas pequenas e desalinhadas. Objetivo: uma submissão MPI-IO por stripe, logo um OST por requisição, reduzindo contenção entre ranks sobre o mesmo OST.</a:t>
            </a:r>
          </a:p>
          <a:p>
            <a:r>
              <a:t>3) O limiar síncrono/assíncrono adotado é parâmetro de projeto, não medida — daí a proposta de varrer 64/128/256 KB. Cuidado: alinhar com o valor citado nos slides 5, 9 e 13.</a:t>
            </a:r>
          </a:p>
          <a:p>
            <a:r>
              <a:t>4) ESTE É O ITEM DE DEFESA para 'por que não escrita coletiva?'. Tentativas preliminares deram deadlock, atribuído a múltiplas escritas por cenário combinadas ao desalinhamento do número de cenários por rank no bag-of-tasks. Viabilizar exigiria sincronização que reconcilie distribuição dinâmica de tarefas com a semântica coletiva.</a:t>
            </a:r>
          </a:p>
          <a:p>
            <a:r>
              <a:t>5) Redes: EFA/InfiniBand para ver até que ponto a rede deixa de limitar e como escala o custo da coordenação MPI-IO em baixa latência. Escala: acima de 32 nós podem aparecer saturação de metadados e efeitos de coordenação coletiva.</a:t>
            </a:r>
          </a:p>
          <a:p>
            <a:r>
              <a:t>6) Fase de geração de cortes: padrão de comunicação e sincronização diferente do da simulação final. Gargalo computacional: profiling da hierarquia de memória, para separar efeitos de computação e de E/S na eficiência paralela.</a:t>
            </a:r>
          </a:p>
          <a:p>
            <a:endParaRPr/>
          </a:p>
          <a:p>
            <a:r>
              <a:t>SE PERGUNTAREM POR WEAK SCALING: o estudo é deliberadamente strong scaling (caso fixo, nós variáveis), porque a pergunta de negócio é 'o mesmo PMO roda mais rápido com mais nós?'. Weak scaling entra aqui, como continuidade.</a:t>
            </a:r>
          </a:p>
          <a:p>
            <a:endParaRPr/>
          </a:p>
          <a:p>
            <a:r>
              <a:t>Limitação operacional, se perguntarem: a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441724" cy="1643527"/>
          </a:xfrm>
        </p:spPr>
        <p:txBody>
          <a:bodyPr/>
          <a:lstStyle/>
          <a:p>
            <a:pPr algn="l"/>
            <a:r>
              <a:rPr lang="pt-BR" sz="2800" b="0" i="0" u="none" strike="noStrike" baseline="0" dirty="0">
                <a:latin typeface="NimbusRomNo9L-Medi"/>
              </a:rPr>
              <a:t>Escalando a E/S do SDDP em Ambientes HPC: da Escrita</a:t>
            </a:r>
            <a:br>
              <a:rPr lang="pt-BR" sz="2800" b="0" i="0" u="none" strike="noStrike" baseline="0" dirty="0">
                <a:latin typeface="NimbusRomNo9L-Medi"/>
              </a:rPr>
            </a:br>
            <a:r>
              <a:rPr lang="pt-BR" sz="2800" b="0" i="0" u="none" strike="noStrike" baseline="0" dirty="0">
                <a:latin typeface="NimbusRomNo9L-Medi"/>
              </a:rPr>
              <a:t>Serializada as Escritas Paralelas com MPI-IO sobre Lustre</a:t>
            </a:r>
            <a:endParaRPr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300082"/>
          </a:xfrm>
        </p:spPr>
        <p:txBody>
          <a:bodyPr/>
          <a:lstStyle/>
          <a:p>
            <a:endParaRPr sz="15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996170"/>
          </a:xfrm>
        </p:spPr>
        <p:txBody>
          <a:bodyPr/>
          <a:lstStyle/>
          <a:p>
            <a:r>
              <a:rPr sz="2800" dirty="0"/>
              <a:t>Marcelo Barros da Cruz </a:t>
            </a:r>
          </a:p>
          <a:p>
            <a:r>
              <a:rPr sz="2800" dirty="0"/>
              <a:t>Agosto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Caso de estudo — o SDDP: na simulação final os cenários são independentes (bag-of-tasks) e cada processo grava um bloco contíguo por (estágio, cenário), que a resolução horária amplia em uma ordem de grandeza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dirty="0"/>
              <a:t>O HPC oferece as duas peças para esse padrão: o Lustre entrega banda agregada que cresce com o número de OSTs, e a MPI-IO permite que vários processos gravem em offsets distintos de um mesmo arquivo</a:t>
            </a:r>
            <a:endParaRPr lang="en-US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Mas essa banda é potencial, não automática: um único rank escritor converte a E/S em comunicação ponto a ponto e a serializa — o limite passa a ser a rede do nó escritor, não o armazenamento</a:t>
            </a:r>
            <a:endParaRPr lang="en-US" sz="1600" dirty="0"/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 dirty="0">
                <a:solidFill>
                  <a:srgbClr val="2F5893"/>
                </a:solidFill>
              </a:rPr>
              <a:t>Por </a:t>
            </a:r>
            <a:r>
              <a:rPr sz="1700" b="1" dirty="0" err="1">
                <a:solidFill>
                  <a:srgbClr val="2F5893"/>
                </a:solidFill>
              </a:rPr>
              <a:t>tarefa</a:t>
            </a:r>
            <a:r>
              <a:rPr sz="1700" b="1" dirty="0">
                <a:solidFill>
                  <a:srgbClr val="2F5893"/>
                </a:solidFill>
              </a:rPr>
              <a:t> (</a:t>
            </a:r>
            <a:r>
              <a:rPr sz="1700" b="1" dirty="0" err="1">
                <a:solidFill>
                  <a:srgbClr val="2F5893"/>
                </a:solidFill>
              </a:rPr>
              <a:t>estágio</a:t>
            </a:r>
            <a:r>
              <a:rPr sz="1700" b="1" dirty="0">
                <a:solidFill>
                  <a:srgbClr val="2F5893"/>
                </a:solidFill>
              </a:rPr>
              <a:t>, </a:t>
            </a:r>
            <a:r>
              <a:rPr sz="1700" b="1" dirty="0" err="1">
                <a:solidFill>
                  <a:srgbClr val="2F5893"/>
                </a:solidFill>
              </a:rPr>
              <a:t>cenário</a:t>
            </a:r>
            <a:r>
              <a:rPr sz="1700" b="1" dirty="0">
                <a:solidFill>
                  <a:srgbClr val="2F5893"/>
                </a:solidFill>
              </a:rPr>
              <a:t>): 3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→  720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=  240x </a:t>
            </a:r>
            <a:r>
              <a:rPr sz="1700" b="1" dirty="0" err="1">
                <a:solidFill>
                  <a:srgbClr val="2F5893"/>
                </a:solidFill>
              </a:rPr>
              <a:t>mais</a:t>
            </a:r>
            <a:r>
              <a:rPr sz="1700" b="1" dirty="0">
                <a:solidFill>
                  <a:srgbClr val="2F5893"/>
                </a:solidFill>
              </a:rPr>
              <a:t> dados a </a:t>
            </a:r>
            <a:r>
              <a:rPr sz="1700" b="1" dirty="0" err="1">
                <a:solidFill>
                  <a:srgbClr val="2F5893"/>
                </a:solidFill>
              </a:rPr>
              <a:t>persistir</a:t>
            </a:r>
            <a:endParaRPr sz="17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r>
              <a:rPr sz="1200" dirty="0"/>
              <a:t>A carga de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tarefa</a:t>
            </a:r>
            <a:r>
              <a:rPr sz="1200" dirty="0"/>
              <a:t> </a:t>
            </a:r>
            <a:r>
              <a:rPr sz="1200" dirty="0" err="1"/>
              <a:t>não</a:t>
            </a:r>
            <a:r>
              <a:rPr sz="1200" dirty="0"/>
              <a:t> </a:t>
            </a:r>
            <a:r>
              <a:rPr sz="1200" dirty="0" err="1"/>
              <a:t>muda</a:t>
            </a:r>
            <a:r>
              <a:rPr sz="1200" dirty="0"/>
              <a:t> — </a:t>
            </a:r>
            <a:r>
              <a:rPr sz="1200" dirty="0" err="1"/>
              <a:t>cresce</a:t>
            </a:r>
            <a:r>
              <a:rPr sz="1200" dirty="0"/>
              <a:t> o volume de </a:t>
            </a:r>
            <a:r>
              <a:rPr sz="1200" dirty="0" err="1"/>
              <a:t>saída</a:t>
            </a:r>
            <a:r>
              <a:rPr sz="1200" dirty="0"/>
              <a:t>, e o </a:t>
            </a:r>
            <a:r>
              <a:rPr sz="1200" dirty="0" err="1"/>
              <a:t>gargalo</a:t>
            </a:r>
            <a:r>
              <a:rPr sz="1200" dirty="0"/>
              <a:t> </a:t>
            </a:r>
            <a:r>
              <a:rPr sz="1200" dirty="0" err="1"/>
              <a:t>migra</a:t>
            </a:r>
            <a:r>
              <a:rPr sz="1200" dirty="0"/>
              <a:t> da CPU para a E/S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Tempo médio de envio por classe de tamanho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235646"/>
            <a:ext cx="5701436" cy="3536333"/>
          </a:xfrm>
          <a:prstGeom prst="rect">
            <a:avLst/>
          </a:prstGeom>
        </p:spPr>
      </p:pic>
      <p:pic>
        <p:nvPicPr>
          <p:cNvPr id="8" name="Picture 7" descr="Experimento_O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86" y="1811601"/>
            <a:ext cx="5462972" cy="438442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Diagnóstico: o escritor único inverte a escalabilidade — na AWS a banda percebida cai de 60,5 para 3,4 Gb/s entre 2 e 32 nós, e o melhor tempo total ocorre em 16 nós, não em 32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O contraste é qualitativo, não pontual: a banda da MPI-IO cresce monotonicamente até 380 Gb/s (113×) na AWS e 34 Gb/s (13,7×) no SDumont — o armazenamento ainda não saturou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Portabilidade: o mesmo padrão se repete em nuvem dedicada e em supercomputador compartilhado (40,4% de redução em 32 nós no SDumont)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Dimensionar o Lustre é parte do ganho: passar de 4 para 10 OSTs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Limites assumidos: eficiência de 43,5% em 32 nós (strong scaling, gargalo de computação) e MPI_File_open/close em 11,6% do tempo — custo fixo por execução, não por carga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24386</TotalTime>
  <Words>5911</Words>
  <Application>Microsoft Office PowerPoint</Application>
  <PresentationFormat>Widescreen</PresentationFormat>
  <Paragraphs>275</Paragraphs>
  <Slides>20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Arial</vt:lpstr>
      <vt:lpstr>Calibri</vt:lpstr>
      <vt:lpstr>F70</vt:lpstr>
      <vt:lpstr>Myriad Pro</vt:lpstr>
      <vt:lpstr>NimbusRomNo9L-Medi</vt:lpstr>
      <vt:lpstr>Open Sans</vt:lpstr>
      <vt:lpstr>Wingdings</vt:lpstr>
      <vt:lpstr>content</vt:lpstr>
      <vt:lpstr>Escalando a E/S do SDDP em Ambientes HPC: da Escrita Serializada as Escritas Paralelas com MPI-IO sobre Lustre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Caracterização do perfil de E/S</vt:lpstr>
      <vt:lpstr>Banda agregada — AWS</vt:lpstr>
      <vt:lpstr>Tempo de execução — AWS</vt:lpstr>
      <vt:lpstr>Tempo de bloqueio dos envios por tamanho — AWS</vt:lpstr>
      <vt:lpstr>Efeito do número de OSTs no Lustre</vt:lpstr>
      <vt:lpstr>Banda agregada — SDumont</vt:lpstr>
      <vt:lpstr>Tempo de execução — SDumont</vt:lpstr>
      <vt:lpstr>Tempo de bloqueio dos envios por tamanho — SDumont</vt:lpstr>
      <vt:lpstr>Conclusões</vt:lpstr>
      <vt:lpstr>Trabalhos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468</cp:revision>
  <dcterms:created xsi:type="dcterms:W3CDTF">2024-01-10T21:29:53Z</dcterms:created>
  <dcterms:modified xsi:type="dcterms:W3CDTF">2026-08-18T01:51:53Z</dcterms:modified>
</cp:coreProperties>
</file>