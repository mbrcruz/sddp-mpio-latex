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7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23426E"/>
    <a:srgbClr val="FF7A4F"/>
    <a:srgbClr val="00ADA1"/>
    <a:srgbClr val="990033"/>
    <a:srgbClr val="162944"/>
    <a:srgbClr val="2F5893"/>
    <a:srgbClr val="ACBBD0"/>
    <a:srgbClr val="4D7980"/>
    <a:srgbClr val="3E6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293" autoAdjust="0"/>
  </p:normalViewPr>
  <p:slideViewPr>
    <p:cSldViewPr snapToGrid="0">
      <p:cViewPr varScale="1">
        <p:scale>
          <a:sx n="67" d="100"/>
          <a:sy n="67" d="100"/>
        </p:scale>
        <p:origin x="1296" y="5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02A2CF-32D5-4D4E-B710-CC654E292E38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4FC1F3-6408-419A-A05A-0888B79047D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0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Capa. Preencher orientador e banca — ainda estão como placeholder no dissertacao.tex (pendência já mapeada na avaliação de banca).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GANCHO DE ABERTURA — deixar na tela enquanto a banca se acomoda. Não responder agora.</a:t>
            </a:r>
          </a:p>
          <a:p>
            <a:endParaRPr/>
          </a:p>
          <a:p>
            <a:r>
              <a:t>A foto estabelece MAGNITUDE, não a resposta: a plateia sente a escala da máquina antes da pergunta, sem que nada seja antecipado. Os números de apoio estão na linha sob o título.</a:t>
            </a:r>
          </a:p>
          <a:p>
            <a:endParaRPr/>
          </a:p>
          <a:p>
            <a:r>
              <a:t>A pergunta é sobre ESCALABILIDADE, não sobre quantos cores. A montagem entrega abundância dos dois lados — máquina enorme e tarefas de sobra — e deixa a pergunta em aberto. A resposta contraintuitiva (não, não com a arquitetura atual) é a tese, e volta no último slide.</a:t>
            </a:r>
          </a:p>
          <a:p>
            <a:endParaRPr/>
          </a:p>
          <a:p>
            <a:r>
              <a:t>Parâmetros condicionados como HIPOTÉTICO: você não rodou esse caso e o SHOTGUN não foi testado.</a:t>
            </a:r>
          </a:p>
          <a:p>
            <a:endParaRPr/>
          </a:p>
          <a:p>
            <a:r>
              <a:t>SHOTGUN: todos os problemas (estágio, cenário) resolvidos de forma independente, sem sincronização entre estágios — é o que libera o paralelismo máximo: 10.000 x 120 = 1.200.000 tarefas.</a:t>
            </a:r>
          </a:p>
          <a:p>
            <a:endParaRPr/>
          </a:p>
          <a:p>
            <a:r>
              <a:t>Escala contra o experimento (1.536 cenários x 3 estágios = 4.608 tarefas):</a:t>
            </a:r>
          </a:p>
          <a:p>
            <a:r>
              <a:t>  - 260x mais tarefas</a:t>
            </a:r>
          </a:p>
          <a:p>
            <a:r>
              <a:t>  - 864 milhões de registros horários contra 3,3 milhões = 260x mais dados a gravar</a:t>
            </a:r>
          </a:p>
          <a:p>
            <a:r>
              <a:t>  - 1.200.000 ranks úteis = 8,7% dos cores do LineShine</a:t>
            </a:r>
          </a:p>
          <a:p>
            <a:endParaRPr/>
          </a:p>
          <a:p>
            <a:r>
              <a:t>CREDITAR A FOTO: acrescente a fonte da imagem (uma linha discreta no canto, ou menção verbal). É foto de terceiros e a defesa é sessão pública — creditar resolve.</a:t>
            </a:r>
          </a:p>
          <a:p>
            <a:endParaRPr/>
          </a:p>
          <a:p>
            <a:r>
              <a:t>NÃO prometer tempo de execução — não foi medido.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ENQUADRAMENTO: contexto de HPC, não de planejamento energético. A banca do PESC é de computação — o terreno seguro é o gargalo de E/S, não o modelo de operação.</a:t>
            </a:r>
          </a:p>
          <a:p/>
          <a:p>
            <a:r>
              <a:t>Sequência de fala:</a:t>
            </a:r>
          </a:p>
          <a:p>
            <a:r>
              <a:t>1) O SDDP entra APENAS como carga de trabalho. Simulação final = política já convergida, avaliada sobre muitos cenários; os cenários são independentes por construção, sem estado compartilhado nem coordenação — logo, bag-of-tasks (Cirne, 2003). Em resolução horária cada par (estágio, cenário) vira um bloco contíguo uma ordem de grandeza maior. Frase-chave: a tarefa não termina quando o cenário é resolvido, termina quando o resultado está em disco. Não entrar em SDDP como algoritmo de otimização.</a:t>
            </a:r>
          </a:p>
          <a:p>
            <a:r>
              <a:t>2) As duas peças que o HPC oferece para esse padrão. Lustre: separação entre o fluxo de metadados (MDS/MDT) e o de dados (OSS/OST); a banda agregada escala com o número de OSTs. MPI-IO: no padrão desde o MPI-2; a escrita independente (MPI_File_write_at / iwrite_at) casa exatamente com este workload — offsets calculáveis, blocos contíguos por processo, ranks terminando em momentos diferentes, sem necessidade de sincronização global.</a:t>
            </a:r>
          </a:p>
          <a:p>
            <a:r>
              <a:t>3) O anti-padrão. Concentrar a E/S em um rank escritor transforma E/S em comunicação ponto a ponto: MPI_Send do trabalhador, MPI_Recv do escritor, gravação serializada. Dois gargalos (Seção 2.6, Arquitetura atual de E/S do SDDP): o adaptador de rede do nó escritor, que recebe todos os buffers e ainda divide a NIC com o rank 0 distribuidor; e o caminho de escrita, sequencial em um só processo. Efeito colateral: atraso do escritor bloqueia os trabalhadores no Send.</a:t>
            </a:r>
          </a:p>
          <a:p>
            <a:r>
              <a:t>4) A figura: um requisito do domínio mudou a granularidade do resultado — de 3 registros por tarefa (patamares pesado/médio/leve) para 720 (horas do mês). 240x mais dados a persistir, com a mesma computação por tarefa.</a:t>
            </a:r>
          </a:p>
          <a:p/>
          <a:p>
            <a:r>
              <a:t>LASTRO NA DISSERTAÇÃO (se pedirem referência): descompasso entre cálculo e E/S em escala — Luu et al. 2015, Xie et al. 2020, Phillips et al. 2009; bag-of-tasks — Cirne et al. 2003; Lustre — Braam 2002 e o Operations Manual; MPI-IO — MPI-2 / MPI 5.0; escritas independentes sobre Lustre — Dickens &amp; Logan 2008/2010, Liao et al. 2007.</a:t>
            </a:r>
          </a:p>
          <a:p/>
          <a:p>
            <a:r>
              <a:t>SE PERGUNTAREM POR QUE A RESOLUÇÃO MUDOU: uma frase e seguir — a operação passou a exigir resolução horária para representar ponta, vales e rampas associados à variabilidade das fontes intermitentes. Não se alongar; o mérito do trabalho não depende disso.</a:t>
            </a:r>
          </a:p>
          <a:p/>
          <a:p>
            <a:r>
              <a:t>Números de reserva: no caso avaliado (1.536 cenários x 3 estágios), 13.824 -&gt; 3.317.760 registros.</a:t>
            </a:r>
          </a:p>
          <a:p>
            <a:r>
              <a:t>NÃO mencionar a solução aqui — decisão do seu roteiro.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Conteúdo extraído da Seção 1.2 (Objetivos e Contribuições) da dissertação — mantém a mesma delimitação do texto.</a:t>
            </a:r>
          </a:p>
          <a:p>
            <a:endParaRPr/>
          </a:p>
          <a:p>
            <a:r>
              <a:t>Quatro exclusões: a construção da política (outra fase), a otimização do cálculo dentro da simulação final, a leitura dos dados de entrada e o escalonamento entre ranks.</a:t>
            </a:r>
          </a:p>
          <a:p>
            <a:endParaRPr/>
          </a:p>
          <a:p>
            <a:r>
              <a:t>A segunda é a mais importante de dizer em voz alta: dentro da fase escolhida, o trabalho mexe SÓ na escrita. O tempo de computação por cenário entra como dado, não como variável — por isso ele aparece praticamente constante entre as duas implementações nos gráficos do Cap. 4, e isso é esperado, não um resultado fraco.</a:t>
            </a:r>
          </a:p>
          <a:p>
            <a:endParaRPr/>
          </a:p>
          <a:p>
            <a:r>
              <a:t>POR QUE MOSTRAR O FORA DO ESCOPO: a delimitação isola a paralelização das escritas como variável de estudo, sem confundir os ganhos com outras frentes de otimização. Dizer isso em voz alta antecipa perguntas do tipo 'e por que não otimizaram a leitura / o escalonamento?'.</a:t>
            </a:r>
          </a:p>
          <a:p>
            <a:endParaRPr/>
          </a:p>
          <a:p>
            <a:r>
              <a:t>As 5 contribuições são o slide ao qual a banca mais volta na arguição — saber enunciá-las de cor.</a:t>
            </a:r>
          </a:p>
          <a:p>
            <a:r>
              <a:t>Marcadores quadrados no padrão do modelo (Wingdings).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em duas colunas: à esquerda a comunicação ponto-a-ponto, à direita a E/S paralela.</a:t>
            </a:r>
          </a:p>
          <a:p>
            <a:endParaRPr/>
          </a:p>
          <a:p>
            <a:r>
              <a:t>ESQUERDA — protocolos Eager e Rendezvous (roteiro: 'por que eager e rendez-vous?'):</a:t>
            </a:r>
          </a:p>
          <a:p>
            <a:r>
              <a:t>  - Eager: mensagem pequena vai direto, sem negociação — latência menor.</a:t>
            </a:r>
          </a:p>
          <a:p>
            <a:r>
              <a:t>  - Rendezvous: mensagem grande negocia antes de transferir — controle de fluxo.</a:t>
            </a:r>
          </a:p>
          <a:p>
            <a:r>
              <a:t>  - É essa assimetria que inspira o limiar de 128 KB entre escrita assíncrona e síncrona no Cap. 3.</a:t>
            </a:r>
          </a:p>
          <a:p>
            <a:r>
              <a:t>  - CONFERIR o ponto de quebra: sua conclusão registra que não era 64 KB nem 128 KB.</a:t>
            </a:r>
          </a:p>
          <a:p>
            <a:endParaRPr/>
          </a:p>
          <a:p>
            <a:r>
              <a:t>DIREITA — escritas independentes x coletivas em MPI-IO:</a:t>
            </a:r>
          </a:p>
          <a:p>
            <a:r>
              <a:t>  - Independente: cada rank grava sua própria região do arquivo, sem coordenação.</a:t>
            </a:r>
          </a:p>
          <a:p>
            <a:r>
              <a:t>  - Coletiva: os ranks passam por agregadores, que reorganizam e gravam em regiões maiores.</a:t>
            </a:r>
          </a:p>
          <a:p>
            <a:r>
              <a:t>  - A coletiva ajuda quando os acessos são pequenos e intercalados (strides); custa sincronização.</a:t>
            </a:r>
          </a:p>
          <a:p>
            <a:r>
              <a:t>  - O SDDP tem ACESSO CONTÍGUO e offsets calculáveis, então a proposta usa escrita INDEPENDENTE — evita o custo de coordenação sem perder desempenho. Dizer isso aqui já justifica a escolha do Cap. 3.</a:t>
            </a:r>
          </a:p>
          <a:p>
            <a:endParaRPr/>
          </a:p>
          <a:p>
            <a:r>
              <a:t>Completar, se houver tempo: data sieving e two-phase I/O (itens do seu roteiro).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Componentes: MDS/MDT (metadados), OSS/OST (dados), cliente.</a:t>
            </a:r>
          </a:p>
          <a:p>
            <a:r>
              <a:t>Striping: stripe_count e stripe_size distribuem um arquivo entre OSTs. Configuração usada: stripe_count=10, stripe_size=1 MB.</a:t>
            </a:r>
          </a:p>
          <a:p>
            <a:r>
              <a:t>MENSAGEM-CHAVE: o paralelismo do Lustre só é aproveitado se a aplicação escrever em paralelo — com um escritor único, o sistema de arquivos fica ocioso.</a:t>
            </a:r>
          </a:p>
          <a:p>
            <a:r>
              <a:t>Se sobrar tempo, usar Lustre_striping.png como segundo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Cada cenário resolvido envia seu bloco de resultados via MPI_Send ao rank 0, que serializa as gravações.</a:t>
            </a:r>
          </a:p>
          <a:p>
            <a:r>
              <a:t>Dois gargalos potenciais: (1) o adaptador de rede do nó escritor, que recebe todas as transferências concorrentes; (2) o caminho de escrita serializado, que não aproveita o paralelismo do Lustre.</a:t>
            </a:r>
          </a:p>
          <a:p>
            <a:r>
              <a:t>Roteiro (docx): cuidado com a explicação do SDDP — manter curto. Se precisar, um slide antes com cenários x estágios e o formato dos arquivos.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Rank 0 deixa de ser escritor: cada rank grava diretamente no Lustre via MPI-IO.</a:t>
            </a:r>
          </a:p>
          <a:p>
            <a:r>
              <a:t>Contrastar visualmente com o slide anterior — é a mesma figura sem o funil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FLUXO EM 5 ETAPAS — cinco imagens cumulativas empilhadas no mesmo retângulo, uma por nó do fluxo.</a:t>
            </a:r>
          </a:p>
          <a:p>
            <a:r>
              <a:t>ANIMAR: aplicar entrada Aparecer, ao clicar, em 'Fluxo passo 2 (animar)' até 'Fluxo passo 5 (animar)', nesta ordem. O passo 1 fica visível desde o início. Cada imagem é opaca e cobre a anterior, então o resultado é um fluxo que cresce a cada clique.</a:t>
            </a:r>
          </a:p>
          <a:p>
            <a:endParaRPr/>
          </a:p>
          <a:p>
            <a:r>
              <a:t>ROTEIRO DE FALA (um clique por item):</a:t>
            </a:r>
          </a:p>
          <a:p>
            <a:r>
              <a:t>1) BLOCO DE RESULTADO DO CENÁRIO — cada cenário resolvido produz um bloco a persistir. Até aqui nada de novo.</a:t>
            </a:r>
          </a:p>
          <a:p>
            <a:r>
              <a:t>2) CÁLCULO DO OFFSET — o ponto central da proposta. A posição do bloco no arquivo é calculável a partir de (estágio, cenário, hora), então cada processo sabe onde escrever SEM perguntar a ninguém: nenhuma coordenação, nenhum processo intermediário. Vale gastar tempo neste clique.</a:t>
            </a:r>
          </a:p>
          <a:p>
            <a:r>
              <a:t>3) TESTE DE TAMANHO — o bloco é comparado ao limiar de 128 KB. Parâmetro de projeto, não medida.</a:t>
            </a:r>
          </a:p>
          <a:p>
            <a:r>
              <a:t>4) OS DOIS CAMINHOS — abaixo de 128 KB vai pelo assíncrono (MPI_File_iwrite_at), porque o custo fixo de coordenação dominaria o tempo de transferência; de 128 KB para cima vai pelo síncrono (MPI_File_write_at), porque a transferência já supera esse custo fixo. A racionalidade é análoga à dos protocolos Eager e Rendezvous, do slide de MPI — vale fazer a ligação explícita aqui.</a:t>
            </a:r>
          </a:p>
          <a:p>
            <a:r>
              <a:t>5) ARQUIVO COMPARTILHADO — os dois caminhos convergem para o MESMO arquivo. Não há concatenação posterior nem arquivo por processo: o formato final é idêntico ao que a cadeia de softwares do planejamento já consome. É o que permite trocar a arquitetura de E/S sem tocar em nada a jusante.</a:t>
            </a:r>
          </a:p>
          <a:p>
            <a:endParaRPr/>
          </a:p>
          <a:p>
            <a:r>
              <a:t>O limiar de 128 KB é parâmetro de projeto; o refino empírico (64/128/256 KB) está em trabalhos futuros.</a:t>
            </a:r>
          </a:p>
          <a:p>
            <a:r>
              <a:t>CONFERIR: sua conclusão registra que o ponto de quebra do rendezvous não era 64 KB nem 128 KB — alinhar o número antes da defesa.</a:t>
            </a:r>
          </a:p>
          <a:p>
            <a:endParaRPr/>
          </a:p>
          <a:p>
            <a:r>
              <a:t>Figura redesenhada a partir da Figura 3.3 da dissertação, para permitir a construção por etapas.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 duas figuras juntas formam o argumento — separadas, cada uma conta metade da história.</a:t>
            </a:r>
          </a:p>
          <a:p>
            <a:endParaRPr/>
          </a:p>
          <a:p>
            <a:r>
              <a:t>ESQUERDA (4.1): predominância de requisições PEQUENAS. É o que torna o workload hostil ao Lustre e o que justifica o limiar de 128 KB no Cap. 3.</a:t>
            </a:r>
          </a:p>
          <a:p>
            <a:endParaRPr/>
          </a:p>
          <a:p>
            <a:r>
              <a:t>DIREITA (4.2): o VOLUME se concentra nos blocos maiores.</a:t>
            </a:r>
          </a:p>
          <a:p>
            <a:endParaRPr/>
          </a:p>
          <a:p>
            <a:r>
              <a:t>A LEITURA CONJUNTA: a maior parte das operações é pequena, mas a maior parte dos bytes está em poucas operações grandes. Ou seja, o custo não é proporcional ao volume — são as muitas requisições pequenas que pagam o custo fixo de coordenação. É exatamente por isso que faz sentido tratar os dois regimes de forma diferente (assíncrono para pequenos, síncrono para grandes).</a:t>
            </a:r>
          </a:p>
          <a:p>
            <a:endParaRPr/>
          </a:p>
          <a:p>
            <a:r>
              <a:t>Conclusão do seu docx: não é vantajoso ter muitos arquivos pequenos, por causa da operação coletiva — agrupar resultados menores. Liga direto com o trabalho futuro de reorganizar os arquivos diários.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UM SLIDE COM ANIMAÇÃO. Abre só com a implementação atual; ao CLICAR, as barras do MPI-IO aparecem com fade. São duas imagens sobrepostas no mesmo retângulo — a de cima ('MPI-IO (animar)') tem fundo transparente e só contém as barras hachuradas mais a entrada da legenda.</a:t>
            </a:r>
          </a:p>
          <a:p>
            <a:endParaRPr/>
          </a:p>
          <a:p>
            <a:r>
              <a:t>COMEÇAR OS EXPERIMENTOS POR AQUI (decisão do seu roteiro).</a:t>
            </a:r>
          </a:p>
          <a:p>
            <a:endParaRPr/>
          </a:p>
          <a:p>
            <a:r>
              <a:t>ANTES DO CLIQUE — mensagem: a banda não cresce com o número de nós, ela CAI. De 60,5 Gb/s em 2 nós para 3,4 Gb/s em 32 nós. Dobrar o hardware piora a banda percebida pela aplicação. Deixe a plateia absorver isso antes de clicar.</a:t>
            </a:r>
          </a:p>
          <a:p>
            <a:r>
              <a:t>O eixo y vai até 470 Gb/s com espaço vazio acima: é de propósito, é onde o MPI-IO vai entrar.</a:t>
            </a:r>
          </a:p>
          <a:p>
            <a:endParaRPr/>
          </a:p>
          <a:p>
            <a:r>
              <a:t>DEPOIS DO CLIQUE: em 32 nós, 380,3 contra 3,4 Gb/s = 113x mais banda, e o sentido da curva se inverte — o MPI-IO cresce com os nós (57,0 / 106,0 / 167,0 / 274,2 / 380,3).</a:t>
            </a:r>
          </a:p>
          <a:p>
            <a:r>
              <a:t>Em 2 nós as duas são equivalentes (60,5 contra 57,0) e a atual é levemente melhor. DIZER ISSO: o ganho aparece com escala, não em qualquer regime — e o Cap. 6 precisa registrar isso.</a:t>
            </a:r>
          </a:p>
          <a:p>
            <a:endParaRPr/>
          </a:p>
          <a:p>
            <a:r>
              <a:t>SE APRESENTAR NO GOOGLE APRESENTAÇÕES: a animação é descartada na importação e as duas séries aparecem juntas de saída. Nesse caso use o arquivo de reserva Apresentacao_esqueleto_banda_2slides.pptx, ou recrie a animação em Inserir &gt; Animação &gt; Aparecer, 'ao clicar', na imagem 'MPI-IO (animar)'.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só a implementação atual. Números: 8.971 s em 2 nós, caindo até 1.874 s em 16 nós, e SUBINDO para 2.013 s em 32 nós. A regressão é significativa: IC 95% não se sobrepõem (1.874 ± 71 contra 2.013 ± 36). Em 32 nós a E/S é 49,5% do tempo.</a:t>
            </a:r>
          </a:p>
          <a:p>
            <a:r>
              <a:t>Deixe a plateia ver que dobrar de 16 para 32 nós PIORA o tempo antes de clicar.</a:t>
            </a:r>
          </a:p>
          <a:p>
            <a:endParaRPr/>
          </a:p>
          <a:p>
            <a:r>
              <a:t>DEPOIS DO CLIQUE — MPI-IO: 1.274 s em 32 nós, 1,58x mais rápido, e continua escalando de 16 para 32. A E/S cai de 49,5% para 0,7%.</a:t>
            </a:r>
          </a:p>
          <a:p>
            <a:r>
              <a:t>ASSUMA A RESSALVA: em 32 nós há apenas 2 cenários por rank, então parte da perda de eficiência é granularidade. Sua defesa: a fração de E/S é medida e instrumentada, não inferida por resíduo.</a:t>
            </a:r>
          </a:p>
          <a:p>
            <a:r>
              <a:t>Novo limite visível: MPI_File_open/close chega a 11,6% do tempo em 32 nós.</a:t>
            </a:r>
          </a:p>
          <a:p>
            <a:endParaRPr/>
          </a:p>
          <a:p>
            <a:r>
              <a:t>--- nota anterior ---</a:t>
            </a:r>
          </a:p>
          <a:p>
            <a:r>
              <a:t>USAR A VERSÃO EM ANIMAÇÃO (Tempo_execucao_AWS_transicao_2slides.pptx): primeiro só a implementação atual, depois o MPI-IO aparece.</a:t>
            </a:r>
          </a:p>
          <a:p>
            <a:r>
              <a:t>Números: 8.971 s em 2 nós → 1.874 s em 16 nós → 2.013 s em 32 nós (PIORA 7,4%; IC 95% não se sobrepõem).</a:t>
            </a:r>
          </a:p>
          <a:p>
            <a:r>
              <a:t>Em 32 nós a E/S é 49,5% do tempo. Com MPI-IO: 1.274 s (1,58x mais rápido), E/S cai para 0,7%.</a:t>
            </a:r>
          </a:p>
          <a:p>
            <a:r>
              <a:t>ASSUMIR A RESSALVA: em 32 nós há só 2 cenários por rank — parte da perda é granularidade. Defesa: a fração de E/S é medida, não inferida.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Roteiro (docx): 'tempo de bloqueio dos blocos'.</a:t>
            </a:r>
          </a:p>
          <a:p>
            <a:r>
              <a:t>Aqui aparece a transição eager/rendezvous. CONFERIR o ponto de quebra — sua conclusão diz que não era 64 KB nem 128 KB.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Experimento de sensibilidade: 4 OSTs contra 10 OSTs, com TODOS os demais parâmetros constantes — mesma base PMO/PAR de outubro de 2023, 1.536 cenários, 3 estágios mensais, 24 ranks por nó e mesma instrumentação MPI-IO. Rodada dedicada, portanto os valores absolutos são diretamente comparáveis.</a:t>
            </a:r>
          </a:p>
          <a:p>
            <a:endParaRPr/>
          </a:p>
          <a:p>
            <a:r>
              <a:t>ESQUERDA (4.7): a banda agregada percebida pela aplicação — o EFEITO.</a:t>
            </a:r>
          </a:p>
          <a:p>
            <a:r>
              <a:t>DIREITA (4.6): o tempo de envio por classe de tamanho de mensagem — a CAUSA.</a:t>
            </a:r>
          </a:p>
          <a:p>
            <a:endParaRPr/>
          </a:p>
          <a:p>
            <a:r>
              <a:t>Ordem alinhada ao seu roteiro, que manda começar pela banda: primeiro o resultado que interessa (mais OSTs, mais banda), depois o mecanismo que o explica (as requisições se distribuem entre mais servidores de objeto e o tempo por operação cai). É a evidência que sustenta a contribuição de 'orientações para o dimensionamento do sistema de arquivos'.</a:t>
            </a:r>
          </a:p>
          <a:p>
            <a:endParaRPr/>
          </a:p>
          <a:p>
            <a:r>
              <a:t>PENDÊNCIA: a avaliação de banca apontou a Subseção 4.1.4 (OSTs) como estruturalmente anômala no texto — vale reposicionar no capítulo, embora no slide o par funcione bem aqui.</a:t>
            </a:r>
          </a:p>
          <a:p>
            <a:r>
              <a:t>A configuração de 10 OSTs é a mesma do Experimento AWS principal; stripe_count=10 e stripe_size=1 MB ainda carecem de justificativa quantitativa no texto (outra pendência mapeada).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AMBIENTE DIFERENTE: nunca comparar com a AWS lado a lado — hardware, rede e Lustre distintos (aqui o Lustre é compartilhado). Apresentar como verificação de PORTABILIDADE do comportamento, não como comparação de desempenho.</a:t>
            </a:r>
          </a:p>
          <a:p>
            <a:endParaRPr/>
          </a:p>
          <a:p>
            <a:r>
              <a:t>ANTES DO CLIQUE — a atual cai de 27,9 Gb/s em 2 nós para 2,5 Gb/s em 32 nós. Mesmo padrão da AWS.</a:t>
            </a:r>
          </a:p>
          <a:p>
            <a:r>
              <a:t>Note as barras de erro largas em 2, 4 e 8 nós: é Lustre compartilhado com outros usuários, e essa variabilidade é esperada. Se perguntarem, essa é a resposta.</a:t>
            </a:r>
          </a:p>
          <a:p>
            <a:endParaRPr/>
          </a:p>
          <a:p>
            <a:r>
              <a:t>DEPOIS DO CLIQUE — MPI-IO cresce com os nós: 5,5 / 8,9 / 12,1 / 18,9 / 34,1 Gb/s. Em 32 nós, 34,1 contra 2,5 = 13,6x. O sentido da curva se inverte, como na AWS.</a:t>
            </a:r>
          </a:p>
          <a:p>
            <a:r>
              <a:t>Em 2, 4 e 8 nós a atual é MELHOR que a MPI-IO neste ambiente — dizer isso. O ganho aparece a partir de 16 nós, e é o Cap. 6 que precisa registrar essa ressalva.</a:t>
            </a:r>
          </a:p>
          <a:p>
            <a:endParaRPr/>
          </a:p>
          <a:p>
            <a:r>
              <a:t>--- nota anterior ---</a:t>
            </a:r>
          </a:p>
          <a:p>
            <a:r>
              <a:t>AMBIENTE DIFERENTE: nunca comparar AWS e SDumont lado a lado — parâmetros e hardware distintos. Apresentar como verificação de portabilidade do comportamento, não como comparação de desempenho.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a atual: 14.524 s em 2 nós, decresce até 3.130 s em 16 nós e volta a subir para 3.744 s em 32 nós. Mesma inversão observada na AWS, em hardware completamente diferente.</a:t>
            </a:r>
          </a:p>
          <a:p>
            <a:r>
              <a:t>MENSAGEM CENTRAL DO SLIDE: o gargalo não é artefato de um ambiente específico.</a:t>
            </a:r>
          </a:p>
          <a:p>
            <a:endParaRPr/>
          </a:p>
          <a:p>
            <a:r>
              <a:t>DEPOIS DO CLIQUE — MPI-IO: 2.519 s em 16 nós e 2.233 s em 32 nós, ainda escalando. Em 32 nós, 3.744 contra 2.233 = 1,68x mais rápido.</a:t>
            </a:r>
          </a:p>
          <a:p>
            <a:r>
              <a:t>Em 2 e 4 nós as duas praticamente empatam (14.524 contra 14.796; 7.758 contra 7.800), com leve vantagem da atual — mesma ressalva da AWS.</a:t>
            </a:r>
          </a:p>
          <a:p>
            <a:endParaRPr/>
          </a:p>
          <a:p>
            <a:r>
              <a:t>Dados: pasta 'Sem rede' (atual) e 'Sem rede - MPIO - ASYNC' (MPI-IO). Existe também uma pasta ASYNC-FIX com números melhores em 32 nós (1.808 s) que NÃO é a usada nas figuras da dissertação — não citar para não gerar inconsistência.</a:t>
            </a:r>
          </a:p>
          <a:p>
            <a:endParaRPr/>
          </a:p>
          <a:p>
            <a:r>
              <a:t>--- nota anterior ---</a:t>
            </a:r>
          </a:p>
          <a:p>
            <a:r>
              <a:t>Mesmo padrão qualitativo: decresce até 16 nós e perde eficiência rapidamente nas maiores escalas (14.524 s em 2 nós).</a:t>
            </a:r>
          </a:p>
          <a:p>
            <a:r>
              <a:t>Mensagem: o gargalo não é artefato de um ambiente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Fecha a caracterização no segundo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ATENÇÃO — pendências que você mesmo anotou no docx:</a:t>
            </a:r>
          </a:p>
          <a:p>
            <a:r>
              <a:t>1) 'Erro grave nas conclusões: decorrente da saturação do adaptador de rede do processo escritor único' — corrigir a redação.</a:t>
            </a:r>
          </a:p>
          <a:p>
            <a:r>
              <a:t>2) A quebra do rendezvous não era em 64 KB nem em 128 KB — acertar o número (toca os slides 5, 9 e 13).</a:t>
            </a:r>
          </a:p>
          <a:p>
            <a:r>
              <a:t>3) Validação dos dados com softwares existentes.</a:t>
            </a:r>
          </a:p>
          <a:p/>
          <a:p>
            <a:r>
              <a:t>ORIGEM DE CADA NÚMERO (Cap. 4):</a:t>
            </a:r>
          </a:p>
          <a:p>
            <a:r>
              <a:t>1) Banda atual AWS: 60,5 Gb/s em 2 nós -&gt; 18,9 (8) -&gt; 4,5 (16) -&gt; 3,4 (32). Total atual: 1.873,56 s em 16 nós contra 2.013,06 s em 32 — a curva vira. Diga 'inverte a escalabilidade': adicionar nós piora.</a:t>
            </a:r>
          </a:p>
          <a:p>
            <a:r>
              <a:t>2) Fração de E/S da atual: 7,6% (8 nós) -&gt; 28,2% (16) -&gt; 49,5% (32). MPI-IO fica &lt;= 1% a partir de 4 nós; 0,70% em 32. Total 2.013,06 -&gt; 1.274,25 s (36,7%; 1,58x). Redução do tempo de E/S: 99,1%.</a:t>
            </a:r>
          </a:p>
          <a:p>
            <a:r>
              <a:t>3) Banda MPI-IO AWS: 57,0 -&gt; 106,0 -&gt; 167,0 -&gt; 274,2 -&gt; 380,3 Gb/s (113,00x em 32). SDumont: 5,5 -&gt; 34,1 Gb/s (13,7x). Monotônica nos dois: o teto do armazenamento não foi atingido.</a:t>
            </a:r>
          </a:p>
          <a:p>
            <a:r>
              <a:t>4) SDumont: pequeno sobrecusto em 2 e 4 nós (1,9% e 0,5%), ganho a partir de 8 nós (0,3%, 19,5% e 40,4%). Redução do tempo de E/S: 96,3%. Lustre COMPARTILHADO, com concorrência de outras cargas — por isso a portabilidade é o resultado mais robusto.</a:t>
            </a:r>
          </a:p>
          <a:p>
            <a:r>
              <a:t>5) OSTs (AWS): 4 -&gt; 10 OSTs amplia a banda ~5,6x em 16 nós e ~23,6x em 32. Mensagem: stripe_count e stripe_size são parâmetro de projeto, não detalhe operacional.</a:t>
            </a:r>
          </a:p>
          <a:p>
            <a:r>
              <a:t>6) Eficiência em 32 nós: 43,5% (AWS) e 41,4% (SDumont). É strong scaling: problema fixo, cada rank resolve menos cenários, custos ~constantes de computação (acesso à memória) deixam de ser amortizados — gargalo COMPUTACIONAL, distinto do de E/S. MPI_File_open/close: 42 s em 2 nós -&gt; 147 s em 32; uma chamada por execução, independe do número de cenários e estágios; a fração de 11,6% está inflada porque o teste tem só 3 estágios mensais.</a:t>
            </a:r>
          </a:p>
          <a:p/>
          <a:p>
            <a:r>
              <a:t>SE PERGUNTAREM 'e em 2 e 4 nós?': a atual é competitiva ou melhor (na AWS, -6,3% em 4 nós) porque o escritor ainda não saturou e o custo fixo da MPI-IO pesa. O ganho é de escala — e é justamente onde o problema real vive.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Extraído do Capítulo 6. Manter curto: a banca lê o slide. Ordem proposta: primeiro o que refina a solução entregue, depois o que a estende.</a:t>
            </a:r>
          </a:p>
          <a:p/>
          <a:p>
            <a:r>
              <a:t>1) Dos 117 arquivos de resultado, 104 são horários e 13 diários; os diários respondem por TODAS as escritas de blocos muito pequenos, porque a aplicação não agrupa os dias (nos horários ela agrupa as 720 horas em uma escrita). A escrita assíncrona mitiga em parte, mas a frequência de requisições pequenas ao Lustre permanece.</a:t>
            </a:r>
          </a:p>
          <a:p>
            <a:r>
              <a:t>2) Liao et al. (2007): bufferização em dois estágios alinhada ao particionamento do sistema de arquivos melhora escritas pequenas e desalinhadas. Objetivo: uma submissão MPI-IO por stripe, logo um OST por requisição, reduzindo contenção entre ranks sobre o mesmo OST.</a:t>
            </a:r>
          </a:p>
          <a:p>
            <a:r>
              <a:t>3) O limiar síncrono/assíncrono adotado é parâmetro de projeto, não medida — daí a proposta de varrer 64/128/256 KB. Cuidado: alinhar com o valor citado nos slides 5, 9 e 13.</a:t>
            </a:r>
          </a:p>
          <a:p>
            <a:r>
              <a:t>4) ESTE É O ITEM DE DEFESA para 'por que não escrita coletiva?'. Tentativas preliminares deram deadlock, atribuído a múltiplas escritas por cenário combinadas ao desalinhamento do número de cenários por rank no bag-of-tasks. Viabilizar exigiria sincronização que reconcilie distribuição dinâmica de tarefas com a semântica coletiva.</a:t>
            </a:r>
          </a:p>
          <a:p>
            <a:r>
              <a:t>5) Redes: EFA/InfiniBand para ver até que ponto a rede deixa de limitar e como escala o custo da coordenação MPI-IO em baixa latência. Escala: acima de 32 nós podem aparecer saturação de metadados e efeitos de coordenação coletiva.</a:t>
            </a:r>
          </a:p>
          <a:p>
            <a:r>
              <a:t>6) Fase de geração de cortes: padrão de comunicação e sincronização diferente do da simulação final. Gargalo computacional: profiling da hierarquia de memória, para separar efeitos de computação e de E/S na eficiência paralela.</a:t>
            </a:r>
          </a:p>
          <a:p/>
          <a:p>
            <a:r>
              <a:t>SE PERGUNTAREM POR WEAK SCALING: o estudo é deliberadamente strong scaling (caso fixo, nós variáveis), porque a pergunta de negócio é 'o mesmo PMO roda mais rápido com mais nós?'. Weak scaling entra aqui, como continuidade.</a:t>
            </a:r>
          </a:p>
          <a:p/>
          <a:p>
            <a:r>
              <a:t>Limitação operacional, se perguntarem: a disponibilidade de instâncias r7i.12xlarge na AWS restringiu a janela de experimentação.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57BF1E-E00D-41BD-0BAE-6695FD6698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591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580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ity&#10;&#10;Description automatically generated">
            <a:extLst>
              <a:ext uri="{FF2B5EF4-FFF2-40B4-BE49-F238E27FC236}">
                <a16:creationId xmlns:a16="http://schemas.microsoft.com/office/drawing/2014/main" id="{31CFD4B2-973C-060A-E56B-83D8A8EE6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5" b="528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8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planet with dots and lines around it&#10;&#10;Description automatically generated">
            <a:extLst>
              <a:ext uri="{FF2B5EF4-FFF2-40B4-BE49-F238E27FC236}">
                <a16:creationId xmlns:a16="http://schemas.microsoft.com/office/drawing/2014/main" id="{958B62DD-8E16-DC56-4C9F-2777F961F9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87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65000"/>
                </a:schemeClr>
              </a:gs>
              <a:gs pos="91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6686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686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693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Picture 34" descr="Power lines of power lines in a field&#10;&#10;Description automatically generated">
            <a:extLst>
              <a:ext uri="{FF2B5EF4-FFF2-40B4-BE49-F238E27FC236}">
                <a16:creationId xmlns:a16="http://schemas.microsoft.com/office/drawing/2014/main" id="{57C0443E-A5A6-2ED1-BA0D-572A454EB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01"/>
          <a:stretch/>
        </p:blipFill>
        <p:spPr>
          <a:xfrm>
            <a:off x="403945" y="0"/>
            <a:ext cx="3413559" cy="63562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160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Picture 3" descr="A large dam with a body of water&#10;&#10;Description automatically generated">
            <a:extLst>
              <a:ext uri="{FF2B5EF4-FFF2-40B4-BE49-F238E27FC236}">
                <a16:creationId xmlns:a16="http://schemas.microsoft.com/office/drawing/2014/main" id="{EB91D891-362D-C60A-7419-BAD5F90A7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76"/>
          <a:stretch/>
        </p:blipFill>
        <p:spPr>
          <a:xfrm>
            <a:off x="395067" y="0"/>
            <a:ext cx="3413558" cy="635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24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de seção">
    <p:bg>
      <p:bgPr>
        <a:gradFill>
          <a:gsLst>
            <a:gs pos="77000">
              <a:schemeClr val="accent4"/>
            </a:gs>
            <a:gs pos="0">
              <a:schemeClr val="accent3"/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5C712-34F0-AEFE-656C-F81274925D7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53987003"/>
              </p:ext>
            </p:extLst>
          </p:nvPr>
        </p:nvGraphicFramePr>
        <p:xfrm>
          <a:off x="2755900" y="2434807"/>
          <a:ext cx="7572917" cy="1981130"/>
        </p:xfrm>
        <a:graphic>
          <a:graphicData uri="http://schemas.openxmlformats.org/drawingml/2006/table">
            <a:tbl>
              <a:tblPr firstRow="1" bandRow="1"/>
              <a:tblGrid>
                <a:gridCol w="7572917">
                  <a:extLst>
                    <a:ext uri="{9D8B030D-6E8A-4147-A177-3AD203B41FA5}">
                      <a16:colId xmlns:a16="http://schemas.microsoft.com/office/drawing/2014/main" val="3760559414"/>
                    </a:ext>
                  </a:extLst>
                </a:gridCol>
              </a:tblGrid>
              <a:tr h="198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180975" algn="l"/>
                      <a:r>
                        <a:rPr lang="en-US" sz="6000" b="1" dirty="0">
                          <a:solidFill>
                            <a:schemeClr val="bg1"/>
                          </a:solidFill>
                          <a:latin typeface="Myriad Pro" panose="020B05030304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848749"/>
                  </a:ext>
                </a:extLst>
              </a:tr>
            </a:tbl>
          </a:graphicData>
        </a:graphic>
      </p:graphicFrame>
      <p:sp>
        <p:nvSpPr>
          <p:cNvPr id="9" name="Frame 8">
            <a:extLst>
              <a:ext uri="{FF2B5EF4-FFF2-40B4-BE49-F238E27FC236}">
                <a16:creationId xmlns:a16="http://schemas.microsoft.com/office/drawing/2014/main" id="{708860BE-0D82-90A3-D798-5AAD19D9DE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25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34169" y="24348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89474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de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88797" y="38953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accent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A05A453-2699-6656-2048-D2C1283E51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070" y="3895307"/>
            <a:ext cx="1321930" cy="1981130"/>
          </a:xfrm>
        </p:spPr>
        <p:txBody>
          <a:bodyPr anchor="ctr" anchorCtr="0"/>
          <a:lstStyle>
            <a:lvl1pPr algn="r">
              <a:defRPr lang="en-US" sz="6000" b="1" kern="1200" dirty="0" smtClean="0">
                <a:solidFill>
                  <a:schemeClr val="accent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5366C-8099-C19E-E4C2-45EB79FBD743}"/>
              </a:ext>
            </a:extLst>
          </p:cNvPr>
          <p:cNvSpPr/>
          <p:nvPr userDrawn="1"/>
        </p:nvSpPr>
        <p:spPr>
          <a:xfrm>
            <a:off x="-1130" y="6616700"/>
            <a:ext cx="12193130" cy="241300"/>
          </a:xfrm>
          <a:prstGeom prst="rect">
            <a:avLst/>
          </a:prstGeom>
          <a:gradFill>
            <a:gsLst>
              <a:gs pos="78000">
                <a:schemeClr val="accent4"/>
              </a:gs>
              <a:gs pos="0">
                <a:schemeClr val="accent3">
                  <a:lumMod val="40000"/>
                  <a:lumOff val="60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2081CC8A-4433-11D8-26FD-A812D98148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978" y="564630"/>
            <a:ext cx="722721" cy="30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965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20A6-6F3D-AFE2-D7A7-9AC424E1C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303033"/>
            <a:ext cx="11755539" cy="6583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4B89-7FBD-D203-7F94-9A46893D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51" y="1371601"/>
            <a:ext cx="11755539" cy="4924424"/>
          </a:xfrm>
        </p:spPr>
        <p:txBody>
          <a:bodyPr>
            <a:normAutofit/>
          </a:bodyPr>
          <a:lstStyle>
            <a:lvl1pPr>
              <a:defRPr sz="24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1800">
                <a:latin typeface="+mn-lt"/>
              </a:defRPr>
            </a:lvl3pPr>
            <a:lvl4pPr>
              <a:defRPr sz="1600">
                <a:latin typeface="+mn-lt"/>
              </a:defRPr>
            </a:lvl4pPr>
            <a:lvl5pPr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261E-9F25-42CF-5A85-49EE0CB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035" y="6390012"/>
            <a:ext cx="1136254" cy="303722"/>
          </a:xfrm>
        </p:spPr>
        <p:txBody>
          <a:bodyPr/>
          <a:lstStyle>
            <a:lvl1pPr algn="r">
              <a:defRPr/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A7C8-EE9A-D73C-8D18-39C4BDF52D43}"/>
              </a:ext>
            </a:extLst>
          </p:cNvPr>
          <p:cNvSpPr txBox="1"/>
          <p:nvPr userDrawn="1"/>
        </p:nvSpPr>
        <p:spPr>
          <a:xfrm>
            <a:off x="3048000" y="6451028"/>
            <a:ext cx="6096000" cy="27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r>
              <a:rPr lang="en-US" dirty="0"/>
              <a:t>© PSR</a:t>
            </a:r>
          </a:p>
        </p:txBody>
      </p:sp>
      <p:pic>
        <p:nvPicPr>
          <p:cNvPr id="11" name="Picture 10" descr="A triangle with lines and dots&#10;&#10;Description automatically generated">
            <a:extLst>
              <a:ext uri="{FF2B5EF4-FFF2-40B4-BE49-F238E27FC236}">
                <a16:creationId xmlns:a16="http://schemas.microsoft.com/office/drawing/2014/main" id="{31F7C503-C8B3-7F85-B2F3-5714E158FA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750" y="6396923"/>
            <a:ext cx="612390" cy="296811"/>
          </a:xfrm>
          <a:prstGeom prst="rect">
            <a:avLst/>
          </a:prstGeo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9150549-795D-B3C4-C4E4-49CAECFBB7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0023" y="850900"/>
            <a:ext cx="11792225" cy="520701"/>
          </a:xfrm>
        </p:spPr>
        <p:txBody>
          <a:bodyPr>
            <a:normAutofit/>
          </a:bodyPr>
          <a:lstStyle>
            <a:lvl1pPr>
              <a:defRPr lang="en-US" sz="2400" b="0" kern="1200" dirty="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81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A7EAE-3CA9-C039-B807-5601345FB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751" y="6334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8258D-C1B7-2CD5-8D3B-1EAEB6E38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176033"/>
            <a:ext cx="11755539" cy="65835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D668-DCF3-5A87-BE4C-6D7D176F7C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751" y="1027182"/>
            <a:ext cx="11755539" cy="5149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45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1" r:id="rId2"/>
    <p:sldLayoutId id="2147483672" r:id="rId3"/>
    <p:sldLayoutId id="2147483663" r:id="rId4"/>
    <p:sldLayoutId id="2147483675" r:id="rId5"/>
    <p:sldLayoutId id="2147483662" r:id="rId6"/>
    <p:sldLayoutId id="2147483673" r:id="rId7"/>
    <p:sldLayoutId id="2147483650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 smtClean="0">
          <a:solidFill>
            <a:srgbClr val="20324C"/>
          </a:solidFill>
          <a:latin typeface="Myriad Pro" panose="020B0503030403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600"/>
              <a:t>Investigando Problemas de Escalabilidade de E/S</a:t>
            </a:r>
          </a:p>
          <a:p>
            <a:r>
              <a:rPr sz="2600"/>
              <a:t>no Algoritmo SDDP em Ambientes HPC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500"/>
              <a:t>Dissertação de Mestrado — PESC/COPPE/UFRJ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100"/>
              <a:t>Marcelo Barros da Cruz   |   Orientador: [preencher]</a:t>
            </a:r>
          </a:p>
          <a:p>
            <a:r>
              <a:rPr sz="1100"/>
              <a:t>Banca: [preencher]   |   Julho de 2026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supercomputador mais rápido do mundo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1100"/>
              <a:t>LineShine — Centro Nacional de Supercomputação de Shenzhen, China  ·  13,79 milhões de núcleos (LX2 de 304 núcleos a 1,55 GHz)  ·  42,2 MW  ·  TOP500, junho de 2026</a:t>
            </a:r>
          </a:p>
        </p:txBody>
      </p:sp>
      <p:pic>
        <p:nvPicPr>
          <p:cNvPr id="5" name="Picture 4" descr="Linesh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07726"/>
            <a:ext cx="6230435" cy="24921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0407" y="1871601"/>
            <a:ext cx="5054883" cy="402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0"/>
              <a:t>Caso hipotético: 10.000 cenários × 120 estágios, todos os problemas resolvidos de forma independente (SHOTGUN).</a:t>
            </a:r>
          </a:p>
          <a:p>
            <a:pPr marL="0" indent="0">
              <a:spcBef>
                <a:spcPts val="1000"/>
              </a:spcBef>
              <a:buNone/>
            </a:pPr>
            <a:r>
              <a:rPr sz="1300" b="0"/>
              <a:t>1,2 milhão de tarefas para distribuir em uma máquina de 13,79 milhões de cores.</a:t>
            </a:r>
          </a:p>
          <a:p>
            <a:pPr marL="0" indent="0">
              <a:spcBef>
                <a:spcPts val="1000"/>
              </a:spcBef>
              <a:buNone/>
            </a:pPr>
            <a:endParaRPr sz="1300" b="0"/>
          </a:p>
          <a:p>
            <a:pPr marL="0" indent="0">
              <a:spcBef>
                <a:spcPts val="1000"/>
              </a:spcBef>
              <a:buNone/>
            </a:pPr>
            <a:r>
              <a:rPr sz="2600" b="1">
                <a:solidFill>
                  <a:srgbClr val="2F5893"/>
                </a:solidFill>
              </a:rPr>
              <a:t>O SDDP ganharia escalabilidade?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Introdução e Motivação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Quando a E/S se torna o gargalo de uma aplicação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11601"/>
            <a:ext cx="11755539" cy="1931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600" dirty="0"/>
              <a:t>Caso de estudo — o SDDP: na simulação final os cenários são independentes (bag-of-tasks) e cada processo grava um bloco contíguo por (estágio, cenário), que a resolução horária amplia em uma ordem de grandeza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dirty="0"/>
              <a:t>O HPC oferece as duas peças para esse padrão: o Lustre entrega banda agregada que cresce com o número de OSTs, e a MPI-IO permite que vários processos gravem em offsets distintos de um mesmo arquivo</a:t>
            </a:r>
            <a:endParaRPr lang="en-US" sz="1600" dirty="0"/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600" dirty="0"/>
              <a:t>Mas essa banda é potencial, não automática: um único rank escritor converte a E/S em comunicação ponto a ponto e a serializa — o limite passa a ser a rede do nó escritor, não o armazenamento</a:t>
            </a:r>
            <a:endParaRPr lang="en-US" sz="1600" dirty="0"/>
          </a:p>
        </p:txBody>
      </p:sp>
      <p:pic>
        <p:nvPicPr>
          <p:cNvPr id="6" name="Picture 5" descr="formato_patamares_vs_hor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7" y="3099920"/>
            <a:ext cx="6985161" cy="16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9749" y="4871218"/>
            <a:ext cx="11755539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700" b="1" dirty="0">
                <a:solidFill>
                  <a:srgbClr val="2F5893"/>
                </a:solidFill>
              </a:rPr>
              <a:t>Por </a:t>
            </a:r>
            <a:r>
              <a:rPr sz="1700" b="1" dirty="0" err="1">
                <a:solidFill>
                  <a:srgbClr val="2F5893"/>
                </a:solidFill>
              </a:rPr>
              <a:t>tarefa</a:t>
            </a:r>
            <a:r>
              <a:rPr sz="1700" b="1" dirty="0">
                <a:solidFill>
                  <a:srgbClr val="2F5893"/>
                </a:solidFill>
              </a:rPr>
              <a:t> (</a:t>
            </a:r>
            <a:r>
              <a:rPr sz="1700" b="1" dirty="0" err="1">
                <a:solidFill>
                  <a:srgbClr val="2F5893"/>
                </a:solidFill>
              </a:rPr>
              <a:t>estágio</a:t>
            </a:r>
            <a:r>
              <a:rPr sz="1700" b="1" dirty="0">
                <a:solidFill>
                  <a:srgbClr val="2F5893"/>
                </a:solidFill>
              </a:rPr>
              <a:t>, </a:t>
            </a:r>
            <a:r>
              <a:rPr sz="1700" b="1" dirty="0" err="1">
                <a:solidFill>
                  <a:srgbClr val="2F5893"/>
                </a:solidFill>
              </a:rPr>
              <a:t>cenário</a:t>
            </a:r>
            <a:r>
              <a:rPr sz="1700" b="1" dirty="0">
                <a:solidFill>
                  <a:srgbClr val="2F5893"/>
                </a:solidFill>
              </a:rPr>
              <a:t>): 3 </a:t>
            </a:r>
            <a:r>
              <a:rPr sz="1700" b="1" dirty="0" err="1">
                <a:solidFill>
                  <a:srgbClr val="2F5893"/>
                </a:solidFill>
              </a:rPr>
              <a:t>registros</a:t>
            </a:r>
            <a:r>
              <a:rPr sz="1700" b="1" dirty="0">
                <a:solidFill>
                  <a:srgbClr val="2F5893"/>
                </a:solidFill>
              </a:rPr>
              <a:t>  →  720 </a:t>
            </a:r>
            <a:r>
              <a:rPr sz="1700" b="1" dirty="0" err="1">
                <a:solidFill>
                  <a:srgbClr val="2F5893"/>
                </a:solidFill>
              </a:rPr>
              <a:t>registros</a:t>
            </a:r>
            <a:r>
              <a:rPr sz="1700" b="1" dirty="0">
                <a:solidFill>
                  <a:srgbClr val="2F5893"/>
                </a:solidFill>
              </a:rPr>
              <a:t>  =  240x </a:t>
            </a:r>
            <a:r>
              <a:rPr sz="1700" b="1" dirty="0" err="1">
                <a:solidFill>
                  <a:srgbClr val="2F5893"/>
                </a:solidFill>
              </a:rPr>
              <a:t>mais</a:t>
            </a:r>
            <a:r>
              <a:rPr sz="1700" b="1" dirty="0">
                <a:solidFill>
                  <a:srgbClr val="2F5893"/>
                </a:solidFill>
              </a:rPr>
              <a:t> dados a </a:t>
            </a:r>
            <a:r>
              <a:rPr sz="1700" b="1" dirty="0" err="1">
                <a:solidFill>
                  <a:srgbClr val="2F5893"/>
                </a:solidFill>
              </a:rPr>
              <a:t>persistir</a:t>
            </a:r>
            <a:endParaRPr sz="1700" b="1" dirty="0">
              <a:solidFill>
                <a:srgbClr val="2F5893"/>
              </a:solidFill>
            </a:endParaRPr>
          </a:p>
          <a:p>
            <a:pPr marL="0" indent="0">
              <a:buNone/>
            </a:pPr>
            <a:r>
              <a:rPr sz="1200" dirty="0"/>
              <a:t>A carga de </a:t>
            </a:r>
            <a:r>
              <a:rPr sz="1200" dirty="0" err="1"/>
              <a:t>computação</a:t>
            </a:r>
            <a:r>
              <a:rPr sz="1200" dirty="0"/>
              <a:t> </a:t>
            </a:r>
            <a:r>
              <a:rPr sz="1200" dirty="0" err="1"/>
              <a:t>por</a:t>
            </a:r>
            <a:r>
              <a:rPr sz="1200" dirty="0"/>
              <a:t> </a:t>
            </a:r>
            <a:r>
              <a:rPr sz="1200" dirty="0" err="1"/>
              <a:t>tarefa</a:t>
            </a:r>
            <a:r>
              <a:rPr sz="1200" dirty="0"/>
              <a:t> </a:t>
            </a:r>
            <a:r>
              <a:rPr sz="1200" dirty="0" err="1"/>
              <a:t>não</a:t>
            </a:r>
            <a:r>
              <a:rPr sz="1200" dirty="0"/>
              <a:t> </a:t>
            </a:r>
            <a:r>
              <a:rPr sz="1200" dirty="0" err="1"/>
              <a:t>muda</a:t>
            </a:r>
            <a:r>
              <a:rPr sz="1200" dirty="0"/>
              <a:t> — </a:t>
            </a:r>
            <a:r>
              <a:rPr sz="1200" dirty="0" err="1"/>
              <a:t>cresce</a:t>
            </a:r>
            <a:r>
              <a:rPr sz="1200" dirty="0"/>
              <a:t> o volume de </a:t>
            </a:r>
            <a:r>
              <a:rPr sz="1200" dirty="0" err="1"/>
              <a:t>saída</a:t>
            </a:r>
            <a:r>
              <a:rPr sz="1200" dirty="0"/>
              <a:t>, e o </a:t>
            </a:r>
            <a:r>
              <a:rPr sz="1200" dirty="0" err="1"/>
              <a:t>gargalo</a:t>
            </a:r>
            <a:r>
              <a:rPr sz="1200" dirty="0"/>
              <a:t> </a:t>
            </a:r>
            <a:r>
              <a:rPr sz="1200" dirty="0" err="1"/>
              <a:t>migra</a:t>
            </a:r>
            <a:r>
              <a:rPr sz="1200" dirty="0"/>
              <a:t> da CPU para a E/S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e Contribuições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751" y="1211601"/>
            <a:ext cx="11755539" cy="1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Objetivo</a:t>
            </a:r>
          </a:p>
          <a:p>
            <a:pPr marL="0" indent="0">
              <a:buNone/>
            </a:pPr>
            <a:r>
              <a:rPr sz="1300"/>
              <a:t>Propor e avaliar uma arquitetura paralela de E/S para o SDDP, baseada em escritas independentes com MPI-IO sobre Lustre, substituindo a estratégia atual com processo escritor único.</a:t>
            </a:r>
          </a:p>
          <a:p>
            <a:pPr marL="0" indent="0">
              <a:spcBef>
                <a:spcPts val="400"/>
              </a:spcBef>
              <a:buNone/>
            </a:pPr>
            <a:r>
              <a:rPr sz="1300"/>
              <a:t>O foco da pesquisa é exclusivamente a </a:t>
            </a:r>
            <a:r>
              <a:rPr sz="1300" b="1">
                <a:solidFill>
                  <a:srgbClr val="2F5893"/>
                </a:solidFill>
              </a:rPr>
              <a:t>escrita dos resultados da simulação final</a:t>
            </a:r>
            <a:r>
              <a:rPr sz="1300"/>
              <a:t> — etapa posterior à convergência da política, em que se acumula o maior volume de dados produzido pela aplicação.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751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877553"/>
                </a:solidFill>
              </a:rPr>
              <a:t>Fora do escopo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fase iterativa de geração de cortes — a construção da política — e suas escolhas algorítmicas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Otimizações da computação executada na simulação final: o tempo de resolução de cada cenário é tratado como dado, e apenas a escrita dos resultados é objeto do trabalho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paralelização das leituras dos dados de entrada, cujo volume é muito inferior ao da escrita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Melhorias no escalonamento de tarefas entre ranks: mantém-se o bag-of-tasks já existente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1409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Contribuições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Diagnóstico dos gargalos da arquitetura atual: o processo escritor único e o limite do adaptador de rede do nó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Arquitetura de E/S paralela com MPI-IO sobre Lustre, com escritas independentes em offsets pré-calculados, preservando o formato dos arquivos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Instrumentação das duas implementações com métricas equivalentes: computação, coordenação MPI, E/S, bloqueio e banda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Avaliação experimental em dois ambientes — AWS com FSx for Lustre e SDumont com Lustre compartilhado — de 2 a 32 nós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Análise da influência do número de OSTs na escalabilidade, com orientações de dimensionamento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 — protocolos Eager e Rendezvous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MPI-IO — escritas independentes e coletivas</a:t>
            </a:r>
          </a:p>
        </p:txBody>
      </p:sp>
      <p:pic>
        <p:nvPicPr>
          <p:cNvPr id="7" name="Picture 6" descr="Eager-and-Rendezvous-Protoc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42935"/>
            <a:ext cx="5701436" cy="2671755"/>
          </a:xfrm>
          <a:prstGeom prst="rect">
            <a:avLst/>
          </a:prstGeom>
        </p:spPr>
      </p:pic>
      <p:pic>
        <p:nvPicPr>
          <p:cNvPr id="8" name="Picture 7" descr="mpiio_independente_vs_coleti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3147738"/>
            <a:ext cx="5701436" cy="1662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Onde está o paralelismo do sistema de arquivos</a:t>
            </a:r>
          </a:p>
        </p:txBody>
      </p:sp>
      <p:pic>
        <p:nvPicPr>
          <p:cNvPr id="5" name="Picture 4" descr="Lustre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30" y="1571601"/>
            <a:ext cx="7267980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atual de E/S do SDDP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Um único processo escritor centraliza todas as gravações</a:t>
            </a:r>
          </a:p>
        </p:txBody>
      </p:sp>
      <p:pic>
        <p:nvPicPr>
          <p:cNvPr id="5" name="Picture 4" descr="SDD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944" y="1571601"/>
            <a:ext cx="7413152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proposta com MPI-IO e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3.1</a:t>
            </a:r>
          </a:p>
        </p:txBody>
      </p:sp>
      <p:pic>
        <p:nvPicPr>
          <p:cNvPr id="5" name="Picture 4" descr="SDDP_architect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28" y="1371601"/>
            <a:ext cx="9411785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Fluxo de decisão da escrita independente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3.3</a:t>
            </a:r>
          </a:p>
        </p:txBody>
      </p:sp>
      <p:pic>
        <p:nvPicPr>
          <p:cNvPr id="5" name="Picture 4" descr="fluxo_pass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510273"/>
            <a:ext cx="11755539" cy="4647080"/>
          </a:xfrm>
          <a:prstGeom prst="rect">
            <a:avLst/>
          </a:prstGeom>
        </p:spPr>
      </p:pic>
      <p:pic>
        <p:nvPicPr>
          <p:cNvPr id="6" name="Fluxo passo 2 (animar)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510273"/>
            <a:ext cx="11755539" cy="4647080"/>
          </a:xfrm>
          <a:prstGeom prst="rect">
            <a:avLst/>
          </a:prstGeom>
        </p:spPr>
      </p:pic>
      <p:pic>
        <p:nvPicPr>
          <p:cNvPr id="7" name="Fluxo passo 3 (animar)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751" y="1510273"/>
            <a:ext cx="11755539" cy="4647080"/>
          </a:xfrm>
          <a:prstGeom prst="rect">
            <a:avLst/>
          </a:prstGeom>
        </p:spPr>
      </p:pic>
      <p:pic>
        <p:nvPicPr>
          <p:cNvPr id="8" name="Fluxo passo 4 (animar)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751" y="1510273"/>
            <a:ext cx="11755539" cy="4647080"/>
          </a:xfrm>
          <a:prstGeom prst="rect">
            <a:avLst/>
          </a:prstGeom>
        </p:spPr>
      </p:pic>
      <p:pic>
        <p:nvPicPr>
          <p:cNvPr id="9" name="Fluxo passo 5 (animar)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751" y="1510273"/>
            <a:ext cx="11755539" cy="4647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Caracterização do perfil de E/S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4.1 (esq.) e 4.2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Número de escritas por faixa de tamanho de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Volume gravado por faixa de tamanho de bloco</a:t>
            </a:r>
          </a:p>
        </p:txBody>
      </p:sp>
      <p:pic>
        <p:nvPicPr>
          <p:cNvPr id="7" name="Picture 6" descr="escrita_frequencia_por_blo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592445"/>
            <a:ext cx="5701436" cy="2822735"/>
          </a:xfrm>
          <a:prstGeom prst="rect">
            <a:avLst/>
          </a:prstGeom>
        </p:spPr>
      </p:pic>
      <p:pic>
        <p:nvPicPr>
          <p:cNvPr id="8" name="Picture 7" descr="escrita_volume_por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2590696"/>
            <a:ext cx="5701436" cy="282623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4.3</a:t>
            </a:r>
          </a:p>
        </p:txBody>
      </p:sp>
      <p:pic>
        <p:nvPicPr>
          <p:cNvPr id="5" name="Picture 4" descr="Banda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anda_AWS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4.4</a:t>
            </a:r>
          </a:p>
        </p:txBody>
      </p:sp>
      <p:pic>
        <p:nvPicPr>
          <p:cNvPr id="5" name="Picture 4" descr="T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AWS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4.5</a:t>
            </a:r>
          </a:p>
        </p:txBody>
      </p:sp>
      <p:pic>
        <p:nvPicPr>
          <p:cNvPr id="5" name="Picture 4" descr="EnvioPorTamanho_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Efeito do número de OSTs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4.7 (esq.) e 4.6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Banda agregada média percebida pela aplicação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Tempo médio de envio por classe de tamanho</a:t>
            </a:r>
          </a:p>
        </p:txBody>
      </p:sp>
      <p:pic>
        <p:nvPicPr>
          <p:cNvPr id="7" name="Picture 6" descr="Experimento_OSTs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235646"/>
            <a:ext cx="5701436" cy="3536333"/>
          </a:xfrm>
          <a:prstGeom prst="rect">
            <a:avLst/>
          </a:prstGeom>
        </p:spPr>
      </p:pic>
      <p:pic>
        <p:nvPicPr>
          <p:cNvPr id="8" name="Picture 7" descr="Experimento_OS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086" y="1811601"/>
            <a:ext cx="5462972" cy="43844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4.8</a:t>
            </a:r>
          </a:p>
        </p:txBody>
      </p:sp>
      <p:pic>
        <p:nvPicPr>
          <p:cNvPr id="5" name="Picture 4" descr="B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4.9</a:t>
            </a:r>
          </a:p>
        </p:txBody>
      </p:sp>
      <p:pic>
        <p:nvPicPr>
          <p:cNvPr id="5" name="Picture 4" descr="T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5" name="Picture 4" descr="EnvioPorTamanho_SDum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Diagnóstico: o escritor único inverte a escalabilidade — na AWS a banda percebida cai de 60,5 para 3,4 Gb/s entre 2 e 32 nós, e o melhor tempo total ocorre em 16 nós, não em 32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Em 32 nós a E/S consome 49,5% do tempo na implementação atual; com escritas independentes em MPI-IO cai para 0,7%, e o tempo total cai 36,7% (2.013 s → 1.274 s)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O contraste é qualitativo, não pontual: a banda da MPI-IO cresce monotonicamente até 380 Gb/s (113×) na AWS e 34 Gb/s (13,7×) no SDumont — o armazenamento ainda não saturou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Portabilidade: o mesmo padrão se repete em nuvem dedicada e em supercomputador compartilhado (40,4% de redução em 32 nós no SDumont) — não é artefato de infraestrutura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Dimensionar o Lustre é parte do ganho: passar de 4 para 10 OSTs amplia a banda agregada 5,6× em 16 nós e 23,6× em 32 nós</a:t>
            </a:r>
            <a:endParaRPr sz="1800" dirty="0"/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Limites assumidos: eficiência de 43,5% em 32 nós (strong scaling, gargalo de computação) e MPI_File_open/close em 11,6% do tempo — custo fixo por execução, não por carga</a:t>
            </a:r>
            <a:endParaRPr sz="18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 que foi demonstrado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Reorganizar o padrão dos arquivos diários (13 dos 117 arquivos), agrupando o mês em uma escrita por (estágio, cenário) — elimina a parcela residual de requisições pequenas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Bufferização alinhada às stripes do Lustre, para que cada submissão MPI-IO incida sobre exatamente um OST (Liao et al., 2007)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Sensibilidade aos parâmetros de projeto: stripe_size do Lustre e limiar síncrono/assíncrono (64, 128 e 256 KB)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Escrita coletiva (two-phase I/O): tentativas preliminares resultaram em deadlock com o bag-of-tasks — exige reconciliar distribuição dinâmica e semântica coletiva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Redes de baixa latência (InfiniBand HDR/NDR, AWS EFA) e escalas acima de 32 nós, onde pode surgir saturação de metadados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Estender a arquitetura à fase de geração de cortes e diagnosticar o gargalo computacional do regime de strong scaling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Direções de continuidade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tent">
  <a:themeElements>
    <a:clrScheme name="PSR">
      <a:dk1>
        <a:srgbClr val="000000"/>
      </a:dk1>
      <a:lt1>
        <a:srgbClr val="FFFFFF"/>
      </a:lt1>
      <a:dk2>
        <a:srgbClr val="20324C"/>
      </a:dk2>
      <a:lt2>
        <a:srgbClr val="D8D8D8"/>
      </a:lt2>
      <a:accent1>
        <a:srgbClr val="162944"/>
      </a:accent1>
      <a:accent2>
        <a:srgbClr val="2F5893"/>
      </a:accent2>
      <a:accent3>
        <a:srgbClr val="6B9EA6"/>
      </a:accent3>
      <a:accent4>
        <a:srgbClr val="4C787F"/>
      </a:accent4>
      <a:accent5>
        <a:srgbClr val="877553"/>
      </a:accent5>
      <a:accent6>
        <a:srgbClr val="AC9A78"/>
      </a:accent6>
      <a:hlink>
        <a:srgbClr val="2F5893"/>
      </a:hlink>
      <a:folHlink>
        <a:srgbClr val="2F5893"/>
      </a:folHlink>
    </a:clrScheme>
    <a:fontScheme name="ELAU PSR 2024">
      <a:majorFont>
        <a:latin typeface="Myriad Pro"/>
        <a:ea typeface=""/>
        <a:cs typeface=""/>
      </a:majorFont>
      <a:minorFont>
        <a:latin typeface="Myriad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24360</TotalTime>
  <Words>4228</Words>
  <Application>Microsoft Office PowerPoint</Application>
  <PresentationFormat>Widescreen</PresentationFormat>
  <Paragraphs>237</Paragraphs>
  <Slides>19</Slides>
  <Notes>19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Arial</vt:lpstr>
      <vt:lpstr>Calibri</vt:lpstr>
      <vt:lpstr>Myriad Pro</vt:lpstr>
      <vt:lpstr>Open Sans</vt:lpstr>
      <vt:lpstr>Wingdings</vt:lpstr>
      <vt:lpstr>content</vt:lpstr>
      <vt:lpstr>Investigando Problemas de Escalabilidade de E/S no Algoritmo SDDP em Ambientes HPC</vt:lpstr>
      <vt:lpstr>O supercomputador mais rápido do mundo</vt:lpstr>
      <vt:lpstr>Introdução e Motivação</vt:lpstr>
      <vt:lpstr>Objetivo e Contribuições</vt:lpstr>
      <vt:lpstr>MPI e MPI-IO</vt:lpstr>
      <vt:lpstr>Lustre</vt:lpstr>
      <vt:lpstr>Arquitetura atual de E/S do SDDP</vt:lpstr>
      <vt:lpstr>Arquitetura proposta com MPI-IO e Lustre</vt:lpstr>
      <vt:lpstr>Fluxo de decisão da escrita independente</vt:lpstr>
      <vt:lpstr>Caracterização do perfil de E/S</vt:lpstr>
      <vt:lpstr>Banda agregada — AWS</vt:lpstr>
      <vt:lpstr>Tempo de execução — AWS</vt:lpstr>
      <vt:lpstr>Tempo de bloqueio dos envios por tamanho — AWS</vt:lpstr>
      <vt:lpstr>Efeito do número de OSTs no Lustre</vt:lpstr>
      <vt:lpstr>Banda agregada — SDumont</vt:lpstr>
      <vt:lpstr>Tempo de execução — SDumont</vt:lpstr>
      <vt:lpstr>Tempo de bloqueio dos envios por tamanho — SDumont</vt:lpstr>
      <vt:lpstr>Conclusões</vt:lpstr>
      <vt:lpstr>Trabalhos futuros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Lucas Guerreiro</dc:creator>
  <cp:lastModifiedBy>Marcelo Barros</cp:lastModifiedBy>
  <cp:revision>462</cp:revision>
  <dcterms:created xsi:type="dcterms:W3CDTF">2024-01-10T21:29:53Z</dcterms:created>
  <dcterms:modified xsi:type="dcterms:W3CDTF">2026-08-17T23:50:10Z</dcterms:modified>
</cp:coreProperties>
</file>