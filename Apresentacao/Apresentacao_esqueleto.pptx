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81" r:id="rId16"/>
    <p:sldId id="282" r:id="rId17"/>
    <p:sldId id="283" r:id="rId18"/>
    <p:sldId id="271" r:id="rId19"/>
    <p:sldId id="272" r:id="rId20"/>
    <p:sldId id="273" r:id="rId21"/>
    <p:sldId id="284" r:id="rId22"/>
    <p:sldId id="285" r:id="rId23"/>
    <p:sldId id="286" r:id="rId24"/>
    <p:sldId id="280" r:id="rId25"/>
    <p:sldId id="275" r:id="rId26"/>
    <p:sldId id="276" r:id="rId27"/>
    <p:sldId id="270" r:id="rId28"/>
    <p:sldId id="27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GANCHO DE ABERTURA — </a:t>
            </a:r>
            <a:r>
              <a:rPr dirty="0" err="1"/>
              <a:t>deixar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tela</a:t>
            </a:r>
            <a:r>
              <a:rPr dirty="0"/>
              <a:t> </a:t>
            </a:r>
            <a:r>
              <a:rPr dirty="0" err="1"/>
              <a:t>enquanto</a:t>
            </a:r>
            <a:r>
              <a:rPr dirty="0"/>
              <a:t> a banca se </a:t>
            </a:r>
            <a:r>
              <a:rPr dirty="0" err="1"/>
              <a:t>acomoda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responder agora.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estabelece</a:t>
            </a:r>
            <a:r>
              <a:rPr dirty="0"/>
              <a:t> MAGNITUDE, </a:t>
            </a:r>
            <a:r>
              <a:rPr dirty="0" err="1"/>
              <a:t>não</a:t>
            </a:r>
            <a:r>
              <a:rPr dirty="0"/>
              <a:t> a </a:t>
            </a:r>
            <a:r>
              <a:rPr dirty="0" err="1"/>
              <a:t>resposta</a:t>
            </a:r>
            <a:r>
              <a:rPr dirty="0"/>
              <a:t>: a plateia sente a </a:t>
            </a:r>
            <a:r>
              <a:rPr dirty="0" err="1"/>
              <a:t>escala</a:t>
            </a:r>
            <a:r>
              <a:rPr dirty="0"/>
              <a:t> da </a:t>
            </a:r>
            <a:r>
              <a:rPr dirty="0" err="1"/>
              <a:t>máquina</a:t>
            </a:r>
            <a:r>
              <a:rPr dirty="0"/>
              <a:t> antes da </a:t>
            </a:r>
            <a:r>
              <a:rPr dirty="0" err="1"/>
              <a:t>pergunta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nada </a:t>
            </a:r>
            <a:r>
              <a:rPr dirty="0" err="1"/>
              <a:t>seja</a:t>
            </a:r>
            <a:r>
              <a:rPr dirty="0"/>
              <a:t> </a:t>
            </a:r>
            <a:r>
              <a:rPr dirty="0" err="1"/>
              <a:t>antecipado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linha</a:t>
            </a:r>
            <a:r>
              <a:rPr dirty="0"/>
              <a:t> sob o </a:t>
            </a:r>
            <a:r>
              <a:rPr dirty="0" err="1"/>
              <a:t>título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pergunta</a:t>
            </a:r>
            <a:r>
              <a:rPr dirty="0"/>
              <a:t> é </a:t>
            </a:r>
            <a:r>
              <a:rPr dirty="0" err="1"/>
              <a:t>sobre</a:t>
            </a:r>
            <a:r>
              <a:rPr dirty="0"/>
              <a:t> ESCALABILIDADE,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quantos</a:t>
            </a:r>
            <a:r>
              <a:rPr dirty="0"/>
              <a:t> cores. A </a:t>
            </a:r>
            <a:r>
              <a:rPr dirty="0" err="1"/>
              <a:t>montagem</a:t>
            </a:r>
            <a:r>
              <a:rPr dirty="0"/>
              <a:t> </a:t>
            </a:r>
            <a:r>
              <a:rPr dirty="0" err="1"/>
              <a:t>entrega</a:t>
            </a:r>
            <a:r>
              <a:rPr dirty="0"/>
              <a:t> </a:t>
            </a:r>
            <a:r>
              <a:rPr dirty="0" err="1"/>
              <a:t>abundância</a:t>
            </a:r>
            <a:r>
              <a:rPr dirty="0"/>
              <a:t> dos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lados</a:t>
            </a:r>
            <a:r>
              <a:rPr dirty="0"/>
              <a:t> — </a:t>
            </a:r>
            <a:r>
              <a:rPr dirty="0" err="1"/>
              <a:t>máquina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e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sobra</a:t>
            </a:r>
            <a:r>
              <a:rPr dirty="0"/>
              <a:t> — e </a:t>
            </a:r>
            <a:r>
              <a:rPr dirty="0" err="1"/>
              <a:t>deixa</a:t>
            </a:r>
            <a:r>
              <a:rPr dirty="0"/>
              <a:t> a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aberto</a:t>
            </a:r>
            <a:r>
              <a:rPr dirty="0"/>
              <a:t>. A </a:t>
            </a:r>
            <a:r>
              <a:rPr dirty="0" err="1"/>
              <a:t>resposta</a:t>
            </a:r>
            <a:r>
              <a:rPr dirty="0"/>
              <a:t> </a:t>
            </a:r>
            <a:r>
              <a:rPr dirty="0" err="1"/>
              <a:t>contraintuitiva</a:t>
            </a:r>
            <a:r>
              <a:rPr dirty="0"/>
              <a:t> (</a:t>
            </a:r>
            <a:r>
              <a:rPr dirty="0" err="1"/>
              <a:t>não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com a </a:t>
            </a:r>
            <a:r>
              <a:rPr dirty="0" err="1"/>
              <a:t>arquitetura</a:t>
            </a:r>
            <a:r>
              <a:rPr dirty="0"/>
              <a:t> </a:t>
            </a:r>
            <a:r>
              <a:rPr dirty="0" err="1"/>
              <a:t>atual</a:t>
            </a:r>
            <a:r>
              <a:rPr dirty="0"/>
              <a:t>) é a </a:t>
            </a:r>
            <a:r>
              <a:rPr dirty="0" err="1"/>
              <a:t>tese</a:t>
            </a:r>
            <a:r>
              <a:rPr dirty="0"/>
              <a:t>, e volta no </a:t>
            </a:r>
            <a:r>
              <a:rPr dirty="0" err="1"/>
              <a:t>último</a:t>
            </a:r>
            <a:r>
              <a:rPr dirty="0"/>
              <a:t> slide.</a:t>
            </a:r>
          </a:p>
          <a:p>
            <a:endParaRPr dirty="0"/>
          </a:p>
          <a:p>
            <a:r>
              <a:rPr dirty="0" err="1"/>
              <a:t>Parâmetros</a:t>
            </a:r>
            <a:r>
              <a:rPr dirty="0"/>
              <a:t> </a:t>
            </a:r>
            <a:r>
              <a:rPr dirty="0" err="1"/>
              <a:t>condicionados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HIPOTÉTICO: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rodou</a:t>
            </a:r>
            <a:r>
              <a:rPr dirty="0"/>
              <a:t> esse </a:t>
            </a:r>
            <a:r>
              <a:rPr dirty="0" err="1"/>
              <a:t>caso</a:t>
            </a:r>
            <a:r>
              <a:rPr dirty="0"/>
              <a:t> e o SHOTGUN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testado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SHOTGUN: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problemas</a:t>
            </a:r>
            <a:r>
              <a:rPr dirty="0"/>
              <a:t> (</a:t>
            </a:r>
            <a:r>
              <a:rPr dirty="0" err="1"/>
              <a:t>estágio</a:t>
            </a:r>
            <a:r>
              <a:rPr dirty="0"/>
              <a:t>, </a:t>
            </a:r>
            <a:r>
              <a:rPr dirty="0" err="1"/>
              <a:t>cenário</a:t>
            </a:r>
            <a:r>
              <a:rPr dirty="0"/>
              <a:t>) </a:t>
            </a:r>
            <a:r>
              <a:rPr dirty="0" err="1"/>
              <a:t>resolvidos</a:t>
            </a:r>
            <a:r>
              <a:rPr dirty="0"/>
              <a:t> de forma </a:t>
            </a:r>
            <a:r>
              <a:rPr dirty="0" err="1"/>
              <a:t>independente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sincronização</a:t>
            </a:r>
            <a:r>
              <a:rPr dirty="0"/>
              <a:t> entre </a:t>
            </a:r>
            <a:r>
              <a:rPr dirty="0" err="1"/>
              <a:t>estágios</a:t>
            </a:r>
            <a:r>
              <a:rPr dirty="0"/>
              <a:t> — é o </a:t>
            </a:r>
            <a:r>
              <a:rPr dirty="0" err="1"/>
              <a:t>que</a:t>
            </a:r>
            <a:r>
              <a:rPr dirty="0"/>
              <a:t> libera o </a:t>
            </a:r>
            <a:r>
              <a:rPr dirty="0" err="1"/>
              <a:t>paralelismo</a:t>
            </a:r>
            <a:r>
              <a:rPr dirty="0"/>
              <a:t> </a:t>
            </a:r>
            <a:r>
              <a:rPr dirty="0" err="1"/>
              <a:t>máximo</a:t>
            </a:r>
            <a:r>
              <a:rPr dirty="0"/>
              <a:t>: 10.000 x 120 = 1.200.000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Escala contra o </a:t>
            </a:r>
            <a:r>
              <a:rPr dirty="0" err="1"/>
              <a:t>experimento</a:t>
            </a:r>
            <a:r>
              <a:rPr dirty="0"/>
              <a:t> (1.536 </a:t>
            </a:r>
            <a:r>
              <a:rPr dirty="0" err="1"/>
              <a:t>cenários</a:t>
            </a:r>
            <a:r>
              <a:rPr dirty="0"/>
              <a:t> x 3 </a:t>
            </a:r>
            <a:r>
              <a:rPr dirty="0" err="1"/>
              <a:t>estágios</a:t>
            </a:r>
            <a:r>
              <a:rPr dirty="0"/>
              <a:t> = 4.608 </a:t>
            </a:r>
            <a:r>
              <a:rPr dirty="0" err="1"/>
              <a:t>tarefas</a:t>
            </a:r>
            <a:r>
              <a:rPr dirty="0"/>
              <a:t>):</a:t>
            </a:r>
          </a:p>
          <a:p>
            <a:r>
              <a:rPr dirty="0"/>
              <a:t>  - 260x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tarefas</a:t>
            </a:r>
            <a:endParaRPr dirty="0"/>
          </a:p>
          <a:p>
            <a:r>
              <a:rPr dirty="0"/>
              <a:t>  - 864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registros</a:t>
            </a:r>
            <a:r>
              <a:rPr dirty="0"/>
              <a:t> </a:t>
            </a:r>
            <a:r>
              <a:rPr dirty="0" err="1"/>
              <a:t>horários</a:t>
            </a:r>
            <a:r>
              <a:rPr dirty="0"/>
              <a:t> contra 3,3 </a:t>
            </a:r>
            <a:r>
              <a:rPr dirty="0" err="1"/>
              <a:t>milhões</a:t>
            </a:r>
            <a:r>
              <a:rPr dirty="0"/>
              <a:t> = 260x </a:t>
            </a:r>
            <a:r>
              <a:rPr dirty="0" err="1"/>
              <a:t>mais</a:t>
            </a:r>
            <a:r>
              <a:rPr dirty="0"/>
              <a:t> dados a </a:t>
            </a:r>
            <a:r>
              <a:rPr dirty="0" err="1"/>
              <a:t>gravar</a:t>
            </a:r>
            <a:endParaRPr dirty="0"/>
          </a:p>
          <a:p>
            <a:r>
              <a:rPr dirty="0"/>
              <a:t>  - 1.200.000 ranks </a:t>
            </a:r>
            <a:r>
              <a:rPr dirty="0" err="1"/>
              <a:t>úteis</a:t>
            </a:r>
            <a:r>
              <a:rPr dirty="0"/>
              <a:t> = 8,7% dos cores do </a:t>
            </a:r>
            <a:r>
              <a:rPr dirty="0" err="1"/>
              <a:t>LineShine</a:t>
            </a:r>
            <a:endParaRPr dirty="0"/>
          </a:p>
          <a:p>
            <a:endParaRPr dirty="0"/>
          </a:p>
          <a:p>
            <a:r>
              <a:rPr dirty="0"/>
              <a:t>CREDITAR A FOTO: </a:t>
            </a:r>
            <a:r>
              <a:rPr dirty="0" err="1"/>
              <a:t>acrescente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da </a:t>
            </a:r>
            <a:r>
              <a:rPr dirty="0" err="1"/>
              <a:t>imagem</a:t>
            </a:r>
            <a:r>
              <a:rPr dirty="0"/>
              <a:t> (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linha</a:t>
            </a:r>
            <a:r>
              <a:rPr dirty="0"/>
              <a:t> </a:t>
            </a:r>
            <a:r>
              <a:rPr dirty="0" err="1"/>
              <a:t>discreta</a:t>
            </a:r>
            <a:r>
              <a:rPr dirty="0"/>
              <a:t> no canto,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menção</a:t>
            </a:r>
            <a:r>
              <a:rPr dirty="0"/>
              <a:t> verbal). É </a:t>
            </a:r>
            <a:r>
              <a:rPr dirty="0" err="1"/>
              <a:t>foto</a:t>
            </a:r>
            <a:r>
              <a:rPr dirty="0"/>
              <a:t> de </a:t>
            </a:r>
            <a:r>
              <a:rPr dirty="0" err="1"/>
              <a:t>terceiros</a:t>
            </a:r>
            <a:r>
              <a:rPr dirty="0"/>
              <a:t> e a </a:t>
            </a:r>
            <a:r>
              <a:rPr dirty="0" err="1"/>
              <a:t>defesa</a:t>
            </a:r>
            <a:r>
              <a:rPr dirty="0"/>
              <a:t> é </a:t>
            </a:r>
            <a:r>
              <a:rPr dirty="0" err="1"/>
              <a:t>sessão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— </a:t>
            </a:r>
            <a:r>
              <a:rPr dirty="0" err="1"/>
              <a:t>creditar</a:t>
            </a:r>
            <a:r>
              <a:rPr dirty="0"/>
              <a:t> resolve.</a:t>
            </a:r>
          </a:p>
          <a:p>
            <a:endParaRPr dirty="0"/>
          </a:p>
          <a:p>
            <a:r>
              <a:rPr dirty="0"/>
              <a:t>NÃO </a:t>
            </a:r>
            <a:r>
              <a:rPr dirty="0" err="1"/>
              <a:t>prometer</a:t>
            </a:r>
            <a:r>
              <a:rPr dirty="0"/>
              <a:t> tempo de </a:t>
            </a:r>
            <a:r>
              <a:rPr dirty="0" err="1"/>
              <a:t>execução</a:t>
            </a:r>
            <a:r>
              <a:rPr dirty="0"/>
              <a:t> —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medido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em HPC, como se mediu é cobrado tanto quanto o resultado. Ele responde de uma vez as perguntas de reprodutibilidade e prepara a leitura de todos os gráficos que vêm depois.</a:t>
            </a:r>
          </a:p>
          <a:p>
            <a:endParaRPr/>
          </a:p>
          <a:p>
            <a:r>
              <a:t>A FAIXA DE CIMA É O ARGUMENTO: a carga é a MESMA nos dois ambientes. Mesma base (PMO/PAR out/2023), mesmos 1.536 cenários × 3 estágios, mesmos 24 ranks por nó, mesma faixa de 2 a 32 nós. O que muda é só a infraestrutura — por isso o resultado qualitativo repetido nos dois lugares vale como portabilidade, e não como coincidência.</a:t>
            </a:r>
          </a:p>
          <a:p>
            <a:endParaRPr/>
          </a:p>
          <a:p>
            <a:r>
              <a:t>POR QUE 24 RANKS POR NÓ, E NÃO 48: cada rank MPI consome mais de 8 GB residentes. Com 384 GB por nó, ativar hyper-threading e dobrar os ranks estouraria a memória física. Logo, um rank por núcleo FÍSICO. É decisão imposta pela aplicação, não preferência.</a:t>
            </a:r>
          </a:p>
          <a:p>
            <a:endParaRPr/>
          </a:p>
          <a:p>
            <a:r>
              <a:t>STRONG SCALING, E ISSO É ESCOLHA: problema de tamanho fixo, número de nós crescente. A pergunta que interessa ao planejamento é 'o mesmo PMO roda mais rápido com mais nós?'. SE PERGUNTAREM POR WEAK SCALING: está em trabalhos futuros.</a:t>
            </a:r>
          </a:p>
          <a:p>
            <a:endParaRPr/>
          </a:p>
          <a:p>
            <a:r>
              <a:t>OS TRÊS CONTRASTES QUE EXPLICAM OS RESULTADOS:</a:t>
            </a:r>
          </a:p>
          <a:p>
            <a:r>
              <a:t>1) REDE — 18,75 Gb/s de Ethernet na AWS contra 100 Gb/s de InfiniBand no SDumont. Contraintuitivo: o ambiente com a rede mais lenta é o que dá o maior ganho de banda (113x contra 13,7x). Isso reforça o diagnóstico — o gargalo da arquitetura atual não é a rede em si, é a serialização no nó escritor.</a:t>
            </a:r>
          </a:p>
          <a:p>
            <a:r>
              <a:t>2) OSTs — 10 na AWS contra 6 no SDumont. A banda agregada do Lustre escala com o número de OSTs, o que já antecipa parte da diferença de magnitude entre os dois ambientes e conecta com o slide do efeito dos OSTs.</a:t>
            </a:r>
          </a:p>
          <a:p>
            <a:r>
              <a:t>3) DEDICADO x COMPARTILHADO — este é o mais importante. O FSx da AWS é exclusivo do experimento; o Lustre do SDumont divide banda e metadados com outros jobs. O SDumont é, portanto, o cenário ADVERSO — e é justamente por preservar a vantagem lá que a solução se mostra portátil.</a:t>
            </a:r>
          </a:p>
          <a:p>
            <a:endParaRPr/>
          </a:p>
          <a:p>
            <a:r>
              <a:t>SE PERGUNTAREM PELA BANDA PERCEBIDA DE 60,5 Gb/s EM 2 NÓS NA AWS, acima dos 18,75 Gb/s nominais do adaptador: é consequência da definição da métrica. Em 2 nós, cerca de metade dos trabalhadores fica no mesmo nó do escritor e comunica por memória compartilhada, com bloqueio mínimo; o denominador encolhe. Conforme cresce a escala, a fração de envios locais cai (um quarto em 4 nós, um oitavo em 8, menos de 6% em 16) e a métrica converge para muito abaixo do nominal.</a:t>
            </a:r>
          </a:p>
          <a:p>
            <a:endParaRPr/>
          </a:p>
          <a:p>
            <a:r>
              <a:t>PENDÊNCIA — COMPILADOR E FLAGS: a avaliação de banca marcou como risco alto a ausência de compilador, flags de otimização e configuração do mpirun. Esses dados não estão no Capítulo 4; sem eles, este slide fica incompleto no critério de reprodutibilidade. Acrescente uma linha em cada coluna assim que levantar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A CURVA VIRA: o tempo total cai até 16 nós (1.873,56 s) e PIORA em 32 (2.013,06 s). É o regime saturado do escritor único.</a:t>
            </a:r>
          </a:p>
          <a:p>
            <a:r>
              <a:t>A banda percebida desaba de 60,51 para 3,37 Gb/s, mais de uma ordem de grandeza, enquanto a fração de E/S sobe de 0,34% para 49,51%.</a:t>
            </a:r>
          </a:p>
          <a:p>
            <a:r>
              <a:t>A eficiência cai a 27,9% em 32 nós. Speedup máximo de 4,79x, em 16 nós.</a:t>
            </a:r>
          </a:p>
          <a:p>
            <a:r>
              <a:t>Os 60,51 Gb/s em 2 nós excedem os 18,75 Gb/s nominais do adaptador: em 2 nós metade dos trabalhadores comunica por memória compartilhada com o escritor, e o denominador da banda percebida encolhe (definição na Seção 3.5).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MONOTÔNICA NOS DOIS SENTIDOS: o tempo total cai em toda a faixa (8.858,91 -&gt; 1.274,25 s) e a banda cresce sem inflexão (57,04 -&gt; 380,30 Gb/s). O armazenamento não saturou.</a:t>
            </a:r>
          </a:p>
          <a:p>
            <a:r>
              <a:t>A E/S deixa de ser fator: fica em 0,70% do tempo em 32 nós, com tempo absoluto praticamente constante (18,98 -&gt; 8,96 s).</a:t>
            </a:r>
          </a:p>
          <a:p>
            <a:r>
              <a:t>A coluna nova é o open/close: 42,48 s em 2 nós para 147,26 s em 32. Cresce com o número de nós porque é operação coletiva, mas é UMA por execução — não cresce com cenários nem com estágios. Os 11,6% de participação em 32 nós estão inflados porque o teste tem só 3 estágios mensais.</a:t>
            </a:r>
          </a:p>
          <a:p>
            <a:r>
              <a:t>Eficiência de 43,5% em 32 nós: gargalo de computação em strong scaling, não de E/S.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ESTA É A TABELA QUE RESUME O EXPERIMENTO AWS. Leia a coluna 'Ganho de banda': 0,94x, 2,07x, 8,82x, 60,66x, 113,00x. O ganho é de ESCALA.</a:t>
            </a:r>
          </a:p>
          <a:p>
            <a:r>
              <a:t>O tempo total melhora 36,7% em 32 nós; a E/S melhora 99,1%.</a:t>
            </a:r>
          </a:p>
          <a:p>
            <a:r>
              <a:t>ASSUMA O PONTO FRACO: em 4 nós há PIORA de 6,3% no tempo total, apesar de a banda já ser 2,07x melhor. O Cap. 6 registra como investigação pendente e atribui a fatores externos ao módulo de E/S — provavelmente variação do tempo de computação entre repetições.</a:t>
            </a:r>
          </a:p>
          <a:p>
            <a:r>
              <a:t>Em 2 nós o empate (1,3%) é esperado: o escritor ainda não saturou e o custo fixo da camada MPI-IO pesa.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MESMO PADRÃO, OUTRA ESCALA: o tempo cai até 16 nós (3.129,98 s) e piora em 32 (3.743,71 s). O colapso aqui começa em 16 nós, não em 8 como na AWS.</a:t>
            </a:r>
          </a:p>
          <a:p>
            <a:r>
              <a:t>Banda de 27,86 para 2,49 Gb/s; fração de E/S de 0,55% para 45,83%; eficiência de 100% para 24,2%.</a:t>
            </a:r>
          </a:p>
          <a:p>
            <a:r>
              <a:t>A banda de partida é bem menor que na AWS (27,86 contra 60,51 Gb/s) porque o Lustre é COMPARTILHADO com outros jobs e tem 6 OSTs, não 10.</a:t>
            </a:r>
          </a:p>
          <a:p>
            <a:r>
              <a:t>O tempo de comunicação é alto e quase constante (370 a 545 s) — é o custo de mover tudo até o rank escritor.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Tempo total decrescente em toda a faixa (14.796 -&gt; 2.233 s) e banda monotonicamente crescente (5,55 -&gt; 34,10 Gb/s), como na AWS.</a:t>
            </a:r>
          </a:p>
          <a:p>
            <a:r>
              <a:t>O tempo médio de E/S por processo cai de 321,24 s para 64,06 s, e a fração de E/S fica abaixo de 5% em todas as configurações.</a:t>
            </a:r>
          </a:p>
          <a:p>
            <a:r>
              <a:t>ATENÇÃO À PRIMEIRA LINHA: 5,55 Gb/s em 2 nós é MENOS que os 27,86 Gb/s da implementação atual. Em pequena escala, com 6 OSTs e um sistema de arquivos disputado, a escrita distribuída não compensa o custo fixo. A partir de 8 nós inverte.</a:t>
            </a:r>
          </a:p>
          <a:p>
            <a:r>
              <a:t>O open/close chega a 230,03 s em 32 nós — mais que na AWS, coerente com um sistema de arquivos compartilhado e mais lento em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A TABELA MAIS DELICADA DAS SEIS, E A MAIS HONESTA. Ela mostra o ganho de 40,4% em 32 nós e, ao mesmo tempo, os números negativos em pequena escala.</a:t>
            </a:r>
          </a:p>
          <a:p>
            <a:r>
              <a:t>ESPERE A PERGUNTA sobre o −305,3% de E/S em 2 nós. Resposta: são métricas de agregação diferente — na implementação atual a coluna é o tempo de E/S do rank escritor; na MPI-IO é o tempo MÉDIO de E/S por processo, que passa a existir em todos os ranks. Em 2 nós, com 6 OSTs e Lustre compartilhado, esse tempo por processo é grande; a partir de 8 nós a soma dos ganhos inverte o sinal (7,7%, 87,3%, 96,3%).</a:t>
            </a:r>
          </a:p>
          <a:p>
            <a:r>
              <a:t>Não fuja da linha de 2 e 4 nós: dizer 'em pequena escala a arquitetura atual é competitiva, o ganho é de escala' é mais forte do que ser confrontado com isso.</a:t>
            </a:r>
          </a:p>
          <a:p>
            <a:r>
              <a:t>O teto de 34,10 Gb/s contra os 380,30 Gb/s da AWS é o argumento do trabalho futuro de sistema de arquivos ad-hoc (Expand).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a avaliação de banca de junho deu 0,0 ao Cap. 5 e apontou a ausência de trabalhos relacionados como risco crítico. Este slide responde 'onde você se posiciona?' — a terceira coluna é o slide; as duas primeiras são contexto.</a:t>
            </a:r>
          </a:p>
          <a:p>
            <a:endParaRPr/>
          </a:p>
          <a:p>
            <a:r>
              <a:t>A ORDEM É UM ARGUMENTO, em três passos:</a:t>
            </a:r>
          </a:p>
          <a:p>
            <a:r>
              <a:t>1) DICKENS &amp; LOGAN (2008) é o trabalho que introduziu o uso de MPI-IO sobre o Lustre e caracterizou o desempenho dessa combinação. Ele entra aqui por uma razão simples e forte: é o MESMO conjunto de ferramentas deste trabalho — MPI-IO sobre Lustre, em ambiente HPC. O SDDP é um novo caso de uso dessa mesma pilha. Não é preciso ir além disso no slide.</a:t>
            </a:r>
          </a:p>
          <a:p>
            <a:r>
              <a:t>2) LIAO et al. (2007) dá o mecanismo de alinhamento. Dois estágios: o local agrega mensagens por destino (utilização de rede); o global mantém páginas do tamanho da stripe, cada uma com um dono, o que faz toda escrita ao sistema de arquivos nascer alinhada e elimina o falso compartilhamento de locks. DIFERENÇA: o efeito do 1º estágio já é obtido aqui pela agregação das 720 horas por (estágio, cenário); o 2º não foi implementado. RESSALVA HONESTA, se perguntarem: o alinhamento deles vem da POSSE das páginas, não só do corte nas fronteiras — replicar isso exigiria reintroduzir uma noção de dono por stripe, ou seja, a coordenação que a arquitetura proposta evita.</a:t>
            </a:r>
          </a:p>
          <a:p>
            <a:r>
              <a:t>3) GARCÍA-CARBALLEIRA et al. (2023) muda a camada, não a aplicação. Volume efêmero sobre o armazenamento local dos nós alocados ao job, com stage-in/stage-out. DIFERENÇA: é o único dos três que ataca a contenção EXTERNA — a que impôs o teto de 34,1 Gb/s no SDumont, uma ordem de grandeza abaixo dos 380,3 Gb/s da AWS dedicada. Não compete com a proposta: compõe com ela.</a:t>
            </a:r>
          </a:p>
          <a:p>
            <a:endParaRPr/>
          </a:p>
          <a:p>
            <a:r>
              <a:t>FRASE DE FECHAMENTO DO SLIDE: os três sustentam a escolha de MPI-IO sobre Lustre. Dickens caracteriza o desempenho dessa pilha, Liao muda a bufferização, García-Carballeira muda a camada de armazenamento — e este trabalho muda quem escreve, sem sair do padrão MPI-IO e sem alterar o formato dos resultados.</a:t>
            </a:r>
          </a:p>
          <a:p>
            <a:endParaRPr/>
          </a:p>
          <a:p>
            <a:r>
              <a:t>SE PERGUNTAREM POR MAIS TRABALHOS: o Cap. 5 tem seis (estes três, mais Dickens &amp; Logan 2010 com a Y-lib, Gropp 2008 e Liao 2008). Gropp 2008 é o lastro teórico da escolha: com acessos non-interleaved, MPI_File_write_all degenera em MPI_File_write mais o custo de sincronização — logo, a coletiva é estritamente pior nesse regime. Dickens &amp; Logan 2010 mostra que agregar em poucos processos pode ser o pior caminho no Lustre.</a:t>
            </a:r>
          </a:p>
          <a:p>
            <a:endParaRPr/>
          </a:p>
          <a:p>
            <a:r>
              <a:t>LACUNA CONHECIDA, se alguém perguntar por que não HDF5 ou ADIOS: essas bibliotecas trazem portabilidade e autodescrição de formato, e é exatamente o formato binário que precisa ser preservado para não quebrar a cadeia de softwares do planejamento. Vale acrescentar essa família ao Cap. 5.</a:t>
            </a:r>
          </a:p>
          <a:p>
            <a:endParaRPr/>
          </a:p>
          <a:p>
            <a:r>
              <a:t>(Posição provisória: antes das Conclusões, espelhando a ordem da dissertação. Considere mover para depois do slide do Lustre — apresentado ANTES da arquitetura proposta, ele justifica a escolha antes de a pergunta nascer.)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24404</TotalTime>
  <Words>9683</Words>
  <Application>Microsoft Office PowerPoint</Application>
  <PresentationFormat>Widescreen</PresentationFormat>
  <Paragraphs>765</Paragraphs>
  <Slides>28</Slides>
  <Notes>28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Tempo de bloqueio dos envios por tamanho — AWS</vt:lpstr>
      <vt:lpstr>Tempo de bloqueio dos envios por tamanho — SDumont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470</cp:revision>
  <dcterms:created xsi:type="dcterms:W3CDTF">2024-01-10T21:29:53Z</dcterms:created>
  <dcterms:modified xsi:type="dcterms:W3CDTF">2026-08-18T23:38:59Z</dcterms:modified>
</cp:coreProperties>
</file>