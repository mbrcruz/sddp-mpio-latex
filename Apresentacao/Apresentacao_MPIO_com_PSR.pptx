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8" r:id="rId2"/>
    <p:sldId id="258" r:id="rId3"/>
    <p:sldId id="259" r:id="rId4"/>
    <p:sldId id="260" r:id="rId5"/>
    <p:sldId id="261" r:id="rId6"/>
    <p:sldId id="289" r:id="rId7"/>
    <p:sldId id="262" r:id="rId8"/>
    <p:sldId id="263" r:id="rId9"/>
    <p:sldId id="265" r:id="rId10"/>
    <p:sldId id="279" r:id="rId11"/>
    <p:sldId id="267" r:id="rId12"/>
    <p:sldId id="268" r:id="rId13"/>
    <p:sldId id="269" r:id="rId14"/>
    <p:sldId id="281" r:id="rId15"/>
    <p:sldId id="282" r:id="rId16"/>
    <p:sldId id="283" r:id="rId17"/>
    <p:sldId id="271" r:id="rId18"/>
    <p:sldId id="272" r:id="rId19"/>
    <p:sldId id="273" r:id="rId20"/>
    <p:sldId id="284" r:id="rId21"/>
    <p:sldId id="285" r:id="rId22"/>
    <p:sldId id="286" r:id="rId23"/>
    <p:sldId id="280" r:id="rId24"/>
    <p:sldId id="275" r:id="rId25"/>
    <p:sldId id="276" r:id="rId26"/>
    <p:sldId id="288" r:id="rId27"/>
    <p:sldId id="270" r:id="rId28"/>
    <p:sldId id="274" r:id="rId29"/>
    <p:sldId id="28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  <a:srgbClr val="F2F2F2"/>
    <a:srgbClr val="23426E"/>
    <a:srgbClr val="FF7A4F"/>
    <a:srgbClr val="00ADA1"/>
    <a:srgbClr val="162944"/>
    <a:srgbClr val="2F5893"/>
    <a:srgbClr val="ACBBD0"/>
    <a:srgbClr val="4D7980"/>
    <a:srgbClr val="3E64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293" autoAdjust="0"/>
  </p:normalViewPr>
  <p:slideViewPr>
    <p:cSldViewPr snapToGrid="0">
      <p:cViewPr varScale="1">
        <p:scale>
          <a:sx n="67" d="100"/>
          <a:sy n="67" d="100"/>
        </p:scale>
        <p:origin x="1296" y="53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2A2CF-32D5-4D4E-B710-CC654E292E38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FC1F3-6408-419A-A05A-0888B79047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20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05D7F-85FE-0A98-1134-6ED9A276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FF78B-AC50-42F1-3D77-507120B25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A042E-8B94-B191-19BE-A22E21CA3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F3A28-D03D-E7EE-4BB1-9068BC28A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68965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7C3DA-DC25-5321-D481-23F69FE1D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E66BA-F66A-0406-9392-BFE24C24A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CF299-EE20-C3ED-34F8-7837BC840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686E9-0E54-0D2B-8135-B1859A512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97502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1F218-0ECF-A7E1-A22D-49DFAF21A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58610-86D3-FD81-F809-CBBB8FC7C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DAD11-F088-663B-D7CC-473E01EA1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F2FB-CD4A-E047-63D4-853DA5CFE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79342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57BF1E-E00D-41BD-0BAE-6695FD6698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591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80000"/>
                </a:schemeClr>
              </a:gs>
              <a:gs pos="9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52571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571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9312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80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ity&#10;&#10;Description automatically generated">
            <a:extLst>
              <a:ext uri="{FF2B5EF4-FFF2-40B4-BE49-F238E27FC236}">
                <a16:creationId xmlns:a16="http://schemas.microsoft.com/office/drawing/2014/main" id="{31CFD4B2-973C-060A-E56B-83D8A8EE66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5" b="528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80000"/>
                </a:schemeClr>
              </a:gs>
              <a:gs pos="9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52571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571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9312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8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planet with dots and lines around it&#10;&#10;Description automatically generated">
            <a:extLst>
              <a:ext uri="{FF2B5EF4-FFF2-40B4-BE49-F238E27FC236}">
                <a16:creationId xmlns:a16="http://schemas.microsoft.com/office/drawing/2014/main" id="{958B62DD-8E16-DC56-4C9F-2777F961F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8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65000"/>
                </a:schemeClr>
              </a:gs>
              <a:gs pos="91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6686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686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93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FE72562-197E-A924-C206-7921BAEDB72F}"/>
              </a:ext>
            </a:extLst>
          </p:cNvPr>
          <p:cNvSpPr/>
          <p:nvPr userDrawn="1"/>
        </p:nvSpPr>
        <p:spPr>
          <a:xfrm>
            <a:off x="1" y="911225"/>
            <a:ext cx="7305674" cy="74114"/>
          </a:xfrm>
          <a:prstGeom prst="rect">
            <a:avLst/>
          </a:prstGeom>
          <a:solidFill>
            <a:srgbClr val="6B9E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Picture 34" descr="Power lines of power lines in a field&#10;&#10;Description automatically generated">
            <a:extLst>
              <a:ext uri="{FF2B5EF4-FFF2-40B4-BE49-F238E27FC236}">
                <a16:creationId xmlns:a16="http://schemas.microsoft.com/office/drawing/2014/main" id="{57C0443E-A5A6-2ED1-BA0D-572A454EB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rgbClr val="4C787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01"/>
          <a:stretch/>
        </p:blipFill>
        <p:spPr>
          <a:xfrm>
            <a:off x="403945" y="0"/>
            <a:ext cx="3413559" cy="63562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470191A-5A8B-4695-6507-590C26809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100" y="223647"/>
            <a:ext cx="6896100" cy="590931"/>
          </a:xfrm>
          <a:noFill/>
        </p:spPr>
        <p:txBody>
          <a:bodyPr wrap="square" rtlCol="0">
            <a:spAutoFit/>
          </a:bodyPr>
          <a:lstStyle>
            <a:lvl1pPr>
              <a:defRPr lang="en-US" sz="3600" b="1" smtClean="0">
                <a:solidFill>
                  <a:srgbClr val="16294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US" sz="1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1601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FE72562-197E-A924-C206-7921BAEDB72F}"/>
              </a:ext>
            </a:extLst>
          </p:cNvPr>
          <p:cNvSpPr/>
          <p:nvPr userDrawn="1"/>
        </p:nvSpPr>
        <p:spPr>
          <a:xfrm>
            <a:off x="1" y="911225"/>
            <a:ext cx="7305674" cy="74114"/>
          </a:xfrm>
          <a:prstGeom prst="rect">
            <a:avLst/>
          </a:prstGeom>
          <a:solidFill>
            <a:srgbClr val="6B9E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470191A-5A8B-4695-6507-590C26809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100" y="223647"/>
            <a:ext cx="6896100" cy="590931"/>
          </a:xfrm>
          <a:noFill/>
        </p:spPr>
        <p:txBody>
          <a:bodyPr wrap="square" rtlCol="0">
            <a:spAutoFit/>
          </a:bodyPr>
          <a:lstStyle>
            <a:lvl1pPr>
              <a:defRPr lang="en-US" sz="3600" b="1" smtClean="0">
                <a:solidFill>
                  <a:srgbClr val="16294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US" sz="1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 descr="A large dam with a body of water&#10;&#10;Description automatically generated">
            <a:extLst>
              <a:ext uri="{FF2B5EF4-FFF2-40B4-BE49-F238E27FC236}">
                <a16:creationId xmlns:a16="http://schemas.microsoft.com/office/drawing/2014/main" id="{EB91D891-362D-C60A-7419-BAD5F90A7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4C787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76"/>
          <a:stretch/>
        </p:blipFill>
        <p:spPr>
          <a:xfrm>
            <a:off x="395067" y="0"/>
            <a:ext cx="3413558" cy="635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24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">
    <p:bg>
      <p:bgPr>
        <a:gradFill>
          <a:gsLst>
            <a:gs pos="77000">
              <a:schemeClr val="accent4"/>
            </a:gs>
            <a:gs pos="0">
              <a:schemeClr val="accent3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05C712-34F0-AEFE-656C-F81274925D7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53987003"/>
              </p:ext>
            </p:extLst>
          </p:nvPr>
        </p:nvGraphicFramePr>
        <p:xfrm>
          <a:off x="2755900" y="2434807"/>
          <a:ext cx="7572917" cy="1981130"/>
        </p:xfrm>
        <a:graphic>
          <a:graphicData uri="http://schemas.openxmlformats.org/drawingml/2006/table">
            <a:tbl>
              <a:tblPr firstRow="1" bandRow="1"/>
              <a:tblGrid>
                <a:gridCol w="7572917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19811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180975" algn="l"/>
                      <a:r>
                        <a:rPr lang="en-US" sz="6000" b="1" dirty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  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sp>
        <p:nvSpPr>
          <p:cNvPr id="9" name="Frame 8">
            <a:extLst>
              <a:ext uri="{FF2B5EF4-FFF2-40B4-BE49-F238E27FC236}">
                <a16:creationId xmlns:a16="http://schemas.microsoft.com/office/drawing/2014/main" id="{708860BE-0D82-90A3-D798-5AAD19D9DE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25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ED83F4-1D7E-5FA8-D1AF-4C1E9B9CDC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4169" y="2434807"/>
            <a:ext cx="8214405" cy="1981130"/>
          </a:xfrm>
        </p:spPr>
        <p:txBody>
          <a:bodyPr anchor="ctr" anchorCtr="0"/>
          <a:lstStyle>
            <a:lvl1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89474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de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ED83F4-1D7E-5FA8-D1AF-4C1E9B9CDC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8797" y="3895307"/>
            <a:ext cx="8214405" cy="1981130"/>
          </a:xfrm>
        </p:spPr>
        <p:txBody>
          <a:bodyPr anchor="ctr" anchorCtr="0"/>
          <a:lstStyle>
            <a:lvl1pPr>
              <a:defRPr lang="en-US" sz="6000" b="1" kern="1200" dirty="0" smtClean="0">
                <a:solidFill>
                  <a:schemeClr val="accent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A05A453-2699-6656-2048-D2C1283E51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070" y="3895307"/>
            <a:ext cx="1321930" cy="1981130"/>
          </a:xfrm>
        </p:spPr>
        <p:txBody>
          <a:bodyPr anchor="ctr" anchorCtr="0"/>
          <a:lstStyle>
            <a:lvl1pPr algn="r">
              <a:defRPr lang="en-US" sz="6000" b="1" kern="1200" dirty="0" smtClean="0">
                <a:solidFill>
                  <a:schemeClr val="accent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35366C-8099-C19E-E4C2-45EB79FBD743}"/>
              </a:ext>
            </a:extLst>
          </p:cNvPr>
          <p:cNvSpPr/>
          <p:nvPr userDrawn="1"/>
        </p:nvSpPr>
        <p:spPr>
          <a:xfrm>
            <a:off x="-1130" y="6616700"/>
            <a:ext cx="12193130" cy="241300"/>
          </a:xfrm>
          <a:prstGeom prst="rect">
            <a:avLst/>
          </a:prstGeom>
          <a:gradFill>
            <a:gsLst>
              <a:gs pos="78000">
                <a:schemeClr val="accent4"/>
              </a:gs>
              <a:gs pos="0">
                <a:schemeClr val="accent3">
                  <a:lumMod val="40000"/>
                  <a:lumOff val="6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081CC8A-4433-11D8-26FD-A812D98148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978" y="564630"/>
            <a:ext cx="722721" cy="3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65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20A6-6F3D-AFE2-D7A7-9AC424E1C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0" y="303033"/>
            <a:ext cx="11755539" cy="65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14B89-7FBD-D203-7F94-9A46893D2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751" y="1371601"/>
            <a:ext cx="11755539" cy="4924424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B261E-9F25-42CF-5A85-49EE0CBE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9035" y="6390012"/>
            <a:ext cx="1136254" cy="303722"/>
          </a:xfrm>
        </p:spPr>
        <p:txBody>
          <a:bodyPr/>
          <a:lstStyle>
            <a:lvl1pPr algn="r">
              <a:defRPr/>
            </a:lvl1pPr>
          </a:lstStyle>
          <a:p>
            <a:fld id="{809018B1-3A62-43BC-AB0B-949CA5A722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EA7C8-EE9A-D73C-8D18-39C4BDF52D43}"/>
              </a:ext>
            </a:extLst>
          </p:cNvPr>
          <p:cNvSpPr txBox="1"/>
          <p:nvPr userDrawn="1"/>
        </p:nvSpPr>
        <p:spPr>
          <a:xfrm>
            <a:off x="3048000" y="6451028"/>
            <a:ext cx="6096000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r>
              <a:rPr lang="en-US" dirty="0"/>
              <a:t>© PSR</a:t>
            </a:r>
          </a:p>
        </p:txBody>
      </p:sp>
      <p:pic>
        <p:nvPicPr>
          <p:cNvPr id="11" name="Picture 10" descr="A triangle with lines and dots&#10;&#10;Description automatically generated">
            <a:extLst>
              <a:ext uri="{FF2B5EF4-FFF2-40B4-BE49-F238E27FC236}">
                <a16:creationId xmlns:a16="http://schemas.microsoft.com/office/drawing/2014/main" id="{31F7C503-C8B3-7F85-B2F3-5714E158FA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50" y="6396923"/>
            <a:ext cx="612390" cy="296811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9150549-795D-B3C4-C4E4-49CAECFBB7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0023" y="850900"/>
            <a:ext cx="11792225" cy="520701"/>
          </a:xfrm>
        </p:spPr>
        <p:txBody>
          <a:bodyPr>
            <a:normAutofit/>
          </a:bodyPr>
          <a:lstStyle>
            <a:lvl1pPr>
              <a:defRPr lang="en-US" sz="2400" b="0" kern="1200" dirty="0" smtClean="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081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A7EAE-3CA9-C039-B807-5601345FB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9751" y="63341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</a:lstStyle>
          <a:p>
            <a:fld id="{809018B1-3A62-43BC-AB0B-949CA5A722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D8258D-C1B7-2CD5-8D3B-1EAEB6E3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0" y="176033"/>
            <a:ext cx="11755539" cy="65835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2D668-DCF3-5A87-BE4C-6D7D176F7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751" y="1027182"/>
            <a:ext cx="11755539" cy="5149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45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1" r:id="rId2"/>
    <p:sldLayoutId id="2147483672" r:id="rId3"/>
    <p:sldLayoutId id="2147483663" r:id="rId4"/>
    <p:sldLayoutId id="2147483675" r:id="rId5"/>
    <p:sldLayoutId id="2147483662" r:id="rId6"/>
    <p:sldLayoutId id="2147483673" r:id="rId7"/>
    <p:sldLayoutId id="2147483650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 smtClean="0">
          <a:solidFill>
            <a:srgbClr val="20324C"/>
          </a:solidFill>
          <a:latin typeface="Myriad Pro" panose="020B0503030403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5089A2-E5F5-EDD8-46D5-668EBB40C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30F9-56AB-B43B-3F45-8BDE01AB7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86" y="879175"/>
            <a:ext cx="9510304" cy="812530"/>
          </a:xfrm>
        </p:spPr>
        <p:txBody>
          <a:bodyPr/>
          <a:lstStyle/>
          <a:p>
            <a:r>
              <a:rPr sz="2600" dirty="0" err="1"/>
              <a:t>Investigando</a:t>
            </a:r>
            <a:r>
              <a:rPr sz="2600" dirty="0"/>
              <a:t> </a:t>
            </a:r>
            <a:r>
              <a:rPr sz="2600" dirty="0" err="1"/>
              <a:t>Problemas</a:t>
            </a:r>
            <a:r>
              <a:rPr sz="2600" dirty="0"/>
              <a:t> de </a:t>
            </a:r>
            <a:r>
              <a:rPr sz="2600" dirty="0" err="1"/>
              <a:t>Escalabilidade</a:t>
            </a:r>
            <a:r>
              <a:rPr sz="2600" dirty="0"/>
              <a:t> de E/S no </a:t>
            </a:r>
            <a:r>
              <a:rPr sz="2600" dirty="0" err="1"/>
              <a:t>Algoritmo</a:t>
            </a:r>
            <a:r>
              <a:rPr sz="2600" dirty="0"/>
              <a:t> SDDP </a:t>
            </a:r>
            <a:r>
              <a:rPr sz="2600" dirty="0" err="1"/>
              <a:t>em</a:t>
            </a:r>
            <a:r>
              <a:rPr sz="2600" dirty="0"/>
              <a:t> Ambientes HPC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32A12C-AEC2-C372-BCBE-50AA72A7AA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500"/>
              <a:t>Dissertação de Mestrado — PESC/COPPE/UFRJ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54016-D8CB-9BDF-CD65-80114A2C1E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3004268"/>
            <a:ext cx="9418864" cy="1110532"/>
          </a:xfrm>
        </p:spPr>
        <p:txBody>
          <a:bodyPr/>
          <a:lstStyle/>
          <a:p>
            <a:r>
              <a:rPr sz="1600" dirty="0"/>
              <a:t>Marcelo Barros da Cruz   |   </a:t>
            </a:r>
            <a:r>
              <a:rPr sz="1600" dirty="0" err="1"/>
              <a:t>Orientador</a:t>
            </a:r>
            <a:r>
              <a:rPr sz="1600" dirty="0"/>
              <a:t>:  </a:t>
            </a:r>
            <a:r>
              <a:rPr lang="en-US" sz="1600" b="0" dirty="0"/>
              <a:t>Diego Leonel Cadette Dutra</a:t>
            </a:r>
            <a:endParaRPr sz="1600" dirty="0"/>
          </a:p>
          <a:p>
            <a:r>
              <a:rPr sz="1600" dirty="0"/>
              <a:t>Banca:  </a:t>
            </a:r>
            <a:r>
              <a:rPr lang="en-US" sz="1600" b="0" dirty="0"/>
              <a:t>Nelson Maculan Filho (PESC/COPPE/UFRJ) e  Mario Veiga Ferraz Pereira (PSR) </a:t>
            </a:r>
            <a:r>
              <a:rPr sz="1600" dirty="0"/>
              <a:t> |   </a:t>
            </a:r>
            <a:r>
              <a:rPr sz="1600" dirty="0" err="1"/>
              <a:t>agosto</a:t>
            </a:r>
            <a:r>
              <a:rPr sz="1600" dirty="0"/>
              <a:t> de 2026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D972E9E-EC8D-6D98-2FBE-167968B121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042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Introdução e Motivação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1400" noProof="0" dirty="0"/>
              <a:t>Quando a E/S se torna o gargalo de uma aplicação paralela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51" y="1211601"/>
            <a:ext cx="11755539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lang="pt-BR" sz="1600" noProof="0" dirty="0"/>
              <a:t>Caso de estudo — o SDDP: na simulação final os problemas são independentes e cada processo produz blocos contíguo de dados por (estágio, cenário), </a:t>
            </a:r>
            <a:endParaRPr lang="pt-BR" sz="1600" dirty="0"/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lang="pt-BR" sz="1600" noProof="0" dirty="0"/>
              <a:t>A mudança de resolução por patamares para horária em alguns casos </a:t>
            </a:r>
            <a:r>
              <a:rPr lang="pt-BR" sz="1600" noProof="0"/>
              <a:t>pode ampliar em </a:t>
            </a:r>
            <a:r>
              <a:rPr lang="pt-BR" sz="1600" noProof="0" dirty="0"/>
              <a:t>até 240x o tamanho dos resultados.</a:t>
            </a: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lang="pt-BR" sz="1600" noProof="0" dirty="0"/>
              <a:t>O HPC oferece as duas peças para esse padrão: o Lustre entrega banda agregada que cresce com o número de </a:t>
            </a:r>
            <a:r>
              <a:rPr lang="pt-BR" sz="1600" noProof="0" dirty="0" err="1"/>
              <a:t>OSTs</a:t>
            </a:r>
            <a:r>
              <a:rPr lang="pt-BR" sz="1600" noProof="0" dirty="0"/>
              <a:t>, e a MPI-IO permite que vários processos gravem em offsets distintos de um mesmo arquivo</a:t>
            </a: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lang="pt-BR" sz="1600" noProof="0" dirty="0"/>
              <a:t>Mas essa banda é potencial, não automática: um único rank escritor converte a E/S em comunicação ponto a ponto e a serializa — o limite passa a ser a rede do nó escritor, não o armazenamento</a:t>
            </a:r>
          </a:p>
        </p:txBody>
      </p:sp>
      <p:pic>
        <p:nvPicPr>
          <p:cNvPr id="6" name="Picture 5" descr="formato_patamares_vs_hor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937" y="3099920"/>
            <a:ext cx="6985161" cy="16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9749" y="4871218"/>
            <a:ext cx="11755539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2F5893"/>
                </a:solidFill>
              </a:rPr>
              <a:t>Por tarefa (estágio, cenário): 3 registros  →  720 registros  =  240x mais dados a persistir</a:t>
            </a:r>
          </a:p>
          <a:p>
            <a:pPr marL="0" indent="0">
              <a:buNone/>
            </a:pPr>
            <a:r>
              <a:rPr lang="pt-BR" sz="1200" noProof="0" dirty="0"/>
              <a:t>A carga de computação por tarefa não muda — cresce o volume de saída, e o gargalo migra da CPU para a E/S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e Contribuições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9751" y="1211601"/>
            <a:ext cx="11755539" cy="1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F5893"/>
                </a:solidFill>
              </a:rPr>
              <a:t>Objetivo</a:t>
            </a:r>
          </a:p>
          <a:p>
            <a:pPr marL="0" indent="0">
              <a:buNone/>
            </a:pPr>
            <a:r>
              <a:rPr sz="1300"/>
              <a:t>Propor e avaliar uma arquitetura paralela de E/S para o SDDP, baseada em escritas independentes com MPI-IO sobre Lustre, substituindo a estratégia atual com processo escritor único.</a:t>
            </a:r>
          </a:p>
          <a:p>
            <a:pPr marL="0" indent="0">
              <a:spcBef>
                <a:spcPts val="400"/>
              </a:spcBef>
              <a:buNone/>
            </a:pPr>
            <a:r>
              <a:rPr sz="1300"/>
              <a:t>O foco da pesquisa é exclusivamente a </a:t>
            </a:r>
            <a:r>
              <a:rPr sz="1300" b="1">
                <a:solidFill>
                  <a:srgbClr val="2F5893"/>
                </a:solidFill>
              </a:rPr>
              <a:t>escrita dos resultados da simulação final</a:t>
            </a:r>
            <a:r>
              <a:rPr sz="1300"/>
              <a:t> — etapa posterior à convergência da política, em que se acumula o maior volume de dados produzido pela aplicação.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751" y="2451601"/>
            <a:ext cx="5583881" cy="2056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 dirty="0">
                <a:solidFill>
                  <a:srgbClr val="877553"/>
                </a:solidFill>
              </a:rPr>
              <a:t>Fora do </a:t>
            </a:r>
            <a:r>
              <a:rPr sz="1500" b="1" dirty="0" err="1">
                <a:solidFill>
                  <a:srgbClr val="877553"/>
                </a:solidFill>
              </a:rPr>
              <a:t>escopo</a:t>
            </a:r>
            <a:endParaRPr sz="1500" b="1" dirty="0">
              <a:solidFill>
                <a:srgbClr val="877553"/>
              </a:solidFill>
            </a:endParaRP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 dirty="0"/>
              <a:t>A </a:t>
            </a:r>
            <a:r>
              <a:rPr sz="1200" dirty="0" err="1"/>
              <a:t>fase</a:t>
            </a:r>
            <a:r>
              <a:rPr sz="1200" dirty="0"/>
              <a:t> </a:t>
            </a:r>
            <a:r>
              <a:rPr lang="en-US" sz="1200" dirty="0"/>
              <a:t>de </a:t>
            </a:r>
            <a:r>
              <a:rPr lang="en-US" sz="1200" dirty="0" err="1"/>
              <a:t>politica</a:t>
            </a:r>
            <a:r>
              <a:rPr lang="en-US" sz="1200"/>
              <a:t>.</a:t>
            </a:r>
            <a:endParaRPr sz="1200" dirty="0"/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 dirty="0" err="1"/>
              <a:t>Otimizações</a:t>
            </a:r>
            <a:r>
              <a:rPr sz="1200" dirty="0"/>
              <a:t> da </a:t>
            </a:r>
            <a:r>
              <a:rPr sz="1200" dirty="0" err="1"/>
              <a:t>computação</a:t>
            </a:r>
            <a:r>
              <a:rPr sz="1200" dirty="0"/>
              <a:t> </a:t>
            </a:r>
            <a:r>
              <a:rPr sz="1200" dirty="0" err="1"/>
              <a:t>executada</a:t>
            </a:r>
            <a:r>
              <a:rPr sz="1200" dirty="0"/>
              <a:t> </a:t>
            </a:r>
            <a:r>
              <a:rPr sz="1200" dirty="0" err="1"/>
              <a:t>na</a:t>
            </a:r>
            <a:r>
              <a:rPr sz="1200" dirty="0"/>
              <a:t> </a:t>
            </a:r>
            <a:r>
              <a:rPr sz="1200" dirty="0" err="1"/>
              <a:t>simulação</a:t>
            </a:r>
            <a:r>
              <a:rPr sz="1200" dirty="0"/>
              <a:t> final: o tempo de </a:t>
            </a:r>
            <a:r>
              <a:rPr sz="1200" dirty="0" err="1"/>
              <a:t>resolução</a:t>
            </a:r>
            <a:r>
              <a:rPr sz="1200" dirty="0"/>
              <a:t> de </a:t>
            </a:r>
            <a:r>
              <a:rPr sz="1200" dirty="0" err="1"/>
              <a:t>cada</a:t>
            </a:r>
            <a:r>
              <a:rPr sz="1200" dirty="0"/>
              <a:t> </a:t>
            </a:r>
            <a:r>
              <a:rPr sz="1200" dirty="0" err="1"/>
              <a:t>cenário</a:t>
            </a:r>
            <a:r>
              <a:rPr sz="1200" dirty="0"/>
              <a:t> é </a:t>
            </a:r>
            <a:r>
              <a:rPr sz="1200" dirty="0" err="1"/>
              <a:t>tratado</a:t>
            </a:r>
            <a:r>
              <a:rPr sz="1200" dirty="0"/>
              <a:t> </a:t>
            </a:r>
            <a:r>
              <a:rPr sz="1200" dirty="0" err="1"/>
              <a:t>como</a:t>
            </a:r>
            <a:r>
              <a:rPr sz="1200" dirty="0"/>
              <a:t> dado, e </a:t>
            </a:r>
            <a:r>
              <a:rPr sz="1200" dirty="0" err="1"/>
              <a:t>apenas</a:t>
            </a:r>
            <a:r>
              <a:rPr sz="1200" dirty="0"/>
              <a:t> a </a:t>
            </a:r>
            <a:r>
              <a:rPr sz="1200" dirty="0" err="1"/>
              <a:t>escrita</a:t>
            </a:r>
            <a:r>
              <a:rPr sz="1200" dirty="0"/>
              <a:t> dos </a:t>
            </a:r>
            <a:r>
              <a:rPr sz="1200" dirty="0" err="1"/>
              <a:t>resultados</a:t>
            </a:r>
            <a:r>
              <a:rPr sz="1200" dirty="0"/>
              <a:t> é </a:t>
            </a:r>
            <a:r>
              <a:rPr sz="1200" dirty="0" err="1"/>
              <a:t>objeto</a:t>
            </a:r>
            <a:r>
              <a:rPr sz="1200" dirty="0"/>
              <a:t> do </a:t>
            </a:r>
            <a:r>
              <a:rPr sz="1200" dirty="0" err="1"/>
              <a:t>trabalho</a:t>
            </a:r>
            <a:endParaRPr sz="1200" dirty="0"/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 dirty="0"/>
              <a:t>A </a:t>
            </a:r>
            <a:r>
              <a:rPr sz="1200" dirty="0" err="1"/>
              <a:t>paralelização</a:t>
            </a:r>
            <a:r>
              <a:rPr sz="1200" dirty="0"/>
              <a:t> das </a:t>
            </a:r>
            <a:r>
              <a:rPr sz="1200" dirty="0" err="1"/>
              <a:t>leituras</a:t>
            </a:r>
            <a:r>
              <a:rPr sz="1200" dirty="0"/>
              <a:t> dos dados de entrada, </a:t>
            </a:r>
            <a:r>
              <a:rPr sz="1200" dirty="0" err="1"/>
              <a:t>cujo</a:t>
            </a:r>
            <a:r>
              <a:rPr sz="1200" dirty="0"/>
              <a:t> volume é </a:t>
            </a:r>
            <a:r>
              <a:rPr sz="1200" dirty="0" err="1"/>
              <a:t>muito</a:t>
            </a:r>
            <a:r>
              <a:rPr sz="1200" dirty="0"/>
              <a:t> inferior </a:t>
            </a:r>
            <a:r>
              <a:rPr sz="1200" dirty="0" err="1"/>
              <a:t>ao</a:t>
            </a:r>
            <a:r>
              <a:rPr sz="1200" dirty="0"/>
              <a:t> da </a:t>
            </a:r>
            <a:r>
              <a:rPr sz="1200" dirty="0" err="1"/>
              <a:t>escrita</a:t>
            </a:r>
            <a:endParaRPr sz="1200" dirty="0"/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 dirty="0" err="1"/>
              <a:t>Melhorias</a:t>
            </a:r>
            <a:r>
              <a:rPr sz="1200" dirty="0"/>
              <a:t> no </a:t>
            </a:r>
            <a:r>
              <a:rPr sz="1200" dirty="0" err="1"/>
              <a:t>escalonamento</a:t>
            </a:r>
            <a:r>
              <a:rPr sz="1200" dirty="0"/>
              <a:t> de </a:t>
            </a:r>
            <a:r>
              <a:rPr sz="1200" dirty="0" err="1"/>
              <a:t>tarefas</a:t>
            </a:r>
            <a:r>
              <a:rPr sz="1200" dirty="0"/>
              <a:t> entre ranks: </a:t>
            </a:r>
            <a:r>
              <a:rPr sz="1200" dirty="0" err="1"/>
              <a:t>mantém</a:t>
            </a:r>
            <a:r>
              <a:rPr sz="1200" dirty="0"/>
              <a:t>-se o bag-of-tasks </a:t>
            </a:r>
            <a:r>
              <a:rPr sz="1200" dirty="0" err="1"/>
              <a:t>já</a:t>
            </a:r>
            <a:r>
              <a:rPr sz="1200" dirty="0"/>
              <a:t> </a:t>
            </a:r>
            <a:r>
              <a:rPr sz="1200" dirty="0" err="1"/>
              <a:t>existente</a:t>
            </a:r>
            <a:endParaRPr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6371409" y="2451601"/>
            <a:ext cx="5583881" cy="384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F5893"/>
                </a:solidFill>
              </a:rPr>
              <a:t>Contribuições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Diagnóstico dos gargalos da arquitetura atual: o processo escritor único e o limite do adaptador de rede do nó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Arquitetura de E/S paralela com MPI-IO sobre Lustre, com escritas independentes em offsets pré-calculados, preservando o formato dos arquivos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Instrumentação das duas implementações com métricas equivalentes: computação, coordenação MPI, E/S, bloqueio e banda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Avaliação experimental em dois ambientes — AWS com FSx for Lustre e SDumont com Lustre compartilhado — de 2 a 32 nós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Análise da influência do número de OSTs na escalabilidade, com orientações de dimensionamento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MPI e MPI-IO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Do modelo de troca de mensagens à E/S paralela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51" y="1251601"/>
            <a:ext cx="5701436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F5893"/>
                </a:solidFill>
              </a:rPr>
              <a:t>MPI — protocolos Eager e Rendezvous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3854" y="1251601"/>
            <a:ext cx="5701436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F5893"/>
                </a:solidFill>
              </a:rPr>
              <a:t>MPI-IO — escritas independentes e coletivas</a:t>
            </a:r>
          </a:p>
        </p:txBody>
      </p:sp>
      <p:pic>
        <p:nvPicPr>
          <p:cNvPr id="7" name="Picture 6" descr="Eager-and-Rendezvous-Protoc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2642935"/>
            <a:ext cx="5701436" cy="2671755"/>
          </a:xfrm>
          <a:prstGeom prst="rect">
            <a:avLst/>
          </a:prstGeom>
        </p:spPr>
      </p:pic>
      <p:pic>
        <p:nvPicPr>
          <p:cNvPr id="8" name="Picture 7" descr="mpiio_independente_vs_coleti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54" y="3147738"/>
            <a:ext cx="5701436" cy="16621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751" y="6106025"/>
            <a:ext cx="11755539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sz="1000">
                <a:solidFill>
                  <a:srgbClr val="877553"/>
                </a:solidFill>
              </a:rPr>
              <a:t>Capítulo 2 — Figuras 2.1 (esq.) e 2.3 (dir.)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Onde está o paralelismo do sistema de arquivos</a:t>
            </a:r>
          </a:p>
        </p:txBody>
      </p:sp>
      <p:pic>
        <p:nvPicPr>
          <p:cNvPr id="5" name="Picture 4" descr="Lustre_arquite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530" y="1571601"/>
            <a:ext cx="7267980" cy="4524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Distribuição em stripes no Lustre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2 — Figura 2.5</a:t>
            </a:r>
          </a:p>
        </p:txBody>
      </p:sp>
      <p:pic>
        <p:nvPicPr>
          <p:cNvPr id="5" name="Figura 2.5" descr="figura_2_5_stri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538" y="1572768"/>
            <a:ext cx="7740619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atual de E/S do SDDP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Um único processo escritor centraliza todas as gravações</a:t>
            </a:r>
          </a:p>
        </p:txBody>
      </p:sp>
      <p:pic>
        <p:nvPicPr>
          <p:cNvPr id="5" name="Picture 4" descr="SDDP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944" y="1571601"/>
            <a:ext cx="7413152" cy="4524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proposta com MPI-IO e Lustre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3 — Figura 3.1</a:t>
            </a:r>
          </a:p>
        </p:txBody>
      </p:sp>
      <p:pic>
        <p:nvPicPr>
          <p:cNvPr id="5" name="Picture 4" descr="SDDP_architectur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28" y="1371601"/>
            <a:ext cx="9411785" cy="4924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0" i="0" u="none" strike="noStrike" baseline="0" dirty="0">
                <a:latin typeface="F70"/>
              </a:rPr>
              <a:t>Implementação das escritas paralelas independentes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3 — Código 3.1 (esq.) e Figura 3.4 (dir.)</a:t>
            </a:r>
          </a:p>
        </p:txBody>
      </p:sp>
      <p:sp>
        <p:nvSpPr>
          <p:cNvPr id="30" name="Rotulo 1"/>
          <p:cNvSpPr txBox="1"/>
          <p:nvPr/>
        </p:nvSpPr>
        <p:spPr>
          <a:xfrm>
            <a:off x="201168" y="1170432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Pseudocódigo da escrita independente por rank</a:t>
            </a:r>
          </a:p>
        </p:txBody>
      </p:sp>
      <p:sp>
        <p:nvSpPr>
          <p:cNvPr id="31" name="Rotulo 2"/>
          <p:cNvSpPr txBox="1"/>
          <p:nvPr/>
        </p:nvSpPr>
        <p:spPr>
          <a:xfrm>
            <a:off x="7242048" y="1170432"/>
            <a:ext cx="4745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Formato dos resultados preservado</a:t>
            </a:r>
          </a:p>
        </p:txBody>
      </p:sp>
      <p:pic>
        <p:nvPicPr>
          <p:cNvPr id="38" name="Codigo 3.1" descr="codigo_3_1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554480"/>
            <a:ext cx="6766560" cy="4155026"/>
          </a:xfrm>
          <a:prstGeom prst="rect">
            <a:avLst/>
          </a:prstGeom>
        </p:spPr>
      </p:pic>
      <p:pic>
        <p:nvPicPr>
          <p:cNvPr id="39" name="Figura 3.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1764792"/>
            <a:ext cx="4745736" cy="1802575"/>
          </a:xfrm>
          <a:prstGeom prst="rect">
            <a:avLst/>
          </a:prstGeom>
        </p:spPr>
      </p:pic>
      <p:sp>
        <p:nvSpPr>
          <p:cNvPr id="40" name="Ponte"/>
          <p:cNvSpPr txBox="1"/>
          <p:nvPr/>
        </p:nvSpPr>
        <p:spPr>
          <a:xfrm>
            <a:off x="7242048" y="3886200"/>
            <a:ext cx="47457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893"/>
                </a:solidFill>
              </a:rPr>
              <a:t>irec = posicaoLogica(estágio, cenário, hora)</a:t>
            </a:r>
          </a:p>
          <a:p>
            <a:r>
              <a:rPr sz="1400" b="1">
                <a:solidFill>
                  <a:srgbClr val="2F5893"/>
                </a:solidFill>
              </a:rPr>
              <a:t>offset = irec × tamRegistro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333333"/>
                </a:solidFill>
              </a:rPr>
              <a:t>A posição de cada registro é função do índice — então cada rank calcula sozinho onde gravar, sem coordenação global e sem escritor central.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Ambientes experimentais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mesma carga, duas infraestruturas</a:t>
            </a:r>
          </a:p>
        </p:txBody>
      </p:sp>
      <p:sp>
        <p:nvSpPr>
          <p:cNvPr id="5" name="Comum"/>
          <p:cNvSpPr txBox="1"/>
          <p:nvPr/>
        </p:nvSpPr>
        <p:spPr>
          <a:xfrm>
            <a:off x="201168" y="1225296"/>
            <a:ext cx="117866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020"/>
                </a:solidFill>
              </a:rPr>
              <a:t>Base PMO/PAR de outubro de 2023  ·  1.536 cenários × 3 estágios mensais  ·  24 ranks por nó (1 por núcleo físico; sem hyper-threading, pois cada rank usa mais de 8 GB residentes)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</a:rPr>
              <a:t>2 a 32 nós  ·  5 repetições por configuração (média ± desvio padrão)  ·  strong scaling: problema fixo, número de nós variável</a:t>
            </a:r>
          </a:p>
        </p:txBody>
      </p:sp>
      <p:sp>
        <p:nvSpPr>
          <p:cNvPr id="6" name="AWS_tit"/>
          <p:cNvSpPr txBox="1"/>
          <p:nvPr/>
        </p:nvSpPr>
        <p:spPr>
          <a:xfrm>
            <a:off x="201168" y="221284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F5893"/>
                </a:solidFill>
              </a:rPr>
              <a:t>AWS — nuvem com armazenamento dedicado</a:t>
            </a:r>
          </a:p>
        </p:txBody>
      </p:sp>
      <p:sp>
        <p:nvSpPr>
          <p:cNvPr id="7" name="AWS"/>
          <p:cNvSpPr txBox="1"/>
          <p:nvPr/>
        </p:nvSpPr>
        <p:spPr>
          <a:xfrm>
            <a:off x="201168" y="2651760"/>
            <a:ext cx="5760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Nós: </a:t>
            </a:r>
            <a:r>
              <a:rPr sz="1300">
                <a:solidFill>
                  <a:srgbClr val="202020"/>
                </a:solidFill>
              </a:rPr>
              <a:t>até 32 × r7i.12xlarge (memory-optimized)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CPU: </a:t>
            </a:r>
            <a:r>
              <a:rPr sz="1300">
                <a:solidFill>
                  <a:srgbClr val="202020"/>
                </a:solidFill>
              </a:rPr>
              <a:t>Intel Xeon Sapphire Rapids 8488C, 3,2 GHz — 24 núcleos físicos (48 lógicos)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Memória: </a:t>
            </a:r>
            <a:r>
              <a:rPr sz="1300">
                <a:solidFill>
                  <a:srgbClr val="202020"/>
                </a:solidFill>
              </a:rPr>
              <a:t>384 GB DDR5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Rede: </a:t>
            </a:r>
            <a:r>
              <a:rPr sz="1300">
                <a:solidFill>
                  <a:srgbClr val="202020"/>
                </a:solidFill>
              </a:rPr>
              <a:t>Elastic Network Adapter (Ethernet), até 18,75 Gb/s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Armazenamento: </a:t>
            </a:r>
            <a:r>
              <a:rPr sz="1300">
                <a:solidFill>
                  <a:srgbClr val="202020"/>
                </a:solidFill>
              </a:rPr>
              <a:t>Amazon FSx for Lustre 2.12, 12 TB — 1 MDS (350 GB) + 10 OSTs (1,165 TB cada)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Lustre: </a:t>
            </a:r>
            <a:r>
              <a:rPr sz="1300">
                <a:solidFill>
                  <a:srgbClr val="202020"/>
                </a:solidFill>
              </a:rPr>
              <a:t>stripe_count = 10, stripe_size = 1 MB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MPI: </a:t>
            </a:r>
            <a:r>
              <a:rPr sz="1300">
                <a:solidFill>
                  <a:srgbClr val="202020"/>
                </a:solidFill>
              </a:rPr>
              <a:t>MPICH2 3.2</a:t>
            </a:r>
          </a:p>
        </p:txBody>
      </p:sp>
      <p:sp>
        <p:nvSpPr>
          <p:cNvPr id="8" name="AWS_fecho"/>
          <p:cNvSpPr txBox="1"/>
          <p:nvPr/>
        </p:nvSpPr>
        <p:spPr>
          <a:xfrm>
            <a:off x="201168" y="481888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8C7A4B"/>
                </a:solidFill>
              </a:rPr>
              <a:t>Armazenamento dedicado ao experimento</a:t>
            </a:r>
          </a:p>
        </p:txBody>
      </p:sp>
      <p:sp>
        <p:nvSpPr>
          <p:cNvPr id="9" name="SDU_tit"/>
          <p:cNvSpPr txBox="1"/>
          <p:nvPr/>
        </p:nvSpPr>
        <p:spPr>
          <a:xfrm>
            <a:off x="6227064" y="221284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F5893"/>
                </a:solidFill>
              </a:rPr>
              <a:t>SDumont — supercomputador (LNCC / SINAPAD)</a:t>
            </a:r>
          </a:p>
        </p:txBody>
      </p:sp>
      <p:sp>
        <p:nvSpPr>
          <p:cNvPr id="10" name="SDU"/>
          <p:cNvSpPr txBox="1"/>
          <p:nvPr/>
        </p:nvSpPr>
        <p:spPr>
          <a:xfrm>
            <a:off x="6227064" y="2651760"/>
            <a:ext cx="5760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Nós: </a:t>
            </a:r>
            <a:r>
              <a:rPr sz="1300">
                <a:solidFill>
                  <a:srgbClr val="202020"/>
                </a:solidFill>
              </a:rPr>
              <a:t>até 32 nós de processamento (EVIDEN/ATOS/BULL)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CPU: </a:t>
            </a:r>
            <a:r>
              <a:rPr sz="1300">
                <a:solidFill>
                  <a:srgbClr val="202020"/>
                </a:solidFill>
              </a:rPr>
              <a:t>2 × Intel Xeon Cascade Lake Gold 6252 — 24 núcleos físicos (48 lógicos)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Memória: </a:t>
            </a:r>
            <a:r>
              <a:rPr sz="1300">
                <a:solidFill>
                  <a:srgbClr val="202020"/>
                </a:solidFill>
              </a:rPr>
              <a:t>384 GB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Rede: </a:t>
            </a:r>
            <a:r>
              <a:rPr sz="1300">
                <a:solidFill>
                  <a:srgbClr val="202020"/>
                </a:solidFill>
              </a:rPr>
              <a:t>InfiniBand EDR, 100 Gb/s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Armazenamento: </a:t>
            </a:r>
            <a:r>
              <a:rPr sz="1300">
                <a:solidFill>
                  <a:srgbClr val="202020"/>
                </a:solidFill>
              </a:rPr>
              <a:t>Lustre 2.12 em Cray/HPE ClusterStor L300, 1,1 PB — 1 MDS (1 MDT) + 6 OSS (1 OST cada)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Lustre: </a:t>
            </a:r>
            <a:r>
              <a:rPr sz="1300">
                <a:solidFill>
                  <a:srgbClr val="202020"/>
                </a:solidFill>
              </a:rPr>
              <a:t>stripe_count = 6, stripe_size = 1 MB</a:t>
            </a:r>
          </a:p>
          <a:p>
            <a:pPr marL="285750" indent="-285750">
              <a:spcBef>
                <a:spcPts val="200"/>
              </a:spcBef>
              <a:buFont typeface="Wingdings" pitchFamily="2" charset="2"/>
              <a:buChar char="§"/>
            </a:pPr>
            <a:r>
              <a:rPr sz="1300" b="1">
                <a:solidFill>
                  <a:srgbClr val="202020"/>
                </a:solidFill>
              </a:rPr>
              <a:t>MPI: </a:t>
            </a:r>
            <a:r>
              <a:rPr sz="1300">
                <a:solidFill>
                  <a:srgbClr val="202020"/>
                </a:solidFill>
              </a:rPr>
              <a:t>MPICH2 3.2</a:t>
            </a:r>
          </a:p>
        </p:txBody>
      </p:sp>
      <p:sp>
        <p:nvSpPr>
          <p:cNvPr id="11" name="SDU_fecho"/>
          <p:cNvSpPr txBox="1"/>
          <p:nvPr/>
        </p:nvSpPr>
        <p:spPr>
          <a:xfrm>
            <a:off x="6227064" y="481888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8C7A4B"/>
                </a:solidFill>
              </a:rPr>
              <a:t>Armazenamento compartilhado com outros jobs de HPC</a:t>
            </a:r>
          </a:p>
        </p:txBody>
      </p:sp>
      <p:sp>
        <p:nvSpPr>
          <p:cNvPr id="12" name="Contrastes"/>
          <p:cNvSpPr txBox="1"/>
          <p:nvPr/>
        </p:nvSpPr>
        <p:spPr>
          <a:xfrm>
            <a:off x="201168" y="5440680"/>
            <a:ext cx="117866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F5893"/>
                </a:solidFill>
              </a:rPr>
              <a:t>Três diferenças de infraestrutura, com a mesma carga:</a:t>
            </a:r>
            <a:r>
              <a:rPr sz="1350">
                <a:solidFill>
                  <a:srgbClr val="202020"/>
                </a:solidFill>
              </a:rPr>
              <a:t>  rede (18,75 Gb/s Ethernet × 100 Gb/s InfiniBand)  ·  OSTs (10 × 6)  ·  armazenamento dedicado × compartilhado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02020"/>
                </a:solidFill>
              </a:rPr>
              <a:t>Manter a carga fixa e variar apenas a infraestrutura é o que permite separar efeito de arquitetura de efeito de plataforma.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Caracterização do perfil de E/S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Figuras 4.1 (esq.) e 4.2 (dir.)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51" y="1241601"/>
            <a:ext cx="570143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Número de escritas por faixa de tamanho de bloco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3854" y="1241601"/>
            <a:ext cx="570143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Volume gravado por faixa de tamanho de bloco</a:t>
            </a:r>
          </a:p>
        </p:txBody>
      </p:sp>
      <p:pic>
        <p:nvPicPr>
          <p:cNvPr id="7" name="Picture 6" descr="escrita_frequencia_por_blo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2592445"/>
            <a:ext cx="5701436" cy="2822735"/>
          </a:xfrm>
          <a:prstGeom prst="rect">
            <a:avLst/>
          </a:prstGeom>
        </p:spPr>
      </p:pic>
      <p:pic>
        <p:nvPicPr>
          <p:cNvPr id="8" name="Picture 7" descr="escrita_volume_por_blo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54" y="2590696"/>
            <a:ext cx="5701436" cy="28262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Banda agregada — AWS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4.3</a:t>
            </a:r>
          </a:p>
        </p:txBody>
      </p:sp>
      <p:pic>
        <p:nvPicPr>
          <p:cNvPr id="5" name="Picture 4" descr="Banda_AWS_a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1411519"/>
            <a:ext cx="11755539" cy="4844587"/>
          </a:xfrm>
          <a:prstGeom prst="rect">
            <a:avLst/>
          </a:prstGeom>
        </p:spPr>
      </p:pic>
      <p:pic>
        <p:nvPicPr>
          <p:cNvPr id="6" name="MPI-IO (animar)" descr="Banda_AWS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51" y="1411519"/>
            <a:ext cx="11755539" cy="4844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 de execução — AWS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4.4</a:t>
            </a:r>
          </a:p>
        </p:txBody>
      </p:sp>
      <p:pic>
        <p:nvPicPr>
          <p:cNvPr id="5" name="Picture 4" descr="T_AWS_a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969" y="1371601"/>
            <a:ext cx="6929103" cy="4924424"/>
          </a:xfrm>
          <a:prstGeom prst="rect">
            <a:avLst/>
          </a:prstGeom>
        </p:spPr>
      </p:pic>
      <p:pic>
        <p:nvPicPr>
          <p:cNvPr id="6" name="MPI-IO (animar)" descr="T_AWS_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969" y="1371601"/>
            <a:ext cx="6929103" cy="49244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— implementação atual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Tabela 4.1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02802"/>
              </p:ext>
            </p:extLst>
          </p:nvPr>
        </p:nvGraphicFramePr>
        <p:xfrm>
          <a:off x="201168" y="1572768"/>
          <a:ext cx="11786612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Nós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36576" marR="36576" marT="27432" marB="27432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Banda percebida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E/S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% E/S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Comunicação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Eficiência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(%)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60,51 ± 5,20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30,85 ± 13,23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0,34%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177,51 ± 29,73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8.971,23 ± 348,60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1,00×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100,0%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51,28 ± 2,82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78,23 ± 27,79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1,62%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212,76 ± 19,33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4.823,20 ± 53,08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1,86×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93,0%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18,94 ± 3,76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201,67 ± 53,32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7,64%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174,04 ± 12,90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2.639,18 ± 18,34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3,40×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85,0%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4,52 ± 0,33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527,94 ± 53,07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28,18%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167,77 ± 7,07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1.873,56 ± 56,94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4,79×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59,9%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3,37 ± 0,10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996,57 ± 166,98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49,51%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304,96 ± 3,83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2.013,06 ± 29,10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4,46×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27,9%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genda"/>
          <p:cNvSpPr txBox="1"/>
          <p:nvPr/>
        </p:nvSpPr>
        <p:spPr>
          <a:xfrm>
            <a:off x="201168" y="5257800"/>
            <a:ext cx="11786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5A5A"/>
                </a:solidFill>
              </a:rPr>
              <a:t>Média ± desvio padrão de 5 repetições  ·  1.536 cenários × 3 estágios  ·  24 ranks por nó  ·  eficiência relativa à base de 2 nós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— implementação MPI-IO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Tabela 4.2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034850"/>
              </p:ext>
            </p:extLst>
          </p:nvPr>
        </p:nvGraphicFramePr>
        <p:xfrm>
          <a:off x="201168" y="1572768"/>
          <a:ext cx="11786616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Nós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36576" marR="36576" marT="27432" marB="27432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Banda percebida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E/S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% E/S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Comunicação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open/close</a:t>
                      </a:r>
                    </a:p>
                    <a:p>
                      <a:pPr algn="ctr"/>
                      <a:r>
                        <a:rPr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Eficiência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(%)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57,04 ± 8,47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18,98 ± 5,55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0,21%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188,24 ± 25,66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42,48 ± 7,69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8.858,91 ± 111,44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1,00×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100,0%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106,04 ± 19,42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12,79 ± 3,50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0,25%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233,70 ± 24,23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51,23 ± 15,15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5.127,24 ± 107,53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1,73×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86,4%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167,03 ± 40,19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10,75 ± 6,25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0,41%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185,30 ± 19,97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69,82 ± 4,68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2.599,75 ± 37,14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3,41×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85,2%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274,24 ± 15,33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7,47 ± 1,78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0,48%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233,71 ± 5,14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83,53 ± 4,16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1.558,33 ± 9,39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5,68×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71,1%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380,30 ± 30,65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8,96 ± 2,46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0,70%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235,99 ± 9,30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147,26 ± 7,32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1.274,25 ± 23,90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6,95×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43,5%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genda"/>
          <p:cNvSpPr txBox="1"/>
          <p:nvPr/>
        </p:nvSpPr>
        <p:spPr>
          <a:xfrm>
            <a:off x="201168" y="5257800"/>
            <a:ext cx="11786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5A5A"/>
                </a:solidFill>
              </a:rPr>
              <a:t>Média ± desvio padrão de 5 repetições  ·  1.536 cenários × 3 estágios  ·  24 ranks por nó  ·  eficiência relativa à base de 2 nós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— comparativo atual × MPI-IO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Tabela 4.3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713416"/>
              </p:ext>
            </p:extLst>
          </p:nvPr>
        </p:nvGraphicFramePr>
        <p:xfrm>
          <a:off x="201168" y="1572768"/>
          <a:ext cx="11786616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Nós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Total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atual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Total MPI-IO</a:t>
                      </a: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Melhoria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no total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Banda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atual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Banda MPI-IO</a:t>
                      </a: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Ganho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 de</a:t>
                      </a:r>
                    </a:p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banda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E/S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atual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990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E/S MPI-IO</a:t>
                      </a: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990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Melhoria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E/S</a:t>
                      </a:r>
                    </a:p>
                  </a:txBody>
                  <a:tcPr marL="36576" marR="36576" marT="27432" marB="27432">
                    <a:solidFill>
                      <a:srgbClr val="990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8.971,23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8.858,91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1,3%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60,51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57,04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0,94×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30,85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202020"/>
                          </a:solidFill>
                        </a:rPr>
                        <a:t>18,98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202020"/>
                          </a:solidFill>
                        </a:rPr>
                        <a:t>38,5%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4.823,20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5.127,24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−6,3%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202020"/>
                          </a:solidFill>
                        </a:rPr>
                        <a:t>51,28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106,04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2,07×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78,23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12,79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83,7%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2.639,18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2.599,75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1,5%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18,94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167,03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8,82×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201,67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10,75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94,7%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1.873,56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1.558,33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16,8%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202020"/>
                          </a:solidFill>
                        </a:rPr>
                        <a:t>4,52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274,24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60,66×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527,94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7,47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98,6%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2.013,06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1.274,25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36,7%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3,37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380,30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113,00×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996,57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8,96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202020"/>
                          </a:solidFill>
                        </a:rPr>
                        <a:t>99,1%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genda"/>
          <p:cNvSpPr txBox="1"/>
          <p:nvPr/>
        </p:nvSpPr>
        <p:spPr>
          <a:xfrm>
            <a:off x="201168" y="5257800"/>
            <a:ext cx="11786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5A5A"/>
                </a:solidFill>
              </a:rPr>
              <a:t>Melhoria calculada sobre a implementação atual; valores negativos indicam piora  ·  E/S = tempo médio de E/S por processo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Efeito do número de OSTs no Lustre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Figuras 4.7 (esq.) e 4.6 (dir.)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51" y="1241601"/>
            <a:ext cx="570143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Banda agregada média percebida pela aplicação</a:t>
            </a:r>
          </a:p>
        </p:txBody>
      </p:sp>
      <p:pic>
        <p:nvPicPr>
          <p:cNvPr id="7" name="Picture 6" descr="Experimento_OSTs_b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380" y="1641601"/>
            <a:ext cx="7766959" cy="4817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Banda agregada — SDumont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4.8</a:t>
            </a:r>
          </a:p>
        </p:txBody>
      </p:sp>
      <p:pic>
        <p:nvPicPr>
          <p:cNvPr id="5" name="Picture 4" descr="B_SDU_a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1411519"/>
            <a:ext cx="11755539" cy="4844587"/>
          </a:xfrm>
          <a:prstGeom prst="rect">
            <a:avLst/>
          </a:prstGeom>
        </p:spPr>
      </p:pic>
      <p:pic>
        <p:nvPicPr>
          <p:cNvPr id="6" name="MPI-IO (animar)" descr="B_SDU_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51" y="1411519"/>
            <a:ext cx="11755539" cy="4844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 de execução — SDumont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4.9</a:t>
            </a:r>
          </a:p>
        </p:txBody>
      </p:sp>
      <p:pic>
        <p:nvPicPr>
          <p:cNvPr id="5" name="Picture 4" descr="T_SDU_a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969" y="1371601"/>
            <a:ext cx="6929103" cy="4924424"/>
          </a:xfrm>
          <a:prstGeom prst="rect">
            <a:avLst/>
          </a:prstGeom>
        </p:spPr>
      </p:pic>
      <p:pic>
        <p:nvPicPr>
          <p:cNvPr id="6" name="MPI-IO (animar)" descr="T_SDU_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969" y="1371601"/>
            <a:ext cx="6929103" cy="49244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SDumont — implementação atual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Tabela 4.4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782481"/>
              </p:ext>
            </p:extLst>
          </p:nvPr>
        </p:nvGraphicFramePr>
        <p:xfrm>
          <a:off x="201168" y="1572768"/>
          <a:ext cx="11786612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2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Nós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36576" marR="36576" marT="27432" marB="27432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Banda percebida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E/S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% E/S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Comunicação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Eficiência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(%)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27,86 ± 7,06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79,26 ± 32,75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0,55%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383,25 ± 28,01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14.523,52 ± 24,32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1,00×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100,0%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24,76 ± 6,73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123,16 ± 49,49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1,59%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370,35 ± 20,95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7.758,10 ± 27,99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1,87×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93,6%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23,87 ± 4,84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210,86 ± 79,43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4,94%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383,38 ± 22,87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4.265,40 ± 62,72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3,40×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85,1%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4,19 ± 0,30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795,68 ± 87,70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25,42%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389,72 ± 6,26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3.129,98 ± 73,39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4,64×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58,0%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2,49 ± 0,49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1.715,81 ± 259,79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45,83%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544,71 ± 38,00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3.743,71 ± 249,11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3,88×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24,2%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genda"/>
          <p:cNvSpPr txBox="1"/>
          <p:nvPr/>
        </p:nvSpPr>
        <p:spPr>
          <a:xfrm>
            <a:off x="201168" y="5257800"/>
            <a:ext cx="11786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5A5A"/>
                </a:solidFill>
              </a:rPr>
              <a:t>Média ± desvio padrão de 5 repetições  ·  1.536 cenários × 3 estágios  ·  24 ranks por nó  ·  eficiência relativa à base de 2 nós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SDumont — implementação MPI-IO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Tabela 4.5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512125"/>
              </p:ext>
            </p:extLst>
          </p:nvPr>
        </p:nvGraphicFramePr>
        <p:xfrm>
          <a:off x="201168" y="1572768"/>
          <a:ext cx="11786616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24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Nós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36576" marR="36576" marT="27432" marB="27432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Banda percebida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E/S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% E/S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Comunicação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open/close</a:t>
                      </a:r>
                    </a:p>
                    <a:p>
                      <a:pPr algn="ctr"/>
                      <a:r>
                        <a:rPr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Eficiência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(%)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5,55 ± 0,37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321,24 ± 85,21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2,17%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352,81 ± 8,60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23,24 ± 3,03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14.796,47 ± 46,32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1,00×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100,0%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8,89 ± 0,97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271,52 ± 50,04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3,48%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231,00 ± 12,85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32,27 ± 1,60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7.800,23 ± 93,32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1,90×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94,8%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12,09 ± 1,51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194,71 ± 34,40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4,58%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222,57 ± 7,89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79,31 ± 21,88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4.251,01 ± 141,68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3,48×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87,0%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18,85 ± 1,19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100,92 ± 21,10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4,01%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281,28 ± 18,34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126,49 ± 28,31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2.519,43 ± 100,75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5,87×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73,4%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5893"/>
                          </a:solidFill>
                        </a:rPr>
                        <a:t>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34,10 ± 5,36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64,06 ± 26,99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2,87%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357,72 ± 22,32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230,03 ± 8,88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2.232,82 ± 86,57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02020"/>
                          </a:solidFill>
                        </a:rPr>
                        <a:t>6,63×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02020"/>
                          </a:solidFill>
                        </a:rPr>
                        <a:t>41,4%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genda"/>
          <p:cNvSpPr txBox="1"/>
          <p:nvPr/>
        </p:nvSpPr>
        <p:spPr>
          <a:xfrm>
            <a:off x="201168" y="5257800"/>
            <a:ext cx="11786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5A5A"/>
                </a:solidFill>
              </a:rPr>
              <a:t>Média ± desvio padrão de 5 repetições  ·  1.536 cenários × 3 estágios  ·  24 ranks por nó  ·  eficiência relativa à base de 2 nós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SDumont — comparativo atual × MPI-IO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Tabela 4.6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413444"/>
              </p:ext>
            </p:extLst>
          </p:nvPr>
        </p:nvGraphicFramePr>
        <p:xfrm>
          <a:off x="201168" y="1572768"/>
          <a:ext cx="11786616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66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Nós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36576" marR="36576" marT="27432" marB="27432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Total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atual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Total MPI-IO</a:t>
                      </a: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Melhoria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no total</a:t>
                      </a:r>
                    </a:p>
                  </a:txBody>
                  <a:tcPr marL="36576" marR="36576" marT="27432" marB="274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Banda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atual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Banda MPI-IO</a:t>
                      </a: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(Gb/s)</a:t>
                      </a: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Ganho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 de</a:t>
                      </a:r>
                    </a:p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banda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36576" marR="36576" marT="27432" marB="27432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E/S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atual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E/S MPI-IO</a:t>
                      </a: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(s)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Melhoria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E/S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14.523,52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14.796,47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−1,9%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27,86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5,55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0,20×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79,26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321,24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−305,3%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4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7.758,10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7.800,23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−0,5%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24,76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8,89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0,36×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202020"/>
                          </a:solidFill>
                        </a:rPr>
                        <a:t>123,16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271,52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−120,5%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4.265,40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4.251,01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202020"/>
                          </a:solidFill>
                        </a:rPr>
                        <a:t>0,3%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23,87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12,09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0,51×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202020"/>
                          </a:solidFill>
                        </a:rPr>
                        <a:t>210,86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194,71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7,7%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16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3.129,98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2.519,43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19,5%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4,19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18,85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4,50×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795,68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100,92</a:t>
                      </a: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87,3%</a:t>
                      </a:r>
                    </a:p>
                  </a:txBody>
                  <a:tcPr marL="36576" marR="36576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F5893"/>
                          </a:solidFill>
                        </a:rPr>
                        <a:t>32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3.743,71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2.232,82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40,4%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2,49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202020"/>
                          </a:solidFill>
                        </a:rPr>
                        <a:t>34,10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13,70×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1.715,81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64,06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202020"/>
                          </a:solidFill>
                        </a:rPr>
                        <a:t>96,3%</a:t>
                      </a:r>
                    </a:p>
                  </a:txBody>
                  <a:tcPr marL="36576" marR="36576" marT="27432" marB="27432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Legenda"/>
          <p:cNvSpPr txBox="1"/>
          <p:nvPr/>
        </p:nvSpPr>
        <p:spPr>
          <a:xfrm>
            <a:off x="201168" y="5257800"/>
            <a:ext cx="11786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5A5A"/>
                </a:solidFill>
              </a:rPr>
              <a:t>Melhoria calculada sobre a implementação atual; valores negativos indicam piora  ·  E/S = tempo médio de E/S por processo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Trabalhos relacionados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5 — onde este trabalho se posiciona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280160"/>
          <a:ext cx="11786616" cy="4462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1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Trabalho</a:t>
                      </a:r>
                    </a:p>
                  </a:txBody>
                  <a:tcPr marL="82296" marR="82296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mostra</a:t>
                      </a:r>
                    </a:p>
                  </a:txBody>
                  <a:tcPr marL="82296" marR="82296">
                    <a:solidFill>
                      <a:srgbClr val="2F58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Onde este trabalho se posiciona</a:t>
                      </a:r>
                    </a:p>
                  </a:txBody>
                  <a:tcPr marL="82296" marR="82296">
                    <a:solidFill>
                      <a:srgbClr val="2F5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F5893"/>
                          </a:solidFill>
                        </a:rPr>
                        <a:t>Dickens &amp; Logan (2008)</a:t>
                      </a:r>
                    </a:p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50" b="0" i="1">
                          <a:solidFill>
                            <a:srgbClr val="202020"/>
                          </a:solidFill>
                        </a:rPr>
                        <a:t>Towards an Understanding of the Performance of MPI-IO in Lustre File Systems</a:t>
                      </a:r>
                    </a:p>
                  </a:txBody>
                  <a:tcPr marL="82296" marR="8229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020"/>
                          </a:solidFill>
                        </a:rPr>
                        <a:t>Introduziu o uso de MPI-IO sobre o Lustre em ambiente HPC, caracterizando o desempenho dessa combinação.</a:t>
                      </a:r>
                    </a:p>
                  </a:txBody>
                  <a:tcPr marL="82296" marR="8229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02020"/>
                          </a:solidFill>
                        </a:rPr>
                        <a:t>Mesmo conjunto de ferramentas deste trabalho — MPI-IO sobre Lustre —, o que torna o SDDP um novo caso de uso dessa mesma pilha.</a:t>
                      </a:r>
                    </a:p>
                  </a:txBody>
                  <a:tcPr marL="82296" marR="82296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893"/>
                          </a:solidFill>
                        </a:rPr>
                        <a:t>Liao et al. (2007)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1150" b="0" i="1">
                          <a:solidFill>
                            <a:srgbClr val="202020"/>
                          </a:solidFill>
                        </a:rPr>
                        <a:t>Improving MPI Independent Write Performance Using a Two-Stage Write-Behind Buffering Method</a:t>
                      </a:r>
                    </a:p>
                  </a:txBody>
                  <a:tcPr marL="82296" marR="82296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Escritas independentes menores que uma stripe forçam múltiplos locks. Dois estágios: buffers locais por destino (agregam a rede) e buffers globais com páginas do tamanho da stripe (alinham a E/S). A independente chega a superar a coletiva.</a:t>
                      </a:r>
                    </a:p>
                  </a:txBody>
                  <a:tcPr marL="82296" marR="82296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O 1º estágio já existe aqui de outra forma: cada rank agrega as 720 horas de um par (estágio, cenário) num bloco contíguo. O 2º — alinhamento sistemático à stripe — não foi adotado: parte das escritas alinha incidentalmente à stripe de 1 MB.</a:t>
                      </a:r>
                    </a:p>
                  </a:txBody>
                  <a:tcPr marL="82296" marR="8229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893"/>
                          </a:solidFill>
                        </a:rPr>
                        <a:t>García-Carballeira et al. (2023)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1150" b="0" i="1">
                          <a:solidFill>
                            <a:srgbClr val="202020"/>
                          </a:solidFill>
                        </a:rPr>
                        <a:t>A new Ad-Hoc parallel file system for HPC environments based on Expand</a:t>
                      </a:r>
                    </a:p>
                  </a:txBody>
                  <a:tcPr marL="82296" marR="8229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Sistema de arquivos ad-hoc que virtualiza o armazenamento local dos nós num volume efêmero, com o ciclo de vida do job, reduzindo a congestão sobre o sistema de arquivos de backend; sincroniza no stage-in e no stage-out.</a:t>
                      </a:r>
                    </a:p>
                  </a:txBody>
                  <a:tcPr marL="82296" marR="8229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Endereça o teto observado no SDumont, com Lustre compartilhado (34,1 Gb/s contra 380,3 Gb/s no FSx dedicado). Age na camada de armazenamento, enquanto este trabalho age no caminho de escrita da aplicação — são complementares.</a:t>
                      </a:r>
                    </a:p>
                  </a:txBody>
                  <a:tcPr marL="82296" marR="82296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Fecho"/>
          <p:cNvSpPr txBox="1"/>
          <p:nvPr/>
        </p:nvSpPr>
        <p:spPr>
          <a:xfrm>
            <a:off x="201168" y="5897880"/>
            <a:ext cx="11786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893"/>
                </a:solidFill>
              </a:rPr>
              <a:t>Os três sustentam a escolha de MPI-IO sobre Lustre: </a:t>
            </a:r>
            <a:r>
              <a:rPr sz="1300">
                <a:solidFill>
                  <a:srgbClr val="333333"/>
                </a:solidFill>
              </a:rPr>
              <a:t>Dickens caracteriza o desempenho dessa pilha, Liao muda a bufferização, García-Carballeira muda a camada de armazenamento — este trabalho muda quem escreve.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pt-BR" sz="1800" dirty="0">
                <a:solidFill>
                  <a:srgbClr val="00B050"/>
                </a:solidFill>
              </a:rPr>
              <a:t>O contraste é qualitativo, não pontual: a banda da MPI-IO cresce </a:t>
            </a:r>
            <a:r>
              <a:rPr lang="pt-BR" sz="1800" dirty="0" err="1">
                <a:solidFill>
                  <a:srgbClr val="00B050"/>
                </a:solidFill>
              </a:rPr>
              <a:t>monotonicamente</a:t>
            </a:r>
            <a:r>
              <a:rPr lang="pt-BR" sz="1800" dirty="0">
                <a:solidFill>
                  <a:srgbClr val="00B050"/>
                </a:solidFill>
              </a:rPr>
              <a:t> até </a:t>
            </a:r>
            <a:r>
              <a:rPr lang="pt-BR" sz="1800" b="1" dirty="0">
                <a:solidFill>
                  <a:srgbClr val="00B050"/>
                </a:solidFill>
              </a:rPr>
              <a:t>380 Gb/s (113×) </a:t>
            </a:r>
            <a:r>
              <a:rPr lang="pt-BR" sz="1800" dirty="0">
                <a:solidFill>
                  <a:srgbClr val="00B050"/>
                </a:solidFill>
              </a:rPr>
              <a:t>na AWS </a:t>
            </a:r>
            <a:r>
              <a:rPr lang="pt-BR" sz="1800" b="1" dirty="0">
                <a:solidFill>
                  <a:srgbClr val="00B050"/>
                </a:solidFill>
              </a:rPr>
              <a:t>e 34 Gb/s (13,7×) </a:t>
            </a:r>
            <a:r>
              <a:rPr lang="pt-BR" sz="1800" dirty="0">
                <a:solidFill>
                  <a:srgbClr val="00B050"/>
                </a:solidFill>
              </a:rPr>
              <a:t>no </a:t>
            </a:r>
            <a:r>
              <a:rPr lang="pt-BR" sz="1800" dirty="0" err="1">
                <a:solidFill>
                  <a:srgbClr val="00B050"/>
                </a:solidFill>
              </a:rPr>
              <a:t>SDumont</a:t>
            </a:r>
            <a:r>
              <a:rPr lang="pt-BR" sz="1800" dirty="0">
                <a:solidFill>
                  <a:srgbClr val="00B050"/>
                </a:solidFill>
              </a:rPr>
              <a:t> — o armazenamento ainda não saturou.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pt-BR" sz="1800" dirty="0">
                <a:solidFill>
                  <a:srgbClr val="00B050"/>
                </a:solidFill>
              </a:rPr>
              <a:t>Em 32 nós a E/S consome </a:t>
            </a:r>
            <a:r>
              <a:rPr lang="pt-BR" sz="1800" b="1" dirty="0">
                <a:solidFill>
                  <a:srgbClr val="00B050"/>
                </a:solidFill>
              </a:rPr>
              <a:t>49,5%</a:t>
            </a:r>
            <a:r>
              <a:rPr lang="pt-BR" sz="1800" dirty="0">
                <a:solidFill>
                  <a:srgbClr val="00B050"/>
                </a:solidFill>
              </a:rPr>
              <a:t> do tempo na implementação atual; com escritas independentes em MPI-IO cai para </a:t>
            </a:r>
            <a:r>
              <a:rPr lang="pt-BR" sz="1800" b="1" dirty="0">
                <a:solidFill>
                  <a:srgbClr val="00B050"/>
                </a:solidFill>
              </a:rPr>
              <a:t>0,7%, </a:t>
            </a:r>
            <a:r>
              <a:rPr lang="pt-BR" sz="1800" dirty="0">
                <a:solidFill>
                  <a:srgbClr val="00B050"/>
                </a:solidFill>
              </a:rPr>
              <a:t>e o tempo total cai </a:t>
            </a:r>
            <a:r>
              <a:rPr lang="pt-BR" sz="1800" b="1" dirty="0">
                <a:solidFill>
                  <a:srgbClr val="00B050"/>
                </a:solidFill>
              </a:rPr>
              <a:t>36,7% (2.013 s → 1.274 s)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pt-BR" sz="1800" dirty="0">
                <a:solidFill>
                  <a:srgbClr val="00B050"/>
                </a:solidFill>
              </a:rPr>
              <a:t>Portabilidade: o mesmo padrão se repete em nuvem dedicada e em supercomputador compartilhado (</a:t>
            </a:r>
            <a:r>
              <a:rPr lang="pt-BR" sz="1800" b="1" dirty="0">
                <a:solidFill>
                  <a:srgbClr val="00B050"/>
                </a:solidFill>
              </a:rPr>
              <a:t>40,4% </a:t>
            </a:r>
            <a:r>
              <a:rPr lang="pt-BR" sz="1800" dirty="0">
                <a:solidFill>
                  <a:srgbClr val="00B050"/>
                </a:solidFill>
              </a:rPr>
              <a:t>de redução em 32 nós no </a:t>
            </a:r>
            <a:r>
              <a:rPr lang="pt-BR" sz="1800" dirty="0" err="1">
                <a:solidFill>
                  <a:srgbClr val="00B050"/>
                </a:solidFill>
              </a:rPr>
              <a:t>SDumont</a:t>
            </a:r>
            <a:r>
              <a:rPr lang="pt-BR" sz="1800" dirty="0">
                <a:solidFill>
                  <a:srgbClr val="00B050"/>
                </a:solidFill>
              </a:rPr>
              <a:t>) — não é artefato de infraestrutura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pt-BR" sz="1800" dirty="0">
                <a:solidFill>
                  <a:srgbClr val="FFC000"/>
                </a:solidFill>
              </a:rPr>
              <a:t>Dimensionar o Lustre é parte do ganho: passar de 4 para 10 </a:t>
            </a:r>
            <a:r>
              <a:rPr lang="pt-BR" sz="1800" dirty="0" err="1">
                <a:solidFill>
                  <a:srgbClr val="FFC000"/>
                </a:solidFill>
              </a:rPr>
              <a:t>OSTs</a:t>
            </a:r>
            <a:r>
              <a:rPr lang="pt-BR" sz="1800" dirty="0">
                <a:solidFill>
                  <a:srgbClr val="FFC000"/>
                </a:solidFill>
              </a:rPr>
              <a:t> amplia a banda agregada </a:t>
            </a:r>
            <a:r>
              <a:rPr lang="pt-BR" sz="1800" b="1" dirty="0">
                <a:solidFill>
                  <a:srgbClr val="FFC000"/>
                </a:solidFill>
              </a:rPr>
              <a:t>5,6× </a:t>
            </a:r>
            <a:r>
              <a:rPr lang="pt-BR" sz="1800" dirty="0">
                <a:solidFill>
                  <a:srgbClr val="FFC000"/>
                </a:solidFill>
              </a:rPr>
              <a:t>em 16 nós e </a:t>
            </a:r>
            <a:r>
              <a:rPr lang="pt-BR" sz="1800" b="1" dirty="0">
                <a:solidFill>
                  <a:srgbClr val="FFC000"/>
                </a:solidFill>
              </a:rPr>
              <a:t>23,6× </a:t>
            </a:r>
            <a:r>
              <a:rPr lang="pt-BR" sz="1800" dirty="0">
                <a:solidFill>
                  <a:srgbClr val="FFC000"/>
                </a:solidFill>
              </a:rPr>
              <a:t>em 32 nós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pt-BR" sz="1800" dirty="0">
                <a:solidFill>
                  <a:srgbClr val="FF0000"/>
                </a:solidFill>
              </a:rPr>
              <a:t>Limites assumidos: eficiência de </a:t>
            </a:r>
            <a:r>
              <a:rPr lang="pt-BR" sz="1800" b="1" dirty="0">
                <a:solidFill>
                  <a:srgbClr val="FF0000"/>
                </a:solidFill>
              </a:rPr>
              <a:t>43,5</a:t>
            </a:r>
            <a:r>
              <a:rPr lang="pt-BR" sz="1800" dirty="0">
                <a:solidFill>
                  <a:srgbClr val="FF0000"/>
                </a:solidFill>
              </a:rPr>
              <a:t>% em 32 nós (</a:t>
            </a:r>
            <a:r>
              <a:rPr lang="pt-BR" sz="1800" dirty="0" err="1">
                <a:solidFill>
                  <a:srgbClr val="FF0000"/>
                </a:solidFill>
              </a:rPr>
              <a:t>strong</a:t>
            </a:r>
            <a:r>
              <a:rPr lang="pt-BR" sz="1800" dirty="0">
                <a:solidFill>
                  <a:srgbClr val="FF0000"/>
                </a:solidFill>
              </a:rPr>
              <a:t> </a:t>
            </a:r>
            <a:r>
              <a:rPr lang="pt-BR" sz="1800" dirty="0" err="1">
                <a:solidFill>
                  <a:srgbClr val="FF0000"/>
                </a:solidFill>
              </a:rPr>
              <a:t>scaling</a:t>
            </a:r>
            <a:r>
              <a:rPr lang="pt-BR" sz="1800" dirty="0">
                <a:solidFill>
                  <a:srgbClr val="FF0000"/>
                </a:solidFill>
              </a:rPr>
              <a:t>, gargalo de computação) e </a:t>
            </a:r>
            <a:r>
              <a:rPr lang="pt-BR" sz="1800" b="1" dirty="0" err="1">
                <a:solidFill>
                  <a:srgbClr val="FF0000"/>
                </a:solidFill>
              </a:rPr>
              <a:t>MPI_File_open</a:t>
            </a:r>
            <a:r>
              <a:rPr lang="pt-BR" sz="1800" b="1" dirty="0">
                <a:solidFill>
                  <a:srgbClr val="FF0000"/>
                </a:solidFill>
              </a:rPr>
              <a:t>/close </a:t>
            </a:r>
            <a:r>
              <a:rPr lang="pt-BR" sz="1800" dirty="0">
                <a:solidFill>
                  <a:srgbClr val="FF0000"/>
                </a:solidFill>
              </a:rPr>
              <a:t>em </a:t>
            </a:r>
            <a:r>
              <a:rPr lang="pt-BR" sz="1800" b="1" dirty="0">
                <a:solidFill>
                  <a:srgbClr val="FF0000"/>
                </a:solidFill>
              </a:rPr>
              <a:t>11,6% </a:t>
            </a:r>
            <a:r>
              <a:rPr lang="pt-BR" sz="1800" dirty="0">
                <a:solidFill>
                  <a:srgbClr val="FF0000"/>
                </a:solidFill>
              </a:rPr>
              <a:t>do tempo — custo fixo por execução, não por carga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 dirty="0" err="1">
                <a:solidFill>
                  <a:srgbClr val="FF0000"/>
                </a:solidFill>
              </a:rPr>
              <a:t>Diagnóstico</a:t>
            </a:r>
            <a:r>
              <a:rPr sz="1800" dirty="0">
                <a:solidFill>
                  <a:srgbClr val="FF0000"/>
                </a:solidFill>
              </a:rPr>
              <a:t>: o escritor único inverte a escalabilidade — na AWS a banda percebida cai de </a:t>
            </a:r>
            <a:r>
              <a:rPr sz="1800" b="1" dirty="0">
                <a:solidFill>
                  <a:srgbClr val="FF0000"/>
                </a:solidFill>
              </a:rPr>
              <a:t>60,5</a:t>
            </a:r>
            <a:r>
              <a:rPr sz="1800" dirty="0">
                <a:solidFill>
                  <a:srgbClr val="FF0000"/>
                </a:solidFill>
              </a:rPr>
              <a:t> para </a:t>
            </a:r>
            <a:r>
              <a:rPr sz="1800" b="1" dirty="0">
                <a:solidFill>
                  <a:srgbClr val="FF0000"/>
                </a:solidFill>
              </a:rPr>
              <a:t>3,4 Gb/s </a:t>
            </a:r>
            <a:r>
              <a:rPr sz="1800" dirty="0">
                <a:solidFill>
                  <a:srgbClr val="FF0000"/>
                </a:solidFill>
              </a:rPr>
              <a:t>entre 2 e 32 nós, e o melhor tempo total ocorre em 16 nós, não </a:t>
            </a:r>
            <a:r>
              <a:rPr sz="1800" dirty="0" err="1">
                <a:solidFill>
                  <a:srgbClr val="FF0000"/>
                </a:solidFill>
              </a:rPr>
              <a:t>em</a:t>
            </a:r>
            <a:r>
              <a:rPr sz="1800" dirty="0">
                <a:solidFill>
                  <a:srgbClr val="FF0000"/>
                </a:solidFill>
              </a:rPr>
              <a:t> 32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O que foi demonstrado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Trabalhos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 dirty="0" err="1"/>
              <a:t>Reorganizar</a:t>
            </a:r>
            <a:r>
              <a:rPr sz="1800" dirty="0"/>
              <a:t> o </a:t>
            </a:r>
            <a:r>
              <a:rPr sz="1800" dirty="0" err="1"/>
              <a:t>padrão</a:t>
            </a:r>
            <a:r>
              <a:rPr sz="1800" dirty="0"/>
              <a:t> dos </a:t>
            </a:r>
            <a:r>
              <a:rPr sz="1800" dirty="0" err="1"/>
              <a:t>arquivos</a:t>
            </a:r>
            <a:r>
              <a:rPr sz="1800" dirty="0"/>
              <a:t> </a:t>
            </a:r>
            <a:r>
              <a:rPr sz="1800" dirty="0" err="1"/>
              <a:t>diários</a:t>
            </a:r>
            <a:r>
              <a:rPr sz="1800" dirty="0"/>
              <a:t> (13 dos 117 </a:t>
            </a:r>
            <a:r>
              <a:rPr sz="1800" dirty="0" err="1"/>
              <a:t>arquivos</a:t>
            </a:r>
            <a:r>
              <a:rPr sz="1800" dirty="0"/>
              <a:t>), </a:t>
            </a:r>
            <a:r>
              <a:rPr sz="1800" dirty="0" err="1"/>
              <a:t>agrupando</a:t>
            </a:r>
            <a:r>
              <a:rPr sz="1800" dirty="0"/>
              <a:t> o </a:t>
            </a:r>
            <a:r>
              <a:rPr sz="1800" dirty="0" err="1"/>
              <a:t>mês</a:t>
            </a:r>
            <a:r>
              <a:rPr sz="1800" dirty="0"/>
              <a:t> </a:t>
            </a:r>
            <a:r>
              <a:rPr sz="1800" dirty="0" err="1"/>
              <a:t>em</a:t>
            </a:r>
            <a:r>
              <a:rPr sz="1800" dirty="0"/>
              <a:t> </a:t>
            </a:r>
            <a:r>
              <a:rPr sz="1800" dirty="0" err="1"/>
              <a:t>uma</a:t>
            </a:r>
            <a:r>
              <a:rPr sz="1800" dirty="0"/>
              <a:t> </a:t>
            </a:r>
            <a:r>
              <a:rPr sz="1800" dirty="0" err="1"/>
              <a:t>escrita</a:t>
            </a:r>
            <a:r>
              <a:rPr sz="1800" dirty="0"/>
              <a:t> </a:t>
            </a:r>
            <a:r>
              <a:rPr sz="1800" dirty="0" err="1"/>
              <a:t>por</a:t>
            </a:r>
            <a:r>
              <a:rPr sz="1800" dirty="0"/>
              <a:t> (</a:t>
            </a:r>
            <a:r>
              <a:rPr sz="1800" dirty="0" err="1"/>
              <a:t>estágio</a:t>
            </a:r>
            <a:r>
              <a:rPr sz="1800" dirty="0"/>
              <a:t>, </a:t>
            </a:r>
            <a:r>
              <a:rPr sz="1800" dirty="0" err="1"/>
              <a:t>cenário</a:t>
            </a:r>
            <a:r>
              <a:rPr sz="1800" dirty="0"/>
              <a:t>) — </a:t>
            </a:r>
            <a:r>
              <a:rPr sz="1800" dirty="0" err="1"/>
              <a:t>elimina</a:t>
            </a:r>
            <a:r>
              <a:rPr sz="1800" dirty="0"/>
              <a:t> a </a:t>
            </a:r>
            <a:r>
              <a:rPr sz="1800" dirty="0" err="1"/>
              <a:t>parcela</a:t>
            </a:r>
            <a:r>
              <a:rPr sz="1800" dirty="0"/>
              <a:t> residual de </a:t>
            </a:r>
            <a:r>
              <a:rPr sz="1800" dirty="0" err="1"/>
              <a:t>requisições</a:t>
            </a:r>
            <a:r>
              <a:rPr sz="1800" dirty="0"/>
              <a:t> </a:t>
            </a:r>
            <a:r>
              <a:rPr sz="1800" dirty="0" err="1"/>
              <a:t>pequenas</a:t>
            </a:r>
            <a:r>
              <a:rPr lang="en-US" sz="1800" dirty="0"/>
              <a:t>.</a:t>
            </a:r>
            <a:endParaRPr sz="1800" dirty="0"/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 dirty="0" err="1"/>
              <a:t>Bufferização</a:t>
            </a:r>
            <a:r>
              <a:rPr sz="1800" dirty="0"/>
              <a:t> </a:t>
            </a:r>
            <a:r>
              <a:rPr sz="1800" dirty="0" err="1"/>
              <a:t>alinhada</a:t>
            </a:r>
            <a:r>
              <a:rPr sz="1800" dirty="0"/>
              <a:t> </a:t>
            </a:r>
            <a:r>
              <a:rPr sz="1800" dirty="0" err="1"/>
              <a:t>às</a:t>
            </a:r>
            <a:r>
              <a:rPr sz="1800" dirty="0"/>
              <a:t> stripes do </a:t>
            </a:r>
            <a:r>
              <a:rPr sz="1800" dirty="0" err="1"/>
              <a:t>Lustre</a:t>
            </a:r>
            <a:r>
              <a:rPr sz="1800" dirty="0"/>
              <a:t>, para </a:t>
            </a:r>
            <a:r>
              <a:rPr sz="1800" dirty="0" err="1"/>
              <a:t>que</a:t>
            </a:r>
            <a:r>
              <a:rPr sz="1800" dirty="0"/>
              <a:t> </a:t>
            </a:r>
            <a:r>
              <a:rPr sz="1800" dirty="0" err="1"/>
              <a:t>cada</a:t>
            </a:r>
            <a:r>
              <a:rPr sz="1800" dirty="0"/>
              <a:t> </a:t>
            </a:r>
            <a:r>
              <a:rPr sz="1800" dirty="0" err="1"/>
              <a:t>submissão</a:t>
            </a:r>
            <a:r>
              <a:rPr sz="1800" dirty="0"/>
              <a:t> MPI-IO </a:t>
            </a:r>
            <a:r>
              <a:rPr sz="1800" dirty="0" err="1"/>
              <a:t>incida</a:t>
            </a:r>
            <a:r>
              <a:rPr sz="1800" dirty="0"/>
              <a:t> </a:t>
            </a:r>
            <a:r>
              <a:rPr sz="1800" dirty="0" err="1"/>
              <a:t>sobre</a:t>
            </a:r>
            <a:r>
              <a:rPr sz="1800" dirty="0"/>
              <a:t> </a:t>
            </a:r>
            <a:r>
              <a:rPr sz="1800" dirty="0" err="1"/>
              <a:t>exatamente</a:t>
            </a:r>
            <a:r>
              <a:rPr sz="1800" dirty="0"/>
              <a:t> um OST (Liao et al., 2007)</a:t>
            </a:r>
            <a:r>
              <a:rPr lang="en-US" sz="1800" dirty="0"/>
              <a:t>.</a:t>
            </a:r>
            <a:endParaRPr sz="1800" dirty="0"/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 dirty="0" err="1"/>
              <a:t>Sensibilidade</a:t>
            </a:r>
            <a:r>
              <a:rPr sz="1800" dirty="0"/>
              <a:t> </a:t>
            </a:r>
            <a:r>
              <a:rPr sz="1800" dirty="0" err="1"/>
              <a:t>aos</a:t>
            </a:r>
            <a:r>
              <a:rPr sz="1800" dirty="0"/>
              <a:t> </a:t>
            </a:r>
            <a:r>
              <a:rPr sz="1800" dirty="0" err="1"/>
              <a:t>parâmetros</a:t>
            </a:r>
            <a:r>
              <a:rPr sz="1800" dirty="0"/>
              <a:t> de </a:t>
            </a:r>
            <a:r>
              <a:rPr sz="1800" dirty="0" err="1"/>
              <a:t>projeto</a:t>
            </a:r>
            <a:r>
              <a:rPr sz="1800" dirty="0"/>
              <a:t>: </a:t>
            </a:r>
            <a:r>
              <a:rPr sz="1800" dirty="0" err="1"/>
              <a:t>stripe_size</a:t>
            </a:r>
            <a:r>
              <a:rPr sz="1800" dirty="0"/>
              <a:t> do </a:t>
            </a:r>
            <a:r>
              <a:rPr sz="1800" dirty="0" err="1"/>
              <a:t>Lustre</a:t>
            </a:r>
            <a:r>
              <a:rPr lang="en-US" sz="1800" dirty="0"/>
              <a:t>.</a:t>
            </a:r>
            <a:endParaRPr sz="1800" dirty="0"/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 dirty="0" err="1"/>
              <a:t>Escrita</a:t>
            </a:r>
            <a:r>
              <a:rPr sz="1800" dirty="0"/>
              <a:t> </a:t>
            </a:r>
            <a:r>
              <a:rPr sz="1800" dirty="0" err="1"/>
              <a:t>coletiva</a:t>
            </a:r>
            <a:r>
              <a:rPr sz="1800" dirty="0"/>
              <a:t> (two-phase I/O): </a:t>
            </a:r>
            <a:r>
              <a:rPr sz="1800" dirty="0" err="1"/>
              <a:t>tentativas</a:t>
            </a:r>
            <a:r>
              <a:rPr sz="1800" dirty="0"/>
              <a:t> </a:t>
            </a:r>
            <a:r>
              <a:rPr sz="1800" dirty="0" err="1"/>
              <a:t>preliminares</a:t>
            </a:r>
            <a:r>
              <a:rPr sz="1800" dirty="0"/>
              <a:t> </a:t>
            </a:r>
            <a:r>
              <a:rPr sz="1800" dirty="0" err="1"/>
              <a:t>resultaram</a:t>
            </a:r>
            <a:r>
              <a:rPr sz="1800" dirty="0"/>
              <a:t> </a:t>
            </a:r>
            <a:r>
              <a:rPr sz="1800" dirty="0" err="1"/>
              <a:t>em</a:t>
            </a:r>
            <a:r>
              <a:rPr sz="1800" dirty="0"/>
              <a:t> deadlock com o bag-of-tasks — </a:t>
            </a:r>
            <a:r>
              <a:rPr sz="1800" dirty="0" err="1"/>
              <a:t>exige</a:t>
            </a:r>
            <a:r>
              <a:rPr sz="1800" dirty="0"/>
              <a:t> </a:t>
            </a:r>
            <a:r>
              <a:rPr sz="1800" dirty="0" err="1"/>
              <a:t>reconciliar</a:t>
            </a:r>
            <a:r>
              <a:rPr sz="1800" dirty="0"/>
              <a:t> </a:t>
            </a:r>
            <a:r>
              <a:rPr sz="1800" dirty="0" err="1"/>
              <a:t>distribuição</a:t>
            </a:r>
            <a:r>
              <a:rPr sz="1800" dirty="0"/>
              <a:t> </a:t>
            </a:r>
            <a:r>
              <a:rPr sz="1800" dirty="0" err="1"/>
              <a:t>dinâmica</a:t>
            </a:r>
            <a:r>
              <a:rPr sz="1800" dirty="0"/>
              <a:t> e </a:t>
            </a:r>
            <a:r>
              <a:rPr sz="1800" dirty="0" err="1"/>
              <a:t>semântica</a:t>
            </a:r>
            <a:r>
              <a:rPr sz="1800" dirty="0"/>
              <a:t> </a:t>
            </a:r>
            <a:r>
              <a:rPr sz="1800" dirty="0" err="1"/>
              <a:t>coletiva</a:t>
            </a:r>
            <a:r>
              <a:rPr lang="en-US" sz="1800" dirty="0"/>
              <a:t>.</a:t>
            </a:r>
            <a:endParaRPr sz="1800" dirty="0"/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 dirty="0"/>
              <a:t>Redes de </a:t>
            </a:r>
            <a:r>
              <a:rPr sz="1800" dirty="0" err="1"/>
              <a:t>baixa</a:t>
            </a:r>
            <a:r>
              <a:rPr sz="1800" dirty="0"/>
              <a:t> </a:t>
            </a:r>
            <a:r>
              <a:rPr sz="1800" dirty="0" err="1"/>
              <a:t>latência</a:t>
            </a:r>
            <a:r>
              <a:rPr sz="1800" dirty="0"/>
              <a:t> (InfiniBand HDR/NDR, AWS EFA) e </a:t>
            </a:r>
            <a:r>
              <a:rPr sz="1800" dirty="0" err="1"/>
              <a:t>escalas</a:t>
            </a:r>
            <a:r>
              <a:rPr sz="1800" dirty="0"/>
              <a:t> </a:t>
            </a:r>
            <a:r>
              <a:rPr sz="1800" dirty="0" err="1"/>
              <a:t>acima</a:t>
            </a:r>
            <a:r>
              <a:rPr sz="1800" dirty="0"/>
              <a:t> de 32 </a:t>
            </a:r>
            <a:r>
              <a:rPr sz="1800" dirty="0" err="1"/>
              <a:t>nós</a:t>
            </a:r>
            <a:r>
              <a:rPr sz="1800" dirty="0"/>
              <a:t>, </a:t>
            </a:r>
            <a:r>
              <a:rPr sz="1800" dirty="0" err="1"/>
              <a:t>onde</a:t>
            </a:r>
            <a:r>
              <a:rPr sz="1800" dirty="0"/>
              <a:t> </a:t>
            </a:r>
            <a:r>
              <a:rPr sz="1800" dirty="0" err="1"/>
              <a:t>pode</a:t>
            </a:r>
            <a:r>
              <a:rPr sz="1800" dirty="0"/>
              <a:t> </a:t>
            </a:r>
            <a:r>
              <a:rPr sz="1800" dirty="0" err="1"/>
              <a:t>surgir</a:t>
            </a:r>
            <a:r>
              <a:rPr sz="1800" dirty="0"/>
              <a:t> </a:t>
            </a:r>
            <a:r>
              <a:rPr sz="1800" dirty="0" err="1"/>
              <a:t>saturação</a:t>
            </a:r>
            <a:r>
              <a:rPr sz="1800" dirty="0"/>
              <a:t> de </a:t>
            </a:r>
            <a:r>
              <a:rPr sz="1800" dirty="0" err="1"/>
              <a:t>metadados</a:t>
            </a:r>
            <a:r>
              <a:rPr lang="en-US" sz="1800" dirty="0"/>
              <a:t>.</a:t>
            </a:r>
            <a:endParaRPr sz="1800" dirty="0"/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sz="1800" dirty="0" err="1"/>
              <a:t>Estender</a:t>
            </a:r>
            <a:r>
              <a:rPr sz="1800" dirty="0"/>
              <a:t> a </a:t>
            </a:r>
            <a:r>
              <a:rPr sz="1800" dirty="0" err="1"/>
              <a:t>arquitetura</a:t>
            </a:r>
            <a:r>
              <a:rPr sz="1800" dirty="0"/>
              <a:t> à </a:t>
            </a:r>
            <a:r>
              <a:rPr sz="1800" dirty="0" err="1"/>
              <a:t>fase</a:t>
            </a:r>
            <a:r>
              <a:rPr lang="en-US" sz="1800" dirty="0"/>
              <a:t> de </a:t>
            </a:r>
            <a:r>
              <a:rPr lang="en-US" sz="1800" dirty="0" err="1"/>
              <a:t>politica</a:t>
            </a:r>
            <a:r>
              <a:rPr lang="en-US" sz="1800" dirty="0"/>
              <a:t> </a:t>
            </a:r>
            <a:r>
              <a:rPr sz="1800" dirty="0"/>
              <a:t>e </a:t>
            </a:r>
            <a:r>
              <a:rPr sz="1800" dirty="0" err="1"/>
              <a:t>diagnosticar</a:t>
            </a:r>
            <a:r>
              <a:rPr sz="1800" dirty="0"/>
              <a:t> o </a:t>
            </a:r>
            <a:r>
              <a:rPr sz="1800" dirty="0" err="1"/>
              <a:t>gargalo</a:t>
            </a:r>
            <a:r>
              <a:rPr sz="1800" dirty="0"/>
              <a:t> </a:t>
            </a:r>
            <a:r>
              <a:rPr sz="1800" dirty="0" err="1"/>
              <a:t>computacional</a:t>
            </a:r>
            <a:r>
              <a:rPr sz="1800" dirty="0"/>
              <a:t> do regime de strong scaling</a:t>
            </a:r>
            <a:r>
              <a:rPr lang="en-US" sz="1800" dirty="0"/>
              <a:t>.</a:t>
            </a:r>
            <a:endParaRPr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Direções de continuidade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8BF05-6BEE-F8F4-0787-07964E2A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B39E4-6C4A-ABB7-B621-1927AEFBE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48694-3DA8-FCBE-4D83-74265DC973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62C629-6B7F-C3CF-D046-588ED3620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6" y="868852"/>
            <a:ext cx="12069268" cy="512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90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 de bloqueio dos envios por tamanho — AWS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4.5</a:t>
            </a:r>
          </a:p>
        </p:txBody>
      </p:sp>
      <p:pic>
        <p:nvPicPr>
          <p:cNvPr id="5" name="Picture 4" descr="EnvioPorTamanho_A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616" y="1371601"/>
            <a:ext cx="6135809" cy="49244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 de bloqueio dos envios por tamanho — SDumont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4.10</a:t>
            </a:r>
          </a:p>
        </p:txBody>
      </p:sp>
      <p:pic>
        <p:nvPicPr>
          <p:cNvPr id="5" name="Picture 4" descr="EnvioPorTamanho_SDum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616" y="1371601"/>
            <a:ext cx="6135809" cy="492442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374F4-81D3-DB7C-32EC-BB72B407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9638-37D4-BBF5-C4A6-F2065FBF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4CE35-FC54-3757-27F6-396BE665A5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750C6-827E-EA2F-5A5E-C999826AD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00" y="91664"/>
            <a:ext cx="11886400" cy="667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49223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">
  <a:themeElements>
    <a:clrScheme name="PSR">
      <a:dk1>
        <a:srgbClr val="000000"/>
      </a:dk1>
      <a:lt1>
        <a:srgbClr val="FFFFFF"/>
      </a:lt1>
      <a:dk2>
        <a:srgbClr val="20324C"/>
      </a:dk2>
      <a:lt2>
        <a:srgbClr val="D8D8D8"/>
      </a:lt2>
      <a:accent1>
        <a:srgbClr val="162944"/>
      </a:accent1>
      <a:accent2>
        <a:srgbClr val="2F5893"/>
      </a:accent2>
      <a:accent3>
        <a:srgbClr val="6B9EA6"/>
      </a:accent3>
      <a:accent4>
        <a:srgbClr val="4C787F"/>
      </a:accent4>
      <a:accent5>
        <a:srgbClr val="877553"/>
      </a:accent5>
      <a:accent6>
        <a:srgbClr val="AC9A78"/>
      </a:accent6>
      <a:hlink>
        <a:srgbClr val="2F5893"/>
      </a:hlink>
      <a:folHlink>
        <a:srgbClr val="2F5893"/>
      </a:folHlink>
    </a:clrScheme>
    <a:fontScheme name="ELAU PSR 2024">
      <a:majorFont>
        <a:latin typeface="Myriad Pro"/>
        <a:ea typeface=""/>
        <a:cs typeface=""/>
      </a:majorFont>
      <a:minorFont>
        <a:latin typeface="Myriad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24550</TotalTime>
  <Words>2803</Words>
  <Application>Microsoft Office PowerPoint</Application>
  <PresentationFormat>Widescreen</PresentationFormat>
  <Paragraphs>508</Paragraphs>
  <Slides>29</Slides>
  <Notes>28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Aptos</vt:lpstr>
      <vt:lpstr>Arial</vt:lpstr>
      <vt:lpstr>Calibri</vt:lpstr>
      <vt:lpstr>F70</vt:lpstr>
      <vt:lpstr>Myriad Pro</vt:lpstr>
      <vt:lpstr>Open Sans</vt:lpstr>
      <vt:lpstr>Wingdings</vt:lpstr>
      <vt:lpstr>content</vt:lpstr>
      <vt:lpstr>Investigando Problemas de Escalabilidade de E/S no Algoritmo SDDP em Ambientes HPC</vt:lpstr>
      <vt:lpstr>Introdução e Motivação</vt:lpstr>
      <vt:lpstr>Objetivo e Contribuições</vt:lpstr>
      <vt:lpstr>MPI e MPI-IO</vt:lpstr>
      <vt:lpstr>Lustre</vt:lpstr>
      <vt:lpstr>Distribuição em stripes no Lustre</vt:lpstr>
      <vt:lpstr>Arquitetura atual de E/S do SDDP</vt:lpstr>
      <vt:lpstr>Arquitetura proposta com MPI-IO e Lustre</vt:lpstr>
      <vt:lpstr>Implementação das escritas paralelas independentes</vt:lpstr>
      <vt:lpstr>Ambientes experimentais</vt:lpstr>
      <vt:lpstr>Caracterização do perfil de E/S</vt:lpstr>
      <vt:lpstr>Banda agregada — AWS</vt:lpstr>
      <vt:lpstr>Tempo de execução — AWS</vt:lpstr>
      <vt:lpstr>AWS — implementação atual</vt:lpstr>
      <vt:lpstr>AWS — implementação MPI-IO</vt:lpstr>
      <vt:lpstr>AWS — comparativo atual × MPI-IO</vt:lpstr>
      <vt:lpstr>Efeito do número de OSTs no Lustre</vt:lpstr>
      <vt:lpstr>Banda agregada — SDumont</vt:lpstr>
      <vt:lpstr>Tempo de execução — SDumont</vt:lpstr>
      <vt:lpstr>SDumont — implementação atual</vt:lpstr>
      <vt:lpstr>SDumont — implementação MPI-IO</vt:lpstr>
      <vt:lpstr>SDumont — comparativo atual × MPI-IO</vt:lpstr>
      <vt:lpstr>Trabalhos relacionados</vt:lpstr>
      <vt:lpstr>Conclusões</vt:lpstr>
      <vt:lpstr>Trabalhos futuros</vt:lpstr>
      <vt:lpstr>PowerPoint Presentation</vt:lpstr>
      <vt:lpstr>Tempo de bloqueio dos envios por tamanho — AWS</vt:lpstr>
      <vt:lpstr>Tempo de bloqueio dos envios por tamanho — SDumont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Lucas Guerreiro</dc:creator>
  <cp:lastModifiedBy>Marcelo Barros</cp:lastModifiedBy>
  <cp:revision>492</cp:revision>
  <dcterms:created xsi:type="dcterms:W3CDTF">2024-01-10T21:29:53Z</dcterms:created>
  <dcterms:modified xsi:type="dcterms:W3CDTF">2026-08-25T00:30:49Z</dcterms:modified>
</cp:coreProperties>
</file>