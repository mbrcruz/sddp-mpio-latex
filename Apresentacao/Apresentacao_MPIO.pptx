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78" r:id="rId2"/>
    <p:sldId id="258" r:id="rId3"/>
    <p:sldId id="259" r:id="rId4"/>
    <p:sldId id="260" r:id="rId5"/>
    <p:sldId id="261" r:id="rId6"/>
    <p:sldId id="289" r:id="rId7"/>
    <p:sldId id="262" r:id="rId8"/>
    <p:sldId id="263" r:id="rId9"/>
    <p:sldId id="265" r:id="rId10"/>
    <p:sldId id="279" r:id="rId11"/>
    <p:sldId id="267" r:id="rId12"/>
    <p:sldId id="268" r:id="rId13"/>
    <p:sldId id="269" r:id="rId14"/>
    <p:sldId id="281" r:id="rId15"/>
    <p:sldId id="282" r:id="rId16"/>
    <p:sldId id="283" r:id="rId17"/>
    <p:sldId id="271" r:id="rId18"/>
    <p:sldId id="272" r:id="rId19"/>
    <p:sldId id="273" r:id="rId20"/>
    <p:sldId id="284" r:id="rId21"/>
    <p:sldId id="285" r:id="rId22"/>
    <p:sldId id="286" r:id="rId23"/>
    <p:sldId id="280" r:id="rId24"/>
    <p:sldId id="275" r:id="rId25"/>
    <p:sldId id="276" r:id="rId26"/>
    <p:sldId id="288" r:id="rId27"/>
    <p:sldId id="270" r:id="rId28"/>
    <p:sldId id="274" r:id="rId29"/>
    <p:sldId id="28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F2F2F2"/>
    <a:srgbClr val="23426E"/>
    <a:srgbClr val="FF7A4F"/>
    <a:srgbClr val="00ADA1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7C3DA-DC25-5321-D481-23F69FE1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E66BA-F66A-0406-9392-BFE24C24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CF299-EE20-C3ED-34F8-7837BC8405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86E9-0E54-0D2B-8135-B1859A512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7502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1F218-0ECF-A7E1-A22D-49DFAF21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58610-86D3-FD81-F809-CBBB8FC7C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DAD11-F088-663B-D7CC-473E01EA1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F2FB-CD4A-E047-63D4-853DA5CFE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9342697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PESC/COPPE/UFRJ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1400" noProof="0" dirty="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Caso de estudo — o SDDP: na simulação final os problemas são independentes e cada processo produz blocos contíguo de dados por (estágio, cenário), </a:t>
            </a:r>
            <a:endParaRPr lang="pt-BR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A mudança de resolução por patamares para horária em alguns casos </a:t>
            </a:r>
            <a:r>
              <a:rPr lang="pt-BR" sz="1600" noProof="0"/>
              <a:t>pode ampliar em </a:t>
            </a:r>
            <a:r>
              <a:rPr lang="pt-BR" sz="1600" noProof="0" dirty="0"/>
              <a:t>até 240x o tamanho dos resultados.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O HPC oferece as duas peças para esse padrão: o Lustre entrega banda agregada que cresce com o número de </a:t>
            </a:r>
            <a:r>
              <a:rPr lang="pt-BR" sz="1600" noProof="0" dirty="0" err="1"/>
              <a:t>OSTs</a:t>
            </a:r>
            <a:r>
              <a:rPr lang="pt-BR" sz="1600" noProof="0" dirty="0"/>
              <a:t>, e a MPI-IO permite que vários processos gravem em offsets distintos de um mesmo arquivo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Mas essa banda é potencial, não automática: um único rank escritor converte a E/S em comunicação ponto a ponto e a serializa — o limite passa a ser a rede do nó escritor, não o armazenamento</a:t>
            </a:r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F5893"/>
                </a:solidFill>
              </a:rPr>
              <a:t>Por tarefa (estágio, cenário): 3 registros  →  720 registros  =  240x mais dados a persistir</a:t>
            </a:r>
          </a:p>
          <a:p>
            <a:pPr marL="0" indent="0">
              <a:buNone/>
            </a:pPr>
            <a:r>
              <a:rPr lang="pt-BR" sz="1200" noProof="0" dirty="0"/>
              <a:t>A carga de computação por tarefa não muda — cresce o volume de saída, e o gargalo migra da CPU para a E/S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2056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 dirty="0">
                <a:solidFill>
                  <a:srgbClr val="877553"/>
                </a:solidFill>
              </a:rPr>
              <a:t>Fora do </a:t>
            </a:r>
            <a:r>
              <a:rPr sz="1500" b="1" dirty="0" err="1">
                <a:solidFill>
                  <a:srgbClr val="877553"/>
                </a:solidFill>
              </a:rPr>
              <a:t>escopo</a:t>
            </a:r>
            <a:endParaRPr sz="1500" b="1" dirty="0">
              <a:solidFill>
                <a:srgbClr val="877553"/>
              </a:solidFill>
            </a:endParaRP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fase</a:t>
            </a:r>
            <a:r>
              <a:rPr sz="1200" dirty="0"/>
              <a:t> </a:t>
            </a:r>
            <a:r>
              <a:rPr lang="en-US" sz="1200" dirty="0"/>
              <a:t>de </a:t>
            </a:r>
            <a:r>
              <a:rPr lang="en-US" sz="1200" dirty="0" err="1"/>
              <a:t>politica</a:t>
            </a:r>
            <a:r>
              <a:rPr lang="en-US" sz="1200"/>
              <a:t>.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Otimizações</a:t>
            </a:r>
            <a:r>
              <a:rPr sz="1200" dirty="0"/>
              <a:t> da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executada</a:t>
            </a:r>
            <a:r>
              <a:rPr sz="1200" dirty="0"/>
              <a:t> </a:t>
            </a:r>
            <a:r>
              <a:rPr sz="1200" dirty="0" err="1"/>
              <a:t>na</a:t>
            </a:r>
            <a:r>
              <a:rPr sz="1200" dirty="0"/>
              <a:t> </a:t>
            </a:r>
            <a:r>
              <a:rPr sz="1200" dirty="0" err="1"/>
              <a:t>simulação</a:t>
            </a:r>
            <a:r>
              <a:rPr sz="1200" dirty="0"/>
              <a:t> final: o tempo de </a:t>
            </a:r>
            <a:r>
              <a:rPr sz="1200" dirty="0" err="1"/>
              <a:t>resolução</a:t>
            </a:r>
            <a:r>
              <a:rPr sz="1200" dirty="0"/>
              <a:t> de </a:t>
            </a:r>
            <a:r>
              <a:rPr sz="1200" dirty="0" err="1"/>
              <a:t>cada</a:t>
            </a:r>
            <a:r>
              <a:rPr sz="1200" dirty="0"/>
              <a:t> </a:t>
            </a:r>
            <a:r>
              <a:rPr sz="1200" dirty="0" err="1"/>
              <a:t>cenário</a:t>
            </a:r>
            <a:r>
              <a:rPr sz="1200" dirty="0"/>
              <a:t> é </a:t>
            </a:r>
            <a:r>
              <a:rPr sz="1200" dirty="0" err="1"/>
              <a:t>tratado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dado, e </a:t>
            </a:r>
            <a:r>
              <a:rPr sz="1200" dirty="0" err="1"/>
              <a:t>apenas</a:t>
            </a:r>
            <a:r>
              <a:rPr sz="1200" dirty="0"/>
              <a:t> a </a:t>
            </a:r>
            <a:r>
              <a:rPr sz="1200" dirty="0" err="1"/>
              <a:t>escrita</a:t>
            </a:r>
            <a:r>
              <a:rPr sz="1200" dirty="0"/>
              <a:t> dos </a:t>
            </a:r>
            <a:r>
              <a:rPr sz="1200" dirty="0" err="1"/>
              <a:t>resultados</a:t>
            </a:r>
            <a:r>
              <a:rPr sz="1200" dirty="0"/>
              <a:t> é </a:t>
            </a:r>
            <a:r>
              <a:rPr sz="1200" dirty="0" err="1"/>
              <a:t>objeto</a:t>
            </a:r>
            <a:r>
              <a:rPr sz="1200" dirty="0"/>
              <a:t> do </a:t>
            </a:r>
            <a:r>
              <a:rPr sz="1200" dirty="0" err="1"/>
              <a:t>trabalho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paralelização</a:t>
            </a:r>
            <a:r>
              <a:rPr sz="1200" dirty="0"/>
              <a:t> das </a:t>
            </a:r>
            <a:r>
              <a:rPr sz="1200" dirty="0" err="1"/>
              <a:t>leituras</a:t>
            </a:r>
            <a:r>
              <a:rPr sz="1200" dirty="0"/>
              <a:t> dos dados de entrada, </a:t>
            </a:r>
            <a:r>
              <a:rPr sz="1200" dirty="0" err="1"/>
              <a:t>cujo</a:t>
            </a:r>
            <a:r>
              <a:rPr sz="1200" dirty="0"/>
              <a:t> volume é </a:t>
            </a:r>
            <a:r>
              <a:rPr sz="1200" dirty="0" err="1"/>
              <a:t>muito</a:t>
            </a:r>
            <a:r>
              <a:rPr sz="1200" dirty="0"/>
              <a:t> inferior </a:t>
            </a:r>
            <a:r>
              <a:rPr sz="1200" dirty="0" err="1"/>
              <a:t>ao</a:t>
            </a:r>
            <a:r>
              <a:rPr sz="1200" dirty="0"/>
              <a:t> da </a:t>
            </a:r>
            <a:r>
              <a:rPr sz="1200" dirty="0" err="1"/>
              <a:t>escrita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Melhorias</a:t>
            </a:r>
            <a:r>
              <a:rPr sz="1200" dirty="0"/>
              <a:t> no </a:t>
            </a:r>
            <a:r>
              <a:rPr sz="1200" dirty="0" err="1"/>
              <a:t>escalonamento</a:t>
            </a:r>
            <a:r>
              <a:rPr sz="1200" dirty="0"/>
              <a:t> de </a:t>
            </a:r>
            <a:r>
              <a:rPr sz="1200" dirty="0" err="1"/>
              <a:t>tarefas</a:t>
            </a:r>
            <a:r>
              <a:rPr sz="1200" dirty="0"/>
              <a:t> entre ranks: </a:t>
            </a:r>
            <a:r>
              <a:rPr sz="1200" dirty="0" err="1"/>
              <a:t>mantém</a:t>
            </a:r>
            <a:r>
              <a:rPr sz="1200" dirty="0"/>
              <a:t>-se o bag-of-tasks </a:t>
            </a:r>
            <a:r>
              <a:rPr sz="1200" dirty="0" err="1"/>
              <a:t>já</a:t>
            </a:r>
            <a:r>
              <a:rPr sz="1200" dirty="0"/>
              <a:t> </a:t>
            </a:r>
            <a:r>
              <a:rPr sz="1200" dirty="0" err="1"/>
              <a:t>existente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Distribuição em stripes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2 — Figura 2.5</a:t>
            </a:r>
          </a:p>
        </p:txBody>
      </p:sp>
      <p:pic>
        <p:nvPicPr>
          <p:cNvPr id="5" name="Figura 2.5" descr="figura_2_5_stri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538" y="1572768"/>
            <a:ext cx="7740619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02802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034850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713416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80" y="1641601"/>
            <a:ext cx="7766959" cy="4817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782481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512125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13444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O contraste é qualitativo, não pontual: a banda da MPI-IO cresce </a:t>
            </a:r>
            <a:r>
              <a:rPr lang="pt-BR" sz="1800" dirty="0" err="1">
                <a:solidFill>
                  <a:srgbClr val="00B050"/>
                </a:solidFill>
              </a:rPr>
              <a:t>monotonicamente</a:t>
            </a:r>
            <a:r>
              <a:rPr lang="pt-BR" sz="1800" dirty="0">
                <a:solidFill>
                  <a:srgbClr val="00B050"/>
                </a:solidFill>
              </a:rPr>
              <a:t> até </a:t>
            </a:r>
            <a:r>
              <a:rPr lang="pt-BR" sz="1800" b="1" dirty="0">
                <a:solidFill>
                  <a:srgbClr val="00B050"/>
                </a:solidFill>
              </a:rPr>
              <a:t>380 Gb/s (113×) </a:t>
            </a:r>
            <a:r>
              <a:rPr lang="pt-BR" sz="1800" dirty="0">
                <a:solidFill>
                  <a:srgbClr val="00B050"/>
                </a:solidFill>
              </a:rPr>
              <a:t>na AWS </a:t>
            </a:r>
            <a:r>
              <a:rPr lang="pt-BR" sz="1800" b="1" dirty="0">
                <a:solidFill>
                  <a:srgbClr val="00B050"/>
                </a:solidFill>
              </a:rPr>
              <a:t>e 34 Gb/s (13,7×) </a:t>
            </a:r>
            <a:r>
              <a:rPr lang="pt-BR" sz="1800" dirty="0">
                <a:solidFill>
                  <a:srgbClr val="00B050"/>
                </a:solidFill>
              </a:rPr>
              <a:t>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 — o armazenamento ainda não saturou.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Em 32 nós a E/S consome </a:t>
            </a:r>
            <a:r>
              <a:rPr lang="pt-BR" sz="1800" b="1" dirty="0">
                <a:solidFill>
                  <a:srgbClr val="00B050"/>
                </a:solidFill>
              </a:rPr>
              <a:t>49,5%</a:t>
            </a:r>
            <a:r>
              <a:rPr lang="pt-BR" sz="1800" dirty="0">
                <a:solidFill>
                  <a:srgbClr val="00B050"/>
                </a:solidFill>
              </a:rPr>
              <a:t> do tempo na implementação atual; com escritas independentes em MPI-IO cai para </a:t>
            </a:r>
            <a:r>
              <a:rPr lang="pt-BR" sz="1800" b="1" dirty="0">
                <a:solidFill>
                  <a:srgbClr val="00B050"/>
                </a:solidFill>
              </a:rPr>
              <a:t>0,7%, </a:t>
            </a:r>
            <a:r>
              <a:rPr lang="pt-BR" sz="1800" dirty="0">
                <a:solidFill>
                  <a:srgbClr val="00B050"/>
                </a:solidFill>
              </a:rPr>
              <a:t>e o tempo total cai </a:t>
            </a:r>
            <a:r>
              <a:rPr lang="pt-BR" sz="1800" b="1" dirty="0">
                <a:solidFill>
                  <a:srgbClr val="00B050"/>
                </a:solidFill>
              </a:rPr>
              <a:t>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Portabilidade: o mesmo padrão se repete em nuvem dedicada e em supercomputador compartilhado (</a:t>
            </a:r>
            <a:r>
              <a:rPr lang="pt-BR" sz="1800" b="1" dirty="0">
                <a:solidFill>
                  <a:srgbClr val="00B050"/>
                </a:solidFill>
              </a:rPr>
              <a:t>40,4% </a:t>
            </a:r>
            <a:r>
              <a:rPr lang="pt-BR" sz="1800" dirty="0">
                <a:solidFill>
                  <a:srgbClr val="00B050"/>
                </a:solidFill>
              </a:rPr>
              <a:t>de redução em 32 nós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C000"/>
                </a:solidFill>
              </a:rPr>
              <a:t>Dimensionar o Lustre é parte do ganho: passar de 4 para 10 </a:t>
            </a:r>
            <a:r>
              <a:rPr lang="pt-BR" sz="1800" dirty="0" err="1">
                <a:solidFill>
                  <a:srgbClr val="FFC000"/>
                </a:solidFill>
              </a:rPr>
              <a:t>OSTs</a:t>
            </a:r>
            <a:r>
              <a:rPr lang="pt-BR" sz="1800" dirty="0">
                <a:solidFill>
                  <a:srgbClr val="FFC000"/>
                </a:solidFill>
              </a:rPr>
              <a:t> amplia a banda agregada </a:t>
            </a:r>
            <a:r>
              <a:rPr lang="pt-BR" sz="1800" b="1" dirty="0">
                <a:solidFill>
                  <a:srgbClr val="FFC000"/>
                </a:solidFill>
              </a:rPr>
              <a:t>5,6× </a:t>
            </a:r>
            <a:r>
              <a:rPr lang="pt-BR" sz="1800" dirty="0">
                <a:solidFill>
                  <a:srgbClr val="FFC000"/>
                </a:solidFill>
              </a:rPr>
              <a:t>em 16 nós e </a:t>
            </a:r>
            <a:r>
              <a:rPr lang="pt-BR" sz="1800" b="1" dirty="0">
                <a:solidFill>
                  <a:srgbClr val="FFC000"/>
                </a:solidFill>
              </a:rPr>
              <a:t>23,6× </a:t>
            </a:r>
            <a:r>
              <a:rPr lang="pt-BR" sz="1800" dirty="0">
                <a:solidFill>
                  <a:srgbClr val="FFC000"/>
                </a:solidFill>
              </a:rPr>
              <a:t>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0000"/>
                </a:solidFill>
              </a:rPr>
              <a:t>Limites assumidos: eficiência de </a:t>
            </a:r>
            <a:r>
              <a:rPr lang="pt-BR" sz="1800" b="1" dirty="0">
                <a:solidFill>
                  <a:srgbClr val="FF0000"/>
                </a:solidFill>
              </a:rPr>
              <a:t>43,5</a:t>
            </a:r>
            <a:r>
              <a:rPr lang="pt-BR" sz="1800" dirty="0">
                <a:solidFill>
                  <a:srgbClr val="FF0000"/>
                </a:solidFill>
              </a:rPr>
              <a:t>% em 32 nós (</a:t>
            </a:r>
            <a:r>
              <a:rPr lang="pt-BR" sz="1800" dirty="0" err="1">
                <a:solidFill>
                  <a:srgbClr val="FF0000"/>
                </a:solidFill>
              </a:rPr>
              <a:t>strong</a:t>
            </a:r>
            <a:r>
              <a:rPr lang="pt-BR" sz="1800" dirty="0">
                <a:solidFill>
                  <a:srgbClr val="FF0000"/>
                </a:solidFill>
              </a:rPr>
              <a:t> </a:t>
            </a:r>
            <a:r>
              <a:rPr lang="pt-BR" sz="1800" dirty="0" err="1">
                <a:solidFill>
                  <a:srgbClr val="FF0000"/>
                </a:solidFill>
              </a:rPr>
              <a:t>scaling</a:t>
            </a:r>
            <a:r>
              <a:rPr lang="pt-BR" sz="1800" dirty="0">
                <a:solidFill>
                  <a:srgbClr val="FF0000"/>
                </a:solidFill>
              </a:rPr>
              <a:t>, gargalo de computação) e </a:t>
            </a:r>
            <a:r>
              <a:rPr lang="pt-BR" sz="1800" b="1" dirty="0" err="1">
                <a:solidFill>
                  <a:srgbClr val="FF0000"/>
                </a:solidFill>
              </a:rPr>
              <a:t>MPI_File_open</a:t>
            </a:r>
            <a:r>
              <a:rPr lang="pt-BR" sz="1800" b="1" dirty="0">
                <a:solidFill>
                  <a:srgbClr val="FF0000"/>
                </a:solidFill>
              </a:rPr>
              <a:t>/close </a:t>
            </a:r>
            <a:r>
              <a:rPr lang="pt-BR" sz="1800" dirty="0">
                <a:solidFill>
                  <a:srgbClr val="FF0000"/>
                </a:solidFill>
              </a:rPr>
              <a:t>em </a:t>
            </a:r>
            <a:r>
              <a:rPr lang="pt-BR" sz="1800" b="1" dirty="0">
                <a:solidFill>
                  <a:srgbClr val="FF0000"/>
                </a:solidFill>
              </a:rPr>
              <a:t>11,6% </a:t>
            </a:r>
            <a:r>
              <a:rPr lang="pt-BR" sz="1800" dirty="0">
                <a:solidFill>
                  <a:srgbClr val="FF0000"/>
                </a:solidFill>
              </a:rPr>
              <a:t>do tempo — custo fixo por execução, não por carga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>
                <a:solidFill>
                  <a:srgbClr val="FF0000"/>
                </a:solidFill>
              </a:rPr>
              <a:t>Diagnóstico</a:t>
            </a:r>
            <a:r>
              <a:rPr sz="1800" dirty="0">
                <a:solidFill>
                  <a:srgbClr val="FF0000"/>
                </a:solidFill>
              </a:rPr>
              <a:t>: o escritor único inverte a escalabilidade — na AWS a banda percebida cai de </a:t>
            </a:r>
            <a:r>
              <a:rPr sz="1800" b="1" dirty="0">
                <a:solidFill>
                  <a:srgbClr val="FF0000"/>
                </a:solidFill>
              </a:rPr>
              <a:t>60,5</a:t>
            </a:r>
            <a:r>
              <a:rPr sz="1800" dirty="0">
                <a:solidFill>
                  <a:srgbClr val="FF0000"/>
                </a:solidFill>
              </a:rPr>
              <a:t> para </a:t>
            </a:r>
            <a:r>
              <a:rPr sz="1800" b="1" dirty="0">
                <a:solidFill>
                  <a:srgbClr val="FF0000"/>
                </a:solidFill>
              </a:rPr>
              <a:t>3,4 Gb/s </a:t>
            </a:r>
            <a:r>
              <a:rPr sz="1800" dirty="0">
                <a:solidFill>
                  <a:srgbClr val="FF0000"/>
                </a:solidFill>
              </a:rPr>
              <a:t>entre 2 e 32 nós, e o melhor tempo total ocorre em 16 nós, não </a:t>
            </a:r>
            <a:r>
              <a:rPr sz="1800" dirty="0" err="1">
                <a:solidFill>
                  <a:srgbClr val="FF0000"/>
                </a:solidFill>
              </a:rPr>
              <a:t>em</a:t>
            </a:r>
            <a:r>
              <a:rPr sz="1800" dirty="0">
                <a:solidFill>
                  <a:srgbClr val="FF0000"/>
                </a:solidFill>
              </a:rPr>
              <a:t> 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Reorganizar</a:t>
            </a:r>
            <a:r>
              <a:rPr sz="1800" dirty="0"/>
              <a:t> o </a:t>
            </a:r>
            <a:r>
              <a:rPr sz="1800" dirty="0" err="1"/>
              <a:t>padrão</a:t>
            </a:r>
            <a:r>
              <a:rPr sz="1800" dirty="0"/>
              <a:t> dos </a:t>
            </a:r>
            <a:r>
              <a:rPr sz="1800" dirty="0" err="1"/>
              <a:t>arquivos</a:t>
            </a:r>
            <a:r>
              <a:rPr sz="1800" dirty="0"/>
              <a:t> </a:t>
            </a:r>
            <a:r>
              <a:rPr sz="1800" dirty="0" err="1"/>
              <a:t>diários</a:t>
            </a:r>
            <a:r>
              <a:rPr sz="1800" dirty="0"/>
              <a:t> (13 dos 117 </a:t>
            </a:r>
            <a:r>
              <a:rPr sz="1800" dirty="0" err="1"/>
              <a:t>arquivos</a:t>
            </a:r>
            <a:r>
              <a:rPr sz="1800" dirty="0"/>
              <a:t>), </a:t>
            </a:r>
            <a:r>
              <a:rPr sz="1800" dirty="0" err="1"/>
              <a:t>agrupando</a:t>
            </a:r>
            <a:r>
              <a:rPr sz="1800" dirty="0"/>
              <a:t> o </a:t>
            </a:r>
            <a:r>
              <a:rPr sz="1800" dirty="0" err="1"/>
              <a:t>mês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</a:t>
            </a:r>
            <a:r>
              <a:rPr sz="1800" dirty="0" err="1"/>
              <a:t>uma</a:t>
            </a:r>
            <a:r>
              <a:rPr sz="1800" dirty="0"/>
              <a:t> </a:t>
            </a: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(</a:t>
            </a:r>
            <a:r>
              <a:rPr sz="1800" dirty="0" err="1"/>
              <a:t>estágio</a:t>
            </a:r>
            <a:r>
              <a:rPr sz="1800" dirty="0"/>
              <a:t>, </a:t>
            </a:r>
            <a:r>
              <a:rPr sz="1800" dirty="0" err="1"/>
              <a:t>cenário</a:t>
            </a:r>
            <a:r>
              <a:rPr sz="1800" dirty="0"/>
              <a:t>) — </a:t>
            </a:r>
            <a:r>
              <a:rPr sz="1800" dirty="0" err="1"/>
              <a:t>elimina</a:t>
            </a:r>
            <a:r>
              <a:rPr sz="1800" dirty="0"/>
              <a:t> a </a:t>
            </a:r>
            <a:r>
              <a:rPr sz="1800" dirty="0" err="1"/>
              <a:t>parcela</a:t>
            </a:r>
            <a:r>
              <a:rPr sz="1800" dirty="0"/>
              <a:t> residual de </a:t>
            </a:r>
            <a:r>
              <a:rPr sz="1800" dirty="0" err="1"/>
              <a:t>requisições</a:t>
            </a:r>
            <a:r>
              <a:rPr sz="1800" dirty="0"/>
              <a:t> </a:t>
            </a:r>
            <a:r>
              <a:rPr sz="1800" dirty="0" err="1"/>
              <a:t>pequenas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Bufferização</a:t>
            </a:r>
            <a:r>
              <a:rPr sz="1800" dirty="0"/>
              <a:t> </a:t>
            </a:r>
            <a:r>
              <a:rPr sz="1800" dirty="0" err="1"/>
              <a:t>alinhada</a:t>
            </a:r>
            <a:r>
              <a:rPr sz="1800" dirty="0"/>
              <a:t> </a:t>
            </a:r>
            <a:r>
              <a:rPr sz="1800" dirty="0" err="1"/>
              <a:t>às</a:t>
            </a:r>
            <a:r>
              <a:rPr sz="1800" dirty="0"/>
              <a:t> stripes do </a:t>
            </a:r>
            <a:r>
              <a:rPr sz="1800" dirty="0" err="1"/>
              <a:t>Lustre</a:t>
            </a:r>
            <a:r>
              <a:rPr sz="1800" dirty="0"/>
              <a:t>, para </a:t>
            </a:r>
            <a:r>
              <a:rPr sz="1800" dirty="0" err="1"/>
              <a:t>que</a:t>
            </a:r>
            <a:r>
              <a:rPr sz="1800" dirty="0"/>
              <a:t> </a:t>
            </a:r>
            <a:r>
              <a:rPr sz="1800" dirty="0" err="1"/>
              <a:t>cada</a:t>
            </a:r>
            <a:r>
              <a:rPr sz="1800" dirty="0"/>
              <a:t> </a:t>
            </a:r>
            <a:r>
              <a:rPr sz="1800" dirty="0" err="1"/>
              <a:t>submissão</a:t>
            </a:r>
            <a:r>
              <a:rPr sz="1800" dirty="0"/>
              <a:t> MPI-IO </a:t>
            </a:r>
            <a:r>
              <a:rPr sz="1800" dirty="0" err="1"/>
              <a:t>incida</a:t>
            </a:r>
            <a:r>
              <a:rPr sz="1800" dirty="0"/>
              <a:t> </a:t>
            </a:r>
            <a:r>
              <a:rPr sz="1800" dirty="0" err="1"/>
              <a:t>sobre</a:t>
            </a:r>
            <a:r>
              <a:rPr sz="1800" dirty="0"/>
              <a:t> </a:t>
            </a:r>
            <a:r>
              <a:rPr sz="1800" dirty="0" err="1"/>
              <a:t>exatamente</a:t>
            </a:r>
            <a:r>
              <a:rPr sz="1800" dirty="0"/>
              <a:t> um OST (Liao et al., 2007)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Sensibilidade</a:t>
            </a:r>
            <a:r>
              <a:rPr sz="1800" dirty="0"/>
              <a:t> </a:t>
            </a:r>
            <a:r>
              <a:rPr sz="1800" dirty="0" err="1"/>
              <a:t>aos</a:t>
            </a:r>
            <a:r>
              <a:rPr sz="1800" dirty="0"/>
              <a:t> </a:t>
            </a:r>
            <a:r>
              <a:rPr sz="1800" dirty="0" err="1"/>
              <a:t>parâmetros</a:t>
            </a:r>
            <a:r>
              <a:rPr sz="1800" dirty="0"/>
              <a:t> de </a:t>
            </a:r>
            <a:r>
              <a:rPr sz="1800" dirty="0" err="1"/>
              <a:t>projeto</a:t>
            </a:r>
            <a:r>
              <a:rPr sz="1800" dirty="0"/>
              <a:t>: </a:t>
            </a:r>
            <a:r>
              <a:rPr sz="1800" dirty="0" err="1"/>
              <a:t>stripe_size</a:t>
            </a:r>
            <a:r>
              <a:rPr sz="1800" dirty="0"/>
              <a:t> do </a:t>
            </a:r>
            <a:r>
              <a:rPr sz="1800" dirty="0" err="1"/>
              <a:t>Lustre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Escrita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sz="1800" dirty="0"/>
              <a:t> (two-phase I/O): </a:t>
            </a:r>
            <a:r>
              <a:rPr sz="1800" dirty="0" err="1"/>
              <a:t>tentativas</a:t>
            </a:r>
            <a:r>
              <a:rPr sz="1800" dirty="0"/>
              <a:t> </a:t>
            </a:r>
            <a:r>
              <a:rPr sz="1800" dirty="0" err="1"/>
              <a:t>preliminares</a:t>
            </a:r>
            <a:r>
              <a:rPr sz="1800" dirty="0"/>
              <a:t> </a:t>
            </a:r>
            <a:r>
              <a:rPr sz="1800" dirty="0" err="1"/>
              <a:t>resultaram</a:t>
            </a:r>
            <a:r>
              <a:rPr sz="1800" dirty="0"/>
              <a:t> </a:t>
            </a:r>
            <a:r>
              <a:rPr sz="1800" dirty="0" err="1"/>
              <a:t>em</a:t>
            </a:r>
            <a:r>
              <a:rPr sz="1800" dirty="0"/>
              <a:t> deadlock com o bag-of-tasks — </a:t>
            </a:r>
            <a:r>
              <a:rPr sz="1800" dirty="0" err="1"/>
              <a:t>exige</a:t>
            </a:r>
            <a:r>
              <a:rPr sz="1800" dirty="0"/>
              <a:t> </a:t>
            </a:r>
            <a:r>
              <a:rPr sz="1800" dirty="0" err="1"/>
              <a:t>reconciliar</a:t>
            </a:r>
            <a:r>
              <a:rPr sz="1800" dirty="0"/>
              <a:t> </a:t>
            </a:r>
            <a:r>
              <a:rPr sz="1800" dirty="0" err="1"/>
              <a:t>distribuição</a:t>
            </a:r>
            <a:r>
              <a:rPr sz="1800" dirty="0"/>
              <a:t> </a:t>
            </a:r>
            <a:r>
              <a:rPr sz="1800" dirty="0" err="1"/>
              <a:t>dinâmica</a:t>
            </a:r>
            <a:r>
              <a:rPr sz="1800" dirty="0"/>
              <a:t> e </a:t>
            </a:r>
            <a:r>
              <a:rPr sz="1800" dirty="0" err="1"/>
              <a:t>semântica</a:t>
            </a:r>
            <a:r>
              <a:rPr sz="1800" dirty="0"/>
              <a:t> </a:t>
            </a:r>
            <a:r>
              <a:rPr sz="1800" dirty="0" err="1"/>
              <a:t>coletiva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Redes de </a:t>
            </a:r>
            <a:r>
              <a:rPr sz="1800" dirty="0" err="1"/>
              <a:t>baixa</a:t>
            </a:r>
            <a:r>
              <a:rPr sz="1800" dirty="0"/>
              <a:t> </a:t>
            </a:r>
            <a:r>
              <a:rPr sz="1800" dirty="0" err="1"/>
              <a:t>latência</a:t>
            </a:r>
            <a:r>
              <a:rPr sz="1800" dirty="0"/>
              <a:t> (InfiniBand HDR/NDR, AWS EFA) e </a:t>
            </a:r>
            <a:r>
              <a:rPr sz="1800" dirty="0" err="1"/>
              <a:t>escalas</a:t>
            </a:r>
            <a:r>
              <a:rPr sz="1800" dirty="0"/>
              <a:t> </a:t>
            </a:r>
            <a:r>
              <a:rPr sz="1800" dirty="0" err="1"/>
              <a:t>acima</a:t>
            </a:r>
            <a:r>
              <a:rPr sz="1800" dirty="0"/>
              <a:t> de 32 </a:t>
            </a:r>
            <a:r>
              <a:rPr sz="1800" dirty="0" err="1"/>
              <a:t>nós</a:t>
            </a:r>
            <a:r>
              <a:rPr sz="1800" dirty="0"/>
              <a:t>, </a:t>
            </a:r>
            <a:r>
              <a:rPr sz="1800" dirty="0" err="1"/>
              <a:t>onde</a:t>
            </a:r>
            <a:r>
              <a:rPr sz="1800" dirty="0"/>
              <a:t> </a:t>
            </a:r>
            <a:r>
              <a:rPr sz="1800" dirty="0" err="1"/>
              <a:t>pode</a:t>
            </a:r>
            <a:r>
              <a:rPr sz="1800" dirty="0"/>
              <a:t> </a:t>
            </a:r>
            <a:r>
              <a:rPr sz="1800" dirty="0" err="1"/>
              <a:t>surgir</a:t>
            </a:r>
            <a:r>
              <a:rPr sz="1800" dirty="0"/>
              <a:t> </a:t>
            </a:r>
            <a:r>
              <a:rPr sz="1800" dirty="0" err="1"/>
              <a:t>saturação</a:t>
            </a:r>
            <a:r>
              <a:rPr sz="1800" dirty="0"/>
              <a:t> de </a:t>
            </a:r>
            <a:r>
              <a:rPr sz="1800" dirty="0" err="1"/>
              <a:t>metadados</a:t>
            </a:r>
            <a:r>
              <a:rPr lang="en-US" sz="1800" dirty="0"/>
              <a:t>.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/>
              <a:t>Estender</a:t>
            </a:r>
            <a:r>
              <a:rPr sz="1800" dirty="0"/>
              <a:t> a </a:t>
            </a:r>
            <a:r>
              <a:rPr sz="1800" dirty="0" err="1"/>
              <a:t>arquitetura</a:t>
            </a:r>
            <a:r>
              <a:rPr sz="1800" dirty="0"/>
              <a:t> à </a:t>
            </a:r>
            <a:r>
              <a:rPr sz="1800" dirty="0" err="1"/>
              <a:t>fase</a:t>
            </a:r>
            <a:r>
              <a:rPr lang="en-US" sz="1800" dirty="0"/>
              <a:t> de </a:t>
            </a:r>
            <a:r>
              <a:rPr lang="en-US" sz="1800" dirty="0" err="1"/>
              <a:t>politica</a:t>
            </a:r>
            <a:r>
              <a:rPr lang="en-US" sz="1800" dirty="0"/>
              <a:t> </a:t>
            </a:r>
            <a:r>
              <a:rPr sz="1800" dirty="0"/>
              <a:t>e </a:t>
            </a:r>
            <a:r>
              <a:rPr sz="1800" dirty="0" err="1"/>
              <a:t>diagnosticar</a:t>
            </a:r>
            <a:r>
              <a:rPr sz="1800" dirty="0"/>
              <a:t> o </a:t>
            </a:r>
            <a:r>
              <a:rPr sz="1800" dirty="0" err="1"/>
              <a:t>gargalo</a:t>
            </a:r>
            <a:r>
              <a:rPr sz="1800" dirty="0"/>
              <a:t> </a:t>
            </a:r>
            <a:r>
              <a:rPr sz="1800" dirty="0" err="1"/>
              <a:t>computacional</a:t>
            </a:r>
            <a:r>
              <a:rPr sz="1800" dirty="0"/>
              <a:t> do regime de strong scaling</a:t>
            </a:r>
            <a:r>
              <a:rPr lang="en-US" sz="1800" dirty="0"/>
              <a:t>.</a:t>
            </a:r>
            <a:endParaRPr sz="1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8BF05-6BEE-F8F4-0787-07964E2A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B39E4-6C4A-ABB7-B621-1927AEF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948694-3DA8-FCBE-4D83-74265DC973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2C629-6B7F-C3CF-D046-588ED3620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6" y="868852"/>
            <a:ext cx="12069268" cy="512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903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4F4-81D3-DB7C-32EC-BB72B407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9638-37D4-BBF5-C4A6-F2065FBF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CE35-FC54-3757-27F6-396BE665A5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750C6-827E-EA2F-5A5E-C999826AD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00" y="91664"/>
            <a:ext cx="11886400" cy="667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9223"/>
      </p:ext>
    </p:extLst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adrao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Apresentacao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24550</TotalTime>
  <Words>2803</Words>
  <Application>Microsoft Office PowerPoint</Application>
  <PresentationFormat>Widescreen</PresentationFormat>
  <Paragraphs>508</Paragraphs>
  <Slides>29</Slides>
  <Notes>28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7" baseType="lpstr">
      <vt:lpstr>Aptos</vt:lpstr>
      <vt:lpstr>Arial</vt:lpstr>
      <vt:lpstr>Calibri</vt:lpstr>
      <vt:lpstr>F70</vt:lpstr>
      <vt:lpstr>Myriad Pro</vt:lpstr>
      <vt:lpstr>Open Sans</vt:lpstr>
      <vt:lpstr>Wingdings</vt:lpstr>
      <vt:lpstr>content</vt:lpstr>
      <vt:lpstr>Investigando Problemas de Escalabilidade de E/S no Algoritmo SDDP em Ambientes HPC</vt:lpstr>
      <vt:lpstr>Introdução e Motivação</vt:lpstr>
      <vt:lpstr>Objetivo e Contribuições</vt:lpstr>
      <vt:lpstr>MPI e MPI-IO</vt:lpstr>
      <vt:lpstr>Lustre</vt:lpstr>
      <vt:lpstr>Distribuição em stripes no 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PowerPoint Presentation</vt:lpstr>
      <vt:lpstr>Tempo de bloqueio dos envios por tamanho — AWS</vt:lpstr>
      <vt:lpstr>Tempo de bloqueio dos envios por tamanho — SDumont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492</cp:revision>
  <dcterms:created xsi:type="dcterms:W3CDTF">2024-01-10T21:29:53Z</dcterms:created>
  <dcterms:modified xsi:type="dcterms:W3CDTF">2026-08-25T00:30:49Z</dcterms:modified>
</cp:coreProperties>
</file>