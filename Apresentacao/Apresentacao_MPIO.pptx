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8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79" r:id="rId10"/>
    <p:sldId id="267" r:id="rId11"/>
    <p:sldId id="268" r:id="rId12"/>
    <p:sldId id="269" r:id="rId13"/>
    <p:sldId id="281" r:id="rId14"/>
    <p:sldId id="282" r:id="rId15"/>
    <p:sldId id="283" r:id="rId16"/>
    <p:sldId id="271" r:id="rId17"/>
    <p:sldId id="272" r:id="rId18"/>
    <p:sldId id="273" r:id="rId19"/>
    <p:sldId id="284" r:id="rId20"/>
    <p:sldId id="285" r:id="rId21"/>
    <p:sldId id="286" r:id="rId22"/>
    <p:sldId id="280" r:id="rId23"/>
    <p:sldId id="275" r:id="rId24"/>
    <p:sldId id="276" r:id="rId25"/>
    <p:sldId id="288" r:id="rId26"/>
    <p:sldId id="270" r:id="rId27"/>
    <p:sldId id="274" r:id="rId28"/>
    <p:sldId id="28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O contraste é qualitativo, não pontual: a banda 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</a:t>
            </a:r>
            <a:r>
              <a:rPr lang="pt-BR" sz="1800" b="1" dirty="0">
                <a:solidFill>
                  <a:srgbClr val="00B050"/>
                </a:solidFill>
              </a:rPr>
              <a:t>380 Gb/s (113×) </a:t>
            </a:r>
            <a:r>
              <a:rPr lang="pt-BR" sz="1800" dirty="0">
                <a:solidFill>
                  <a:srgbClr val="00B050"/>
                </a:solidFill>
              </a:rPr>
              <a:t>na AWS </a:t>
            </a:r>
            <a:r>
              <a:rPr lang="pt-BR" sz="1800" b="1" dirty="0">
                <a:solidFill>
                  <a:srgbClr val="00B050"/>
                </a:solidFill>
              </a:rPr>
              <a:t>e 34 Gb/s (13,7×) </a:t>
            </a:r>
            <a:r>
              <a:rPr lang="pt-BR" sz="1800" dirty="0">
                <a:solidFill>
                  <a:srgbClr val="00B050"/>
                </a:solidFill>
              </a:rPr>
              <a:t>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</a:t>
            </a:r>
            <a:r>
              <a:rPr lang="pt-BR" sz="1800" b="1" dirty="0">
                <a:solidFill>
                  <a:srgbClr val="00B050"/>
                </a:solidFill>
              </a:rPr>
              <a:t>49,5%</a:t>
            </a:r>
            <a:r>
              <a:rPr lang="pt-BR" sz="1800" dirty="0">
                <a:solidFill>
                  <a:srgbClr val="00B050"/>
                </a:solidFill>
              </a:rPr>
              <a:t> do tempo na implementação atual; com escritas independentes em MPI-IO cai para </a:t>
            </a:r>
            <a:r>
              <a:rPr lang="pt-BR" sz="1800" b="1" dirty="0">
                <a:solidFill>
                  <a:srgbClr val="00B050"/>
                </a:solidFill>
              </a:rPr>
              <a:t>0,7%, </a:t>
            </a:r>
            <a:r>
              <a:rPr lang="pt-BR" sz="1800" dirty="0">
                <a:solidFill>
                  <a:srgbClr val="00B050"/>
                </a:solidFill>
              </a:rPr>
              <a:t>e o tempo total cai </a:t>
            </a:r>
            <a:r>
              <a:rPr lang="pt-BR" sz="1800" b="1" dirty="0">
                <a:solidFill>
                  <a:srgbClr val="00B050"/>
                </a:solidFill>
              </a:rPr>
              <a:t>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</a:t>
            </a:r>
            <a:r>
              <a:rPr lang="pt-BR" sz="1800" b="1" dirty="0">
                <a:solidFill>
                  <a:srgbClr val="00B050"/>
                </a:solidFill>
              </a:rPr>
              <a:t>40,4% </a:t>
            </a:r>
            <a:r>
              <a:rPr lang="pt-BR" sz="1800" dirty="0">
                <a:solidFill>
                  <a:srgbClr val="00B050"/>
                </a:solidFill>
              </a:rPr>
              <a:t>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</a:t>
            </a:r>
            <a:r>
              <a:rPr lang="pt-BR" sz="1800" b="1" dirty="0">
                <a:solidFill>
                  <a:srgbClr val="FFC000"/>
                </a:solidFill>
              </a:rPr>
              <a:t>5,6× </a:t>
            </a:r>
            <a:r>
              <a:rPr lang="pt-BR" sz="1800" dirty="0">
                <a:solidFill>
                  <a:srgbClr val="FFC000"/>
                </a:solidFill>
              </a:rPr>
              <a:t>em 16 nós e </a:t>
            </a:r>
            <a:r>
              <a:rPr lang="pt-BR" sz="1800" b="1" dirty="0">
                <a:solidFill>
                  <a:srgbClr val="FFC000"/>
                </a:solidFill>
              </a:rPr>
              <a:t>23,6× </a:t>
            </a:r>
            <a:r>
              <a:rPr lang="pt-BR" sz="1800" dirty="0">
                <a:solidFill>
                  <a:srgbClr val="FFC000"/>
                </a:solidFill>
              </a:rPr>
              <a:t>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</a:t>
            </a:r>
            <a:r>
              <a:rPr lang="pt-BR" sz="1800" b="1" dirty="0">
                <a:solidFill>
                  <a:srgbClr val="FF0000"/>
                </a:solidFill>
              </a:rPr>
              <a:t>43,5</a:t>
            </a:r>
            <a:r>
              <a:rPr lang="pt-BR" sz="1800" dirty="0">
                <a:solidFill>
                  <a:srgbClr val="FF0000"/>
                </a:solidFill>
              </a:rPr>
              <a:t>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b="1" dirty="0" err="1">
                <a:solidFill>
                  <a:srgbClr val="FF0000"/>
                </a:solidFill>
              </a:rPr>
              <a:t>MPI_File_open</a:t>
            </a:r>
            <a:r>
              <a:rPr lang="pt-BR" sz="1800" b="1" dirty="0">
                <a:solidFill>
                  <a:srgbClr val="FF0000"/>
                </a:solidFill>
              </a:rPr>
              <a:t>/close </a:t>
            </a:r>
            <a:r>
              <a:rPr lang="pt-BR" sz="1800" dirty="0">
                <a:solidFill>
                  <a:srgbClr val="FF0000"/>
                </a:solidFill>
              </a:rPr>
              <a:t>em </a:t>
            </a:r>
            <a:r>
              <a:rPr lang="pt-BR" sz="1800" b="1" dirty="0">
                <a:solidFill>
                  <a:srgbClr val="FF0000"/>
                </a:solidFill>
              </a:rPr>
              <a:t>11,6% </a:t>
            </a:r>
            <a:r>
              <a:rPr lang="pt-BR" sz="1800" dirty="0">
                <a:solidFill>
                  <a:srgbClr val="FF0000"/>
                </a:solidFill>
              </a:rPr>
              <a:t>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</a:t>
            </a:r>
            <a:r>
              <a:rPr sz="1800" b="1" dirty="0">
                <a:solidFill>
                  <a:srgbClr val="FF0000"/>
                </a:solidFill>
              </a:rPr>
              <a:t>60,5</a:t>
            </a:r>
            <a:r>
              <a:rPr sz="1800" dirty="0">
                <a:solidFill>
                  <a:srgbClr val="FF0000"/>
                </a:solidFill>
              </a:rPr>
              <a:t> para </a:t>
            </a:r>
            <a:r>
              <a:rPr sz="1800" b="1" dirty="0">
                <a:solidFill>
                  <a:srgbClr val="FF0000"/>
                </a:solidFill>
              </a:rPr>
              <a:t>3,4 Gb/s </a:t>
            </a:r>
            <a:r>
              <a:rPr sz="1800" dirty="0">
                <a:solidFill>
                  <a:srgbClr val="FF0000"/>
                </a:solidFill>
              </a:rPr>
              <a:t>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Reorganizar</a:t>
            </a:r>
            <a:r>
              <a:rPr sz="1800" dirty="0"/>
              <a:t> o </a:t>
            </a:r>
            <a:r>
              <a:rPr sz="1800" dirty="0" err="1"/>
              <a:t>padrão</a:t>
            </a:r>
            <a:r>
              <a:rPr sz="1800" dirty="0"/>
              <a:t> dos </a:t>
            </a:r>
            <a:r>
              <a:rPr sz="1800" dirty="0" err="1"/>
              <a:t>arquivos</a:t>
            </a:r>
            <a:r>
              <a:rPr sz="1800" dirty="0"/>
              <a:t> </a:t>
            </a:r>
            <a:r>
              <a:rPr sz="1800" dirty="0" err="1"/>
              <a:t>diários</a:t>
            </a:r>
            <a:r>
              <a:rPr sz="1800" dirty="0"/>
              <a:t> (13 dos 117 </a:t>
            </a:r>
            <a:r>
              <a:rPr sz="1800" dirty="0" err="1"/>
              <a:t>arquivos</a:t>
            </a:r>
            <a:r>
              <a:rPr sz="1800" dirty="0"/>
              <a:t>), </a:t>
            </a:r>
            <a:r>
              <a:rPr sz="1800" dirty="0" err="1"/>
              <a:t>agrupando</a:t>
            </a:r>
            <a:r>
              <a:rPr sz="1800" dirty="0"/>
              <a:t> o </a:t>
            </a:r>
            <a:r>
              <a:rPr sz="1800" dirty="0" err="1"/>
              <a:t>mês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uma</a:t>
            </a:r>
            <a:r>
              <a:rPr sz="1800" dirty="0"/>
              <a:t>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(</a:t>
            </a:r>
            <a:r>
              <a:rPr sz="1800" dirty="0" err="1"/>
              <a:t>estágio</a:t>
            </a:r>
            <a:r>
              <a:rPr sz="1800" dirty="0"/>
              <a:t>, </a:t>
            </a:r>
            <a:r>
              <a:rPr sz="1800" dirty="0" err="1"/>
              <a:t>cenário</a:t>
            </a:r>
            <a:r>
              <a:rPr sz="1800" dirty="0"/>
              <a:t>) — </a:t>
            </a:r>
            <a:r>
              <a:rPr sz="1800" dirty="0" err="1"/>
              <a:t>elimina</a:t>
            </a:r>
            <a:r>
              <a:rPr sz="1800" dirty="0"/>
              <a:t> a </a:t>
            </a:r>
            <a:r>
              <a:rPr sz="1800" dirty="0" err="1"/>
              <a:t>parcela</a:t>
            </a:r>
            <a:r>
              <a:rPr sz="1800" dirty="0"/>
              <a:t> residual de </a:t>
            </a:r>
            <a:r>
              <a:rPr sz="1800" dirty="0" err="1"/>
              <a:t>requisições</a:t>
            </a:r>
            <a:r>
              <a:rPr sz="1800" dirty="0"/>
              <a:t> </a:t>
            </a:r>
            <a:r>
              <a:rPr sz="1800" dirty="0" err="1"/>
              <a:t>pequenas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Bufferização</a:t>
            </a:r>
            <a:r>
              <a:rPr sz="1800" dirty="0"/>
              <a:t> </a:t>
            </a:r>
            <a:r>
              <a:rPr sz="1800" dirty="0" err="1"/>
              <a:t>alinhada</a:t>
            </a:r>
            <a:r>
              <a:rPr sz="1800" dirty="0"/>
              <a:t> </a:t>
            </a:r>
            <a:r>
              <a:rPr sz="1800" dirty="0" err="1"/>
              <a:t>às</a:t>
            </a:r>
            <a:r>
              <a:rPr sz="1800" dirty="0"/>
              <a:t> stripes do </a:t>
            </a:r>
            <a:r>
              <a:rPr sz="1800" dirty="0" err="1"/>
              <a:t>Lustre</a:t>
            </a:r>
            <a:r>
              <a:rPr sz="1800" dirty="0"/>
              <a:t>, para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submissão</a:t>
            </a:r>
            <a:r>
              <a:rPr sz="1800" dirty="0"/>
              <a:t> MPI-IO </a:t>
            </a:r>
            <a:r>
              <a:rPr sz="1800" dirty="0" err="1"/>
              <a:t>incida</a:t>
            </a:r>
            <a:r>
              <a:rPr sz="1800" dirty="0"/>
              <a:t>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exatamente</a:t>
            </a:r>
            <a:r>
              <a:rPr sz="1800" dirty="0"/>
              <a:t> um OST (Liao et al., 2007)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Sensibilidade</a:t>
            </a:r>
            <a:r>
              <a:rPr sz="1800" dirty="0"/>
              <a:t> </a:t>
            </a:r>
            <a:r>
              <a:rPr sz="1800" dirty="0" err="1"/>
              <a:t>aos</a:t>
            </a:r>
            <a:r>
              <a:rPr sz="1800" dirty="0"/>
              <a:t> </a:t>
            </a:r>
            <a:r>
              <a:rPr sz="1800" dirty="0" err="1"/>
              <a:t>parâmetros</a:t>
            </a:r>
            <a:r>
              <a:rPr sz="1800" dirty="0"/>
              <a:t> de </a:t>
            </a:r>
            <a:r>
              <a:rPr sz="1800" dirty="0" err="1"/>
              <a:t>projeto</a:t>
            </a:r>
            <a:r>
              <a:rPr sz="1800" dirty="0"/>
              <a:t>: </a:t>
            </a:r>
            <a:r>
              <a:rPr sz="1800" dirty="0" err="1"/>
              <a:t>stripe_size</a:t>
            </a:r>
            <a:r>
              <a:rPr sz="1800" dirty="0"/>
              <a:t> do </a:t>
            </a:r>
            <a:r>
              <a:rPr sz="1800" dirty="0" err="1"/>
              <a:t>Lustre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sz="1800" dirty="0"/>
              <a:t> (two-phase I/O): </a:t>
            </a:r>
            <a:r>
              <a:rPr sz="1800" dirty="0" err="1"/>
              <a:t>tentativas</a:t>
            </a:r>
            <a:r>
              <a:rPr sz="1800" dirty="0"/>
              <a:t> </a:t>
            </a:r>
            <a:r>
              <a:rPr sz="1800" dirty="0" err="1"/>
              <a:t>preliminares</a:t>
            </a:r>
            <a:r>
              <a:rPr sz="1800" dirty="0"/>
              <a:t> </a:t>
            </a:r>
            <a:r>
              <a:rPr sz="1800" dirty="0" err="1"/>
              <a:t>resultaram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deadlock com o bag-of-tasks — </a:t>
            </a:r>
            <a:r>
              <a:rPr sz="1800" dirty="0" err="1"/>
              <a:t>exige</a:t>
            </a:r>
            <a:r>
              <a:rPr sz="1800" dirty="0"/>
              <a:t> </a:t>
            </a:r>
            <a:r>
              <a:rPr sz="1800" dirty="0" err="1"/>
              <a:t>reconciliar</a:t>
            </a:r>
            <a:r>
              <a:rPr sz="1800" dirty="0"/>
              <a:t> </a:t>
            </a:r>
            <a:r>
              <a:rPr sz="1800" dirty="0" err="1"/>
              <a:t>distribuição</a:t>
            </a:r>
            <a:r>
              <a:rPr sz="1800" dirty="0"/>
              <a:t> </a:t>
            </a:r>
            <a:r>
              <a:rPr sz="1800" dirty="0" err="1"/>
              <a:t>dinâmica</a:t>
            </a:r>
            <a:r>
              <a:rPr sz="1800" dirty="0"/>
              <a:t> e </a:t>
            </a:r>
            <a:r>
              <a:rPr sz="1800" dirty="0" err="1"/>
              <a:t>semântica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Redes de </a:t>
            </a:r>
            <a:r>
              <a:rPr sz="1800" dirty="0" err="1"/>
              <a:t>baixa</a:t>
            </a:r>
            <a:r>
              <a:rPr sz="1800" dirty="0"/>
              <a:t> </a:t>
            </a:r>
            <a:r>
              <a:rPr sz="1800" dirty="0" err="1"/>
              <a:t>latência</a:t>
            </a:r>
            <a:r>
              <a:rPr sz="1800" dirty="0"/>
              <a:t> (InfiniBand HDR/NDR, AWS EFA) e </a:t>
            </a:r>
            <a:r>
              <a:rPr sz="1800" dirty="0" err="1"/>
              <a:t>escalas</a:t>
            </a:r>
            <a:r>
              <a:rPr sz="1800" dirty="0"/>
              <a:t> </a:t>
            </a:r>
            <a:r>
              <a:rPr sz="1800" dirty="0" err="1"/>
              <a:t>acima</a:t>
            </a:r>
            <a:r>
              <a:rPr sz="1800" dirty="0"/>
              <a:t> de 32 </a:t>
            </a:r>
            <a:r>
              <a:rPr sz="1800" dirty="0" err="1"/>
              <a:t>nós</a:t>
            </a:r>
            <a:r>
              <a:rPr sz="1800" dirty="0"/>
              <a:t>, </a:t>
            </a:r>
            <a:r>
              <a:rPr sz="1800" dirty="0" err="1"/>
              <a:t>onde</a:t>
            </a:r>
            <a:r>
              <a:rPr sz="1800" dirty="0"/>
              <a:t> </a:t>
            </a:r>
            <a:r>
              <a:rPr sz="1800" dirty="0" err="1"/>
              <a:t>pode</a:t>
            </a:r>
            <a:r>
              <a:rPr sz="1800" dirty="0"/>
              <a:t> </a:t>
            </a:r>
            <a:r>
              <a:rPr sz="1800" dirty="0" err="1"/>
              <a:t>surgir</a:t>
            </a:r>
            <a:r>
              <a:rPr sz="1800" dirty="0"/>
              <a:t> </a:t>
            </a:r>
            <a:r>
              <a:rPr sz="1800" dirty="0" err="1"/>
              <a:t>saturação</a:t>
            </a:r>
            <a:r>
              <a:rPr sz="1800" dirty="0"/>
              <a:t> de </a:t>
            </a:r>
            <a:r>
              <a:rPr sz="1800" dirty="0" err="1"/>
              <a:t>metadados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Estender</a:t>
            </a:r>
            <a:r>
              <a:rPr sz="1800" dirty="0"/>
              <a:t> a </a:t>
            </a:r>
            <a:r>
              <a:rPr sz="1800" dirty="0" err="1"/>
              <a:t>arquitetura</a:t>
            </a:r>
            <a:r>
              <a:rPr sz="1800" dirty="0"/>
              <a:t> à </a:t>
            </a:r>
            <a:r>
              <a:rPr sz="1800" dirty="0" err="1"/>
              <a:t>fase</a:t>
            </a:r>
            <a:r>
              <a:rPr lang="en-US" sz="1800" dirty="0"/>
              <a:t> de </a:t>
            </a:r>
            <a:r>
              <a:rPr lang="en-US" sz="1800" dirty="0" err="1"/>
              <a:t>politica</a:t>
            </a:r>
            <a:r>
              <a:rPr lang="en-US" sz="1800" dirty="0"/>
              <a:t> </a:t>
            </a:r>
            <a:r>
              <a:rPr sz="1800" dirty="0"/>
              <a:t>e </a:t>
            </a:r>
            <a:r>
              <a:rPr sz="1800" dirty="0" err="1"/>
              <a:t>diagnosticar</a:t>
            </a:r>
            <a:r>
              <a:rPr sz="1800" dirty="0"/>
              <a:t> o </a:t>
            </a:r>
            <a:r>
              <a:rPr sz="1800" dirty="0" err="1"/>
              <a:t>gargalo</a:t>
            </a:r>
            <a:r>
              <a:rPr sz="1800" dirty="0"/>
              <a:t> </a:t>
            </a:r>
            <a:r>
              <a:rPr sz="1800" dirty="0" err="1"/>
              <a:t>computacional</a:t>
            </a:r>
            <a:r>
              <a:rPr sz="1800" dirty="0"/>
              <a:t> do regime de strong scaling</a:t>
            </a:r>
            <a:r>
              <a:rPr lang="en-US" sz="1800" dirty="0"/>
              <a:t>.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24549</TotalTime>
  <Words>2793</Words>
  <Application>Microsoft Office PowerPoint</Application>
  <PresentationFormat>Widescreen</PresentationFormat>
  <Paragraphs>506</Paragraphs>
  <Slides>28</Slides>
  <Notes>28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Tempo de bloqueio dos envios por tamanho — AWS</vt:lpstr>
      <vt:lpstr>Tempo de bloqueio dos envios por tamanho — SDumont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491</cp:revision>
  <dcterms:created xsi:type="dcterms:W3CDTF">2024-01-10T21:29:53Z</dcterms:created>
  <dcterms:modified xsi:type="dcterms:W3CDTF">2026-08-25T00:13:01Z</dcterms:modified>
</cp:coreProperties>
</file>