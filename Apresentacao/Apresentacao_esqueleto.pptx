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GANCHO DE ABERTURA — deixar na tela enquanto a banca se acomoda. Não responder agora.</a:t>
            </a:r>
          </a:p>
          <a:p>
            <a:endParaRPr/>
          </a:p>
          <a:p>
            <a:r>
              <a:t>A foto estabelece MAGNITUDE, não a resposta: a plateia sente a escala da máquina antes da pergunta, sem que nada seja antecipado. Os números de apoio estão na linha sob o título.</a:t>
            </a:r>
          </a:p>
          <a:p>
            <a:endParaRPr/>
          </a:p>
          <a:p>
            <a:r>
              <a:t>A pergunta é sobre ESCALABILIDADE, não sobre quantos cores. A montagem entrega abundância dos dois lados — máquina enorme e tarefas de sobra — e deixa a pergunta em aberto. A resposta contraintuitiva (não, não com a arquitetura atual) é a tese, e volta no último slide.</a:t>
            </a:r>
          </a:p>
          <a:p>
            <a:endParaRPr/>
          </a:p>
          <a:p>
            <a:r>
              <a:t>Parâmetros condicionados como HIPOTÉTICO: você não rodou esse caso e o SHOTGUN não foi testado.</a:t>
            </a:r>
          </a:p>
          <a:p>
            <a:endParaRPr/>
          </a:p>
          <a:p>
            <a:r>
              <a:t>SHOTGUN: todos os problemas (estágio, cenário) resolvidos de forma independente, sem sincronização entre estágios — é o que libera o paralelismo máximo: 10.000 x 120 = 1.200.000 tarefas.</a:t>
            </a:r>
          </a:p>
          <a:p>
            <a:endParaRPr/>
          </a:p>
          <a:p>
            <a:r>
              <a:t>Escala contra o experimento (1.536 cenários x 3 estágios = 4.608 tarefas):</a:t>
            </a:r>
          </a:p>
          <a:p>
            <a:r>
              <a:t>  - 260x mais tarefas</a:t>
            </a:r>
          </a:p>
          <a:p>
            <a:r>
              <a:t>  - 864 milhões de registros horários contra 3,3 milhões = 260x mais dados a gravar</a:t>
            </a:r>
          </a:p>
          <a:p>
            <a:r>
              <a:t>  - 1.200.000 ranks úteis = 8,7% dos cores do LineShine</a:t>
            </a:r>
          </a:p>
          <a:p>
            <a:endParaRPr/>
          </a:p>
          <a:p>
            <a:r>
              <a:t>CREDITAR A FOTO: acrescente a fonte da imagem (uma linha discreta no canto, ou menção verbal). É foto de terceiros e a defesa é sessão pública — creditar resolve.</a:t>
            </a:r>
          </a:p>
          <a:p>
            <a:endParaRPr/>
          </a:p>
          <a:p>
            <a:r>
              <a:t>NÃO prometer tempo de execução — não foi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descompasso clássico em HPC: cálculo escalou muito mais que armazenamento. Persistência virou gargalo.</a:t>
            </a:r>
          </a:p>
          <a:p>
            <a:r>
              <a:t>2) Sistemas de arquivos paralelos existem para dar banda agregada — o Lustre distribui os dados entre OSTs.</a:t>
            </a:r>
          </a:p>
          <a:p>
            <a:r>
              <a:t>3) Mas o paralelismo do FS é potencial, não automático: se a aplicação funila tudo em um rank escritor, ele se perde. É um anti-padrão conhecido em aplicações científicas.</a:t>
            </a:r>
          </a:p>
          <a:p>
            <a:r>
              <a:t>4) Apresentar o SDDP APENAS como carga de trabalho: bag-of-tasks, tarefas independentes, cada uma gerando um bloco a gravar. Não entrar em SDDP como algoritmo de otimização.</a:t>
            </a:r>
          </a:p>
          <a:p>
            <a:r>
              <a:t>5) A figura: um requisito do domínio mudou a granularidade do resultado — de 3 registros por tarefa para 720. 240x mais dados, com a mesma computação por tarefa.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FLUXO EM 5 ETAPAS — cinco imagens cumulativas empilhadas no mesmo retângulo, uma por nó do fluxo.</a:t>
            </a:r>
          </a:p>
          <a:p>
            <a:r>
              <a:t>ANIMAR: aplicar entrada Aparecer, ao clicar, em 'Fluxo passo 2 (animar)' até 'Fluxo passo 5 (animar)', nesta ordem. O passo 1 fica visível desde o início. Cada imagem é opaca e cobre a anterior, então o resultado é um fluxo que cresce a cada clique.</a:t>
            </a:r>
          </a:p>
          <a:p/>
          <a:p>
            <a:r>
              <a:t>ROTEIRO DE FALA (um clique por item):</a:t>
            </a:r>
          </a:p>
          <a:p>
            <a:r>
              <a:t>1) BLOCO DE RESULTADO DO CENÁRIO — cada cenário resolvido produz um bloco a persistir. Até aqui nada de novo.</a:t>
            </a:r>
          </a:p>
          <a:p>
            <a:r>
              <a:t>2) CÁLCULO DO OFFSET — o ponto central da proposta. A posição do bloco no arquivo é calculável a partir de (estágio, cenário, hora), então cada processo sabe onde escrever SEM perguntar a ninguém: nenhuma coordenação, nenhum processo intermediário. Vale gastar tempo neste clique.</a:t>
            </a:r>
          </a:p>
          <a:p>
            <a:r>
              <a:t>3) TESTE DE TAMANHO — o bloco é comparado ao limiar de 128 KB. Parâmetro de projeto, não medida.</a:t>
            </a:r>
          </a:p>
          <a:p>
            <a:r>
              <a:t>4) OS DOIS CAMINHOS — abaixo de 128 KB vai pelo assíncrono (MPI_File_iwrite_at), porque o custo fixo de coordenação dominaria o tempo de transferência; de 128 KB para cima vai pelo síncrono (MPI_File_write_at), porque a transferência já supera esse custo fixo. A racionalidade é análoga à dos protocolos Eager e Rendezvous, do slide de MPI — vale fazer a ligação explícita aqui.</a:t>
            </a:r>
          </a:p>
          <a:p>
            <a:r>
              <a:t>5) ARQUIVO COMPARTILHADO — os dois caminhos convergem para o MESMO arquivo. Não há concatenação posterior nem arquivo por processo: o formato final é idêntico ao que a cadeia de softwares do planejamento já consome. É o que permite trocar a arquitetura de E/S sem tocar em nada a jusante.</a:t>
            </a:r>
          </a:p>
          <a:p/>
          <a:p>
            <a:r>
              <a:t>O limiar de 128 KB é parâmetro de projeto; o refino empírico (64/128/256 KB) está em trabalhos futuros.</a:t>
            </a:r>
          </a:p>
          <a:p>
            <a:r>
              <a:t>CONFERIR: sua conclusão registra que o ponto de quebra do rendezvous não era 64 KB nem 128 KB — alinhar o número antes da defesa.</a:t>
            </a:r>
          </a:p>
          <a:p/>
          <a:p>
            <a:r>
              <a:t>Figura redesenhada a partir da Figura 3.3 da dissertação, para permitir a construção por etapas.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número.</a:t>
            </a:r>
          </a:p>
          <a:p>
            <a:r>
              <a:t>3) Validação dos dados com softwares existentes.</a:t>
            </a:r>
          </a:p>
          <a:p>
            <a:r>
              <a:t>A avaliação de banca aponta que o Cap. 6 precisa dos números do Cap. 4 — este slide já traz os números.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</a:t>
            </a:r>
          </a:p>
          <a:p>
            <a:r>
              <a:t>Limitação a mencionar se perguntarem: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600"/>
              <a:t>Investigando Problemas de Escalabilidade de E/S</a:t>
            </a:r>
          </a:p>
          <a:p>
            <a:r>
              <a:rPr sz="2600"/>
              <a:t>no Algoritmo SDDP em Ambientes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100"/>
              <a:t>Marcelo Barros da Cruz   |   Orientador: [preencher]</a:t>
            </a:r>
          </a:p>
          <a:p>
            <a:r>
              <a:rPr sz="1100"/>
              <a:t>Banca: [preencher]   |   Julho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sz="1300"/>
              <a:t>Em HPC, a capacidade de cálculo cresceu muito mais rápido que a de E/S: persistir resultados virou gargalo recorrente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300"/>
              <a:t>Sistemas de arquivos paralelos, como o Lustre, entregam banda agregada distribuindo os dados entre vários servidores de objeto (OSTs)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300"/>
              <a:t>Esse paralelismo só se realiza se a aplicação escrever de forma distribuída — um processo escritor único o desperdiça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300"/>
              <a:t>Caso de estudo: o SDDP, aplicação bag-of-tasks de tarefas independentes, cada uma produzindo um bloco de resultados a gravar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40" y="2931601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51" y="4661601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sz="120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Fluxo de decisão da escrita independente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3.3</a:t>
            </a:r>
          </a:p>
        </p:txBody>
      </p:sp>
      <p:pic>
        <p:nvPicPr>
          <p:cNvPr id="5" name="Picture 4" descr="fluxo_passo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6" name="Fluxo passo 2 (animar)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7" name="Fluxo passo 3 (animar)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8" name="Fluxo passo 4 (animar)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9" name="Fluxo passo 5 (animar)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 dirty="0"/>
              <a:t>O </a:t>
            </a:r>
            <a:r>
              <a:rPr sz="1800" dirty="0" err="1"/>
              <a:t>escritor</a:t>
            </a:r>
            <a:r>
              <a:rPr sz="1800" dirty="0"/>
              <a:t> </a:t>
            </a:r>
            <a:r>
              <a:rPr sz="1800" dirty="0" err="1"/>
              <a:t>único</a:t>
            </a:r>
            <a:r>
              <a:rPr sz="1800" dirty="0"/>
              <a:t> </a:t>
            </a:r>
            <a:r>
              <a:rPr sz="1800" dirty="0" err="1"/>
              <a:t>satura</a:t>
            </a:r>
            <a:r>
              <a:rPr sz="1800" dirty="0"/>
              <a:t> e </a:t>
            </a:r>
            <a:r>
              <a:rPr sz="1800" dirty="0" err="1"/>
              <a:t>inverte</a:t>
            </a:r>
            <a:r>
              <a:rPr sz="1800" dirty="0"/>
              <a:t> a </a:t>
            </a:r>
            <a:r>
              <a:rPr sz="1800" dirty="0" err="1"/>
              <a:t>escalabilidade</a:t>
            </a:r>
            <a:r>
              <a:rPr sz="1800" dirty="0"/>
              <a:t>: </a:t>
            </a:r>
            <a:r>
              <a:rPr sz="1800" dirty="0" err="1"/>
              <a:t>na</a:t>
            </a:r>
            <a:r>
              <a:rPr sz="1800" dirty="0"/>
              <a:t> AWS o </a:t>
            </a:r>
            <a:r>
              <a:rPr sz="1800" dirty="0" err="1"/>
              <a:t>melhor</a:t>
            </a:r>
            <a:r>
              <a:rPr sz="1800" dirty="0"/>
              <a:t> tempo </a:t>
            </a:r>
            <a:r>
              <a:rPr sz="1800" dirty="0" err="1"/>
              <a:t>ocorre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16 </a:t>
            </a:r>
            <a:r>
              <a:rPr sz="1800" dirty="0" err="1"/>
              <a:t>nós</a:t>
            </a:r>
            <a:endParaRPr sz="1800" dirty="0"/>
          </a:p>
          <a:p>
            <a:r>
              <a:rPr sz="1800" dirty="0"/>
              <a:t>Em 32 </a:t>
            </a:r>
            <a:r>
              <a:rPr sz="1800" dirty="0" err="1"/>
              <a:t>nós</a:t>
            </a:r>
            <a:r>
              <a:rPr sz="1800" dirty="0"/>
              <a:t> a E/S </a:t>
            </a:r>
            <a:r>
              <a:rPr sz="1800" dirty="0" err="1"/>
              <a:t>responde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49,5% do tempo de </a:t>
            </a:r>
            <a:r>
              <a:rPr sz="1800" dirty="0" err="1"/>
              <a:t>execução</a:t>
            </a:r>
            <a:r>
              <a:rPr sz="1800" dirty="0"/>
              <a:t> da </a:t>
            </a:r>
            <a:r>
              <a:rPr sz="1800" dirty="0" err="1"/>
              <a:t>implementação</a:t>
            </a:r>
            <a:r>
              <a:rPr sz="1800" dirty="0"/>
              <a:t> </a:t>
            </a:r>
            <a:r>
              <a:rPr sz="1800" dirty="0" err="1"/>
              <a:t>atual</a:t>
            </a:r>
            <a:endParaRPr sz="1800" dirty="0"/>
          </a:p>
          <a:p>
            <a:r>
              <a:rPr sz="1800" dirty="0"/>
              <a:t>A </a:t>
            </a: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distribuída</a:t>
            </a:r>
            <a:r>
              <a:rPr sz="1800" dirty="0"/>
              <a:t> com MPI-IO </a:t>
            </a:r>
            <a:r>
              <a:rPr sz="1800" dirty="0" err="1"/>
              <a:t>reduz</a:t>
            </a:r>
            <a:r>
              <a:rPr sz="1800" dirty="0"/>
              <a:t> o tempo para 1.274 s (1,58x) e a E/S para 0,7% do tempo</a:t>
            </a:r>
          </a:p>
          <a:p>
            <a:r>
              <a:rPr sz="1800" dirty="0"/>
              <a:t>O </a:t>
            </a:r>
            <a:r>
              <a:rPr sz="1800" dirty="0" err="1"/>
              <a:t>comportamento</a:t>
            </a:r>
            <a:r>
              <a:rPr sz="1800" dirty="0"/>
              <a:t> se </a:t>
            </a:r>
            <a:r>
              <a:rPr sz="1800" dirty="0" err="1"/>
              <a:t>reproduz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</a:t>
            </a:r>
            <a:r>
              <a:rPr sz="1800" dirty="0" err="1"/>
              <a:t>dois</a:t>
            </a:r>
            <a:r>
              <a:rPr sz="1800" dirty="0"/>
              <a:t> ambientes </a:t>
            </a:r>
            <a:r>
              <a:rPr sz="1800" dirty="0" err="1"/>
              <a:t>distintos</a:t>
            </a:r>
            <a:r>
              <a:rPr sz="1800" dirty="0"/>
              <a:t> (AWS e </a:t>
            </a:r>
            <a:r>
              <a:rPr sz="1800" dirty="0" err="1"/>
              <a:t>SDumont</a:t>
            </a:r>
            <a:r>
              <a:rPr sz="1800" dirty="0"/>
              <a:t>) — </a:t>
            </a:r>
            <a:r>
              <a:rPr sz="1800" dirty="0" err="1"/>
              <a:t>não</a:t>
            </a:r>
            <a:r>
              <a:rPr sz="1800" dirty="0"/>
              <a:t> é </a:t>
            </a:r>
            <a:r>
              <a:rPr sz="1800" dirty="0" err="1"/>
              <a:t>artefato</a:t>
            </a:r>
            <a:r>
              <a:rPr sz="1800" dirty="0"/>
              <a:t> de </a:t>
            </a:r>
            <a:r>
              <a:rPr sz="1800" dirty="0" err="1"/>
              <a:t>infraestrutura</a:t>
            </a:r>
            <a:endParaRPr sz="1800" dirty="0"/>
          </a:p>
          <a:p>
            <a:r>
              <a:rPr sz="1800" dirty="0"/>
              <a:t>Novo </a:t>
            </a:r>
            <a:r>
              <a:rPr sz="1800" dirty="0" err="1"/>
              <a:t>limite</a:t>
            </a:r>
            <a:r>
              <a:rPr sz="1800" dirty="0"/>
              <a:t> </a:t>
            </a:r>
            <a:r>
              <a:rPr sz="1800" dirty="0" err="1"/>
              <a:t>identificado</a:t>
            </a:r>
            <a:r>
              <a:rPr sz="1800" dirty="0"/>
              <a:t>: </a:t>
            </a:r>
            <a:r>
              <a:rPr sz="1800" dirty="0" err="1"/>
              <a:t>MPI_File_open</a:t>
            </a:r>
            <a:r>
              <a:rPr sz="1800" dirty="0"/>
              <a:t>/close </a:t>
            </a:r>
            <a:r>
              <a:rPr sz="1800" dirty="0" err="1"/>
              <a:t>passa</a:t>
            </a:r>
            <a:r>
              <a:rPr sz="1800" dirty="0"/>
              <a:t> a responder </a:t>
            </a:r>
            <a:r>
              <a:rPr sz="1800" dirty="0" err="1"/>
              <a:t>por</a:t>
            </a:r>
            <a:r>
              <a:rPr sz="1800" dirty="0"/>
              <a:t> 11,6% do tempo </a:t>
            </a:r>
            <a:r>
              <a:rPr sz="1800" dirty="0" err="1"/>
              <a:t>em</a:t>
            </a:r>
            <a:r>
              <a:rPr sz="1800" dirty="0"/>
              <a:t> 32 </a:t>
            </a:r>
            <a:r>
              <a:rPr sz="1800" dirty="0" err="1"/>
              <a:t>nós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Reorganizar o padrão de acesso dos arquivos diários, agrupando os registros mensais em uma escrita por (estágio, cenário)</a:t>
            </a:r>
          </a:p>
          <a:p>
            <a:r>
              <a:rPr sz="1800"/>
              <a:t>Avaliar redes de alta velocidade (InfiniBand HDR/NDR, AWS EFA) e o custo da coordenação MPI-IO em baixa latência</a:t>
            </a:r>
          </a:p>
          <a:p>
            <a:r>
              <a:rPr sz="1800"/>
              <a:t>Sensibilidade ao stripe_size do Lustre: fragmentação das requisições x distribuição entre OSTs</a:t>
            </a:r>
          </a:p>
          <a:p>
            <a:r>
              <a:rPr sz="1800"/>
              <a:t>Bufferização alinhada às stripes, para que cada submissão MPI-IO incida sobre exatamente um OST (Liao et al., 2007)</a:t>
            </a:r>
          </a:p>
          <a:p>
            <a:r>
              <a:rPr sz="1800"/>
              <a:t>Sensibilidade ao limiar síncrono/assíncrono (64, 128 e 256 KB) para refinar o parâmetro de projeto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24348</TotalTime>
  <Words>3860</Words>
  <Application>Microsoft Office PowerPoint</Application>
  <PresentationFormat>Widescreen</PresentationFormat>
  <Paragraphs>230</Paragraphs>
  <Slides>19</Slides>
  <Notes>19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Arial</vt:lpstr>
      <vt:lpstr>Calibri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Fluxo de decisão da escrita independente</vt:lpstr>
      <vt:lpstr>Caracterização do perfil de E/S</vt:lpstr>
      <vt:lpstr>Banda agregada — AWS</vt:lpstr>
      <vt:lpstr>Tempo de execução — AWS</vt:lpstr>
      <vt:lpstr>Tempo de bloqueio dos envios por tamanho — AWS</vt:lpstr>
      <vt:lpstr>Efeito do número de OSTs no Lustre</vt:lpstr>
      <vt:lpstr>Banda agregada — SDumont</vt:lpstr>
      <vt:lpstr>Tempo de execução — SDumont</vt:lpstr>
      <vt:lpstr>Tempo de bloqueio dos envios por tamanho — SDumont</vt:lpstr>
      <vt:lpstr>Conclusões</vt:lpstr>
      <vt:lpstr>Trabalhos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458</cp:revision>
  <dcterms:created xsi:type="dcterms:W3CDTF">2024-01-10T21:29:53Z</dcterms:created>
  <dcterms:modified xsi:type="dcterms:W3CDTF">2026-08-17T19:24:03Z</dcterms:modified>
</cp:coreProperties>
</file>